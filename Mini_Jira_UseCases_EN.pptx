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46617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992707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8482724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327886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815468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191068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821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289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4888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38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5407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1229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72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9317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9107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0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453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8053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989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961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985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4689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058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3981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5EA9D8-4FF6-51C5-5AC8-B25BE3405D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2B4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395096" name="Shape 0"/>
          <p:cNvSpPr/>
          <p:nvPr/>
        </p:nvSpPr>
        <p:spPr bwMode="auto"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55487742" name="Shape 1"/>
          <p:cNvSpPr/>
          <p:nvPr/>
        </p:nvSpPr>
        <p:spPr bwMode="auto">
          <a:xfrm>
            <a:off x="36576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46387333" name="Shape 2"/>
          <p:cNvSpPr/>
          <p:nvPr/>
        </p:nvSpPr>
        <p:spPr bwMode="auto">
          <a:xfrm>
            <a:off x="68580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790583076" name="Shape 3"/>
          <p:cNvSpPr/>
          <p:nvPr/>
        </p:nvSpPr>
        <p:spPr bwMode="auto">
          <a:xfrm>
            <a:off x="100584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14509800" name="Shape 4"/>
          <p:cNvSpPr/>
          <p:nvPr/>
        </p:nvSpPr>
        <p:spPr bwMode="auto">
          <a:xfrm>
            <a:off x="132588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322171524" name="Shape 5"/>
          <p:cNvSpPr/>
          <p:nvPr/>
        </p:nvSpPr>
        <p:spPr bwMode="auto">
          <a:xfrm>
            <a:off x="1645920" y="274320"/>
            <a:ext cx="109728" cy="109728"/>
          </a:xfrm>
          <a:prstGeom prst="ellipse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242567" name="Text 6"/>
          <p:cNvSpPr/>
          <p:nvPr/>
        </p:nvSpPr>
        <p:spPr bwMode="auto"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Mini Jira</a:t>
            </a:r>
            <a:endParaRPr lang="en-US" sz="5200"/>
          </a:p>
        </p:txBody>
      </p:sp>
      <p:sp>
        <p:nvSpPr>
          <p:cNvPr id="1788750679" name="Text 7"/>
          <p:cNvSpPr/>
          <p:nvPr/>
        </p:nvSpPr>
        <p:spPr bwMode="auto"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8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Use Cases &amp; Roles</a:t>
            </a:r>
            <a:endParaRPr lang="en-US" sz="2800"/>
          </a:p>
        </p:txBody>
      </p:sp>
      <p:sp>
        <p:nvSpPr>
          <p:cNvPr id="678774873" name="Shape 8"/>
          <p:cNvSpPr/>
          <p:nvPr/>
        </p:nvSpPr>
        <p:spPr bwMode="auto">
          <a:xfrm>
            <a:off x="457200" y="2788920"/>
            <a:ext cx="2926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75925878" name="Text 9"/>
          <p:cNvSpPr/>
          <p:nvPr/>
        </p:nvSpPr>
        <p:spPr bwMode="auto">
          <a:xfrm>
            <a:off x="457200" y="301751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Task, Project &amp; Team Management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521833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39953068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Roles</a:t>
            </a:r>
            <a:endParaRPr lang="en-US" sz="2200"/>
          </a:p>
        </p:txBody>
      </p:sp>
      <p:sp>
        <p:nvSpPr>
          <p:cNvPr id="1501256739" name="Shape 2"/>
          <p:cNvSpPr/>
          <p:nvPr/>
        </p:nvSpPr>
        <p:spPr bwMode="auto">
          <a:xfrm>
            <a:off x="274320" y="82296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46645549" name="Shape 3"/>
          <p:cNvSpPr/>
          <p:nvPr/>
        </p:nvSpPr>
        <p:spPr bwMode="auto">
          <a:xfrm>
            <a:off x="274320" y="822960"/>
            <a:ext cx="283464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7250111" name="Shape 4"/>
          <p:cNvSpPr/>
          <p:nvPr/>
        </p:nvSpPr>
        <p:spPr bwMode="auto">
          <a:xfrm>
            <a:off x="1399032" y="1024128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196015205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90472" y="1115568"/>
            <a:ext cx="402336" cy="402336"/>
          </a:xfrm>
          <a:prstGeom prst="rect">
            <a:avLst/>
          </a:prstGeom>
        </p:spPr>
      </p:pic>
      <p:sp>
        <p:nvSpPr>
          <p:cNvPr id="724580646" name="Text 5"/>
          <p:cNvSpPr/>
          <p:nvPr/>
        </p:nvSpPr>
        <p:spPr bwMode="auto">
          <a:xfrm>
            <a:off x="2743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Project Member</a:t>
            </a:r>
            <a:endParaRPr lang="en-US" sz="1400"/>
          </a:p>
        </p:txBody>
      </p:sp>
      <p:sp>
        <p:nvSpPr>
          <p:cNvPr id="974777039" name="Text 6"/>
          <p:cNvSpPr/>
          <p:nvPr/>
        </p:nvSpPr>
        <p:spPr bwMode="auto">
          <a:xfrm>
            <a:off x="411480" y="1966361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Default role for all team members. </a:t>
            </a:r>
            <a:r>
              <a:rPr lang="de-DE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Works in projects on different tasks.</a:t>
            </a:r>
            <a:endParaRPr lang="en-US" sz="1000"/>
          </a:p>
        </p:txBody>
      </p:sp>
      <p:sp>
        <p:nvSpPr>
          <p:cNvPr id="889153737" name="Shape 7"/>
          <p:cNvSpPr/>
          <p:nvPr/>
        </p:nvSpPr>
        <p:spPr bwMode="auto">
          <a:xfrm>
            <a:off x="640080" y="2517071"/>
            <a:ext cx="21031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10850616" name="Shape 10"/>
          <p:cNvSpPr/>
          <p:nvPr/>
        </p:nvSpPr>
        <p:spPr bwMode="auto">
          <a:xfrm>
            <a:off x="457200" y="3057401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4062884" name="Text 11"/>
          <p:cNvSpPr/>
          <p:nvPr/>
        </p:nvSpPr>
        <p:spPr bwMode="auto">
          <a:xfrm>
            <a:off x="603504" y="2952245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Change </a:t>
            </a: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task </a:t>
            </a: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status &amp; priority</a:t>
            </a:r>
            <a:endParaRPr lang="en-US" sz="1000"/>
          </a:p>
        </p:txBody>
      </p:sp>
      <p:sp>
        <p:nvSpPr>
          <p:cNvPr id="1482679345" name="Shape 12"/>
          <p:cNvSpPr/>
          <p:nvPr/>
        </p:nvSpPr>
        <p:spPr bwMode="auto">
          <a:xfrm>
            <a:off x="457200" y="3359153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2049778" name="Text 13"/>
          <p:cNvSpPr/>
          <p:nvPr/>
        </p:nvSpPr>
        <p:spPr bwMode="auto">
          <a:xfrm>
            <a:off x="603504" y="3253997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Create, edit &amp; delete </a:t>
            </a:r>
            <a:r>
              <a:rPr lang="de-DE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comments</a:t>
            </a:r>
            <a:endParaRPr sz="1000"/>
          </a:p>
        </p:txBody>
      </p:sp>
      <p:sp>
        <p:nvSpPr>
          <p:cNvPr id="1194048368" name="Shape 14"/>
          <p:cNvSpPr/>
          <p:nvPr/>
        </p:nvSpPr>
        <p:spPr bwMode="auto">
          <a:xfrm>
            <a:off x="457200" y="3660905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45265093" name="Text 15"/>
          <p:cNvSpPr/>
          <p:nvPr/>
        </p:nvSpPr>
        <p:spPr bwMode="auto">
          <a:xfrm>
            <a:off x="603504" y="3555749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Epic management</a:t>
            </a:r>
            <a:endParaRPr lang="en-US" sz="1000"/>
          </a:p>
        </p:txBody>
      </p:sp>
      <p:sp>
        <p:nvSpPr>
          <p:cNvPr id="1331334855" name="Shape 16"/>
          <p:cNvSpPr/>
          <p:nvPr/>
        </p:nvSpPr>
        <p:spPr bwMode="auto">
          <a:xfrm>
            <a:off x="457200" y="3962657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46837355" name="Text 17"/>
          <p:cNvSpPr/>
          <p:nvPr/>
        </p:nvSpPr>
        <p:spPr bwMode="auto">
          <a:xfrm>
            <a:off x="603504" y="3857501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Open dashboard</a:t>
            </a:r>
            <a:endParaRPr lang="en-US" sz="1000"/>
          </a:p>
        </p:txBody>
      </p:sp>
      <p:sp>
        <p:nvSpPr>
          <p:cNvPr id="292566654" name="Shape 18"/>
          <p:cNvSpPr/>
          <p:nvPr/>
        </p:nvSpPr>
        <p:spPr bwMode="auto">
          <a:xfrm>
            <a:off x="457200" y="4264409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03279120" name="Text 19"/>
          <p:cNvSpPr/>
          <p:nvPr/>
        </p:nvSpPr>
        <p:spPr bwMode="auto">
          <a:xfrm>
            <a:off x="603504" y="4159253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Login &amp; sign up</a:t>
            </a:r>
            <a:endParaRPr lang="en-US" sz="1000"/>
          </a:p>
        </p:txBody>
      </p:sp>
      <p:sp>
        <p:nvSpPr>
          <p:cNvPr id="1518227369" name="Shape 20"/>
          <p:cNvSpPr/>
          <p:nvPr/>
        </p:nvSpPr>
        <p:spPr bwMode="auto">
          <a:xfrm>
            <a:off x="3246120" y="82296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18336751" name="Shape 21"/>
          <p:cNvSpPr/>
          <p:nvPr/>
        </p:nvSpPr>
        <p:spPr bwMode="auto">
          <a:xfrm>
            <a:off x="3246120" y="822960"/>
            <a:ext cx="283464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31279350" name="Shape 22"/>
          <p:cNvSpPr/>
          <p:nvPr/>
        </p:nvSpPr>
        <p:spPr bwMode="auto">
          <a:xfrm>
            <a:off x="4370832" y="1024128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173194686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62272" y="1115568"/>
            <a:ext cx="402336" cy="402336"/>
          </a:xfrm>
          <a:prstGeom prst="rect">
            <a:avLst/>
          </a:prstGeom>
        </p:spPr>
      </p:pic>
      <p:sp>
        <p:nvSpPr>
          <p:cNvPr id="1021581857" name="Text 23"/>
          <p:cNvSpPr/>
          <p:nvPr/>
        </p:nvSpPr>
        <p:spPr bwMode="auto">
          <a:xfrm>
            <a:off x="32461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Project Manager</a:t>
            </a:r>
            <a:endParaRPr lang="en-US" sz="1400"/>
          </a:p>
        </p:txBody>
      </p:sp>
      <p:sp>
        <p:nvSpPr>
          <p:cNvPr id="1206680202" name="Text 24"/>
          <p:cNvSpPr/>
          <p:nvPr/>
        </p:nvSpPr>
        <p:spPr bwMode="auto">
          <a:xfrm>
            <a:off x="3383280" y="1966361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Extended permissions. Manages projects and assigns members.</a:t>
            </a:r>
            <a:endParaRPr lang="en-US" sz="1000"/>
          </a:p>
        </p:txBody>
      </p:sp>
      <p:sp>
        <p:nvSpPr>
          <p:cNvPr id="427221383" name="Shape 25"/>
          <p:cNvSpPr/>
          <p:nvPr/>
        </p:nvSpPr>
        <p:spPr bwMode="auto">
          <a:xfrm>
            <a:off x="3611880" y="2517071"/>
            <a:ext cx="21031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3475466" name="Shape 26"/>
          <p:cNvSpPr/>
          <p:nvPr/>
        </p:nvSpPr>
        <p:spPr bwMode="auto">
          <a:xfrm>
            <a:off x="3429000" y="2755649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31923068" name="Text 27"/>
          <p:cNvSpPr/>
          <p:nvPr/>
        </p:nvSpPr>
        <p:spPr bwMode="auto">
          <a:xfrm>
            <a:off x="3575303" y="2650493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Create &amp; delete projects</a:t>
            </a:r>
            <a:endParaRPr sz="1000"/>
          </a:p>
        </p:txBody>
      </p:sp>
      <p:sp>
        <p:nvSpPr>
          <p:cNvPr id="2133835782" name="Shape 28"/>
          <p:cNvSpPr/>
          <p:nvPr/>
        </p:nvSpPr>
        <p:spPr bwMode="auto">
          <a:xfrm>
            <a:off x="3429000" y="3057401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83775520" name="Text 29"/>
          <p:cNvSpPr/>
          <p:nvPr/>
        </p:nvSpPr>
        <p:spPr bwMode="auto">
          <a:xfrm>
            <a:off x="3575303" y="2952245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Remove &amp; assign project management</a:t>
            </a:r>
            <a:endParaRPr sz="1000"/>
          </a:p>
        </p:txBody>
      </p:sp>
      <p:sp>
        <p:nvSpPr>
          <p:cNvPr id="704237111" name="Shape 36"/>
          <p:cNvSpPr/>
          <p:nvPr/>
        </p:nvSpPr>
        <p:spPr bwMode="auto">
          <a:xfrm>
            <a:off x="6217920" y="822960"/>
            <a:ext cx="283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76666852" name="Shape 37"/>
          <p:cNvSpPr/>
          <p:nvPr/>
        </p:nvSpPr>
        <p:spPr bwMode="auto">
          <a:xfrm>
            <a:off x="6217920" y="822960"/>
            <a:ext cx="2834640" cy="5029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81881193" name="Shape 38"/>
          <p:cNvSpPr/>
          <p:nvPr/>
        </p:nvSpPr>
        <p:spPr bwMode="auto">
          <a:xfrm>
            <a:off x="7342632" y="1024128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pic>
        <p:nvPicPr>
          <p:cNvPr id="73803972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434072" y="1115568"/>
            <a:ext cx="402336" cy="402336"/>
          </a:xfrm>
          <a:prstGeom prst="rect">
            <a:avLst/>
          </a:prstGeom>
        </p:spPr>
      </p:pic>
      <p:sp>
        <p:nvSpPr>
          <p:cNvPr id="1216332869" name="Text 39"/>
          <p:cNvSpPr/>
          <p:nvPr/>
        </p:nvSpPr>
        <p:spPr bwMode="auto">
          <a:xfrm>
            <a:off x="62179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9333EA"/>
                </a:solidFill>
                <a:latin typeface="Calibri"/>
                <a:ea typeface="Calibri"/>
                <a:cs typeface="Calibri"/>
              </a:rPr>
              <a:t>Admin</a:t>
            </a:r>
            <a:endParaRPr lang="en-US" sz="1400"/>
          </a:p>
        </p:txBody>
      </p:sp>
      <p:sp>
        <p:nvSpPr>
          <p:cNvPr id="556513061" name="Text 40"/>
          <p:cNvSpPr/>
          <p:nvPr/>
        </p:nvSpPr>
        <p:spPr bwMode="auto">
          <a:xfrm>
            <a:off x="6355080" y="1966361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Highest permission level. Full access including role management.</a:t>
            </a:r>
            <a:endParaRPr lang="en-US" sz="1000"/>
          </a:p>
        </p:txBody>
      </p:sp>
      <p:sp>
        <p:nvSpPr>
          <p:cNvPr id="1993128445" name="Shape 41"/>
          <p:cNvSpPr/>
          <p:nvPr/>
        </p:nvSpPr>
        <p:spPr bwMode="auto">
          <a:xfrm>
            <a:off x="6583680" y="2517071"/>
            <a:ext cx="210312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83849571" name="Shape 42"/>
          <p:cNvSpPr/>
          <p:nvPr/>
        </p:nvSpPr>
        <p:spPr bwMode="auto">
          <a:xfrm>
            <a:off x="6400800" y="2755649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7267733" name="Text 43"/>
          <p:cNvSpPr/>
          <p:nvPr/>
        </p:nvSpPr>
        <p:spPr bwMode="auto">
          <a:xfrm>
            <a:off x="6547104" y="2650493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Role management</a:t>
            </a:r>
            <a:endParaRPr lang="en-US" sz="1000"/>
          </a:p>
        </p:txBody>
      </p:sp>
      <p:grpSp>
        <p:nvGrpSpPr>
          <p:cNvPr id="1469051467" name=""/>
          <p:cNvGrpSpPr/>
          <p:nvPr/>
        </p:nvGrpSpPr>
        <p:grpSpPr bwMode="auto">
          <a:xfrm>
            <a:off x="457199" y="2650493"/>
            <a:ext cx="2523744" cy="301752"/>
            <a:chOff x="0" y="0"/>
            <a:chExt cx="2523744" cy="301752"/>
          </a:xfrm>
        </p:grpSpPr>
        <p:sp>
          <p:nvSpPr>
            <p:cNvPr id="306292925" name="Shape 8"/>
            <p:cNvSpPr/>
            <p:nvPr/>
          </p:nvSpPr>
          <p:spPr bwMode="auto">
            <a:xfrm>
              <a:off x="0" y="105155"/>
              <a:ext cx="91440" cy="91440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755841879" name="Text 9"/>
            <p:cNvSpPr/>
            <p:nvPr/>
          </p:nvSpPr>
          <p:spPr bwMode="auto">
            <a:xfrm>
              <a:off x="146304" y="0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Task management</a:t>
              </a:r>
              <a:endParaRPr lang="en-US" sz="1000"/>
            </a:p>
          </p:txBody>
        </p:sp>
      </p:grpSp>
      <p:sp>
        <p:nvSpPr>
          <p:cNvPr id="1691021062" name="Shape 18"/>
          <p:cNvSpPr/>
          <p:nvPr/>
        </p:nvSpPr>
        <p:spPr bwMode="auto">
          <a:xfrm>
            <a:off x="457200" y="4566161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56516776" name="Text 19"/>
          <p:cNvSpPr/>
          <p:nvPr/>
        </p:nvSpPr>
        <p:spPr bwMode="auto">
          <a:xfrm>
            <a:off x="603504" y="4461005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Task assignment</a:t>
            </a:r>
            <a:endParaRPr lang="en-US" sz="1000"/>
          </a:p>
        </p:txBody>
      </p:sp>
      <p:sp>
        <p:nvSpPr>
          <p:cNvPr id="102904067" name="Text 29"/>
          <p:cNvSpPr/>
          <p:nvPr/>
        </p:nvSpPr>
        <p:spPr bwMode="auto">
          <a:xfrm>
            <a:off x="6547104" y="2952245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000" b="0" i="0" u="none" strike="noStrike" cap="none" spc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User management</a:t>
            </a:r>
            <a:endParaRPr sz="1000"/>
          </a:p>
        </p:txBody>
      </p:sp>
      <p:sp>
        <p:nvSpPr>
          <p:cNvPr id="1806457475" name="Shape 28"/>
          <p:cNvSpPr/>
          <p:nvPr/>
        </p:nvSpPr>
        <p:spPr bwMode="auto">
          <a:xfrm>
            <a:off x="6400800" y="3057401"/>
            <a:ext cx="91440" cy="9144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985740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4781143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 – Project Member</a:t>
            </a:r>
            <a:endParaRPr lang="en-US" sz="2200"/>
          </a:p>
        </p:txBody>
      </p:sp>
      <p:sp>
        <p:nvSpPr>
          <p:cNvPr id="2110078210" name="Shape 4"/>
          <p:cNvSpPr/>
          <p:nvPr/>
        </p:nvSpPr>
        <p:spPr bwMode="auto">
          <a:xfrm flipH="0" flipV="0">
            <a:off x="201167" y="1112223"/>
            <a:ext cx="2194560" cy="338767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9000"/>
              </a:srgbClr>
            </a:outerShdw>
          </a:effectLst>
        </p:spPr>
      </p:sp>
      <p:sp>
        <p:nvSpPr>
          <p:cNvPr id="163811406" name="Shape 5"/>
          <p:cNvSpPr/>
          <p:nvPr/>
        </p:nvSpPr>
        <p:spPr bwMode="auto">
          <a:xfrm>
            <a:off x="201167" y="1112223"/>
            <a:ext cx="21945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05125844" name="Text 6"/>
          <p:cNvSpPr/>
          <p:nvPr/>
        </p:nvSpPr>
        <p:spPr bwMode="auto">
          <a:xfrm>
            <a:off x="320766" y="1112223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 Management</a:t>
            </a:r>
            <a:endParaRPr lang="en-US" sz="1100"/>
          </a:p>
        </p:txBody>
      </p:sp>
      <p:grpSp>
        <p:nvGrpSpPr>
          <p:cNvPr id="994625162" name=""/>
          <p:cNvGrpSpPr/>
          <p:nvPr/>
        </p:nvGrpSpPr>
        <p:grpSpPr bwMode="auto">
          <a:xfrm>
            <a:off x="4198316" y="3953377"/>
            <a:ext cx="1051560" cy="896112"/>
            <a:chOff x="0" y="0"/>
            <a:chExt cx="1051560" cy="896112"/>
          </a:xfrm>
        </p:grpSpPr>
        <p:sp>
          <p:nvSpPr>
            <p:cNvPr id="333009385" name="Shape 2"/>
            <p:cNvSpPr/>
            <p:nvPr/>
          </p:nvSpPr>
          <p:spPr bwMode="auto">
            <a:xfrm>
              <a:off x="228600" y="0"/>
              <a:ext cx="594360" cy="594360"/>
            </a:xfrm>
            <a:prstGeom prst="ellipse">
              <a:avLst/>
            </a:prstGeom>
            <a:solidFill>
              <a:srgbClr val="EFF6FF"/>
            </a:solidFill>
            <a:ln w="25400">
              <a:solidFill>
                <a:srgbClr val="3B82F6"/>
              </a:solidFill>
              <a:prstDash val="solid"/>
            </a:ln>
          </p:spPr>
        </p:sp>
        <p:pic>
          <p:nvPicPr>
            <p:cNvPr id="1278296530" name="Image 0" descr="preencoded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320039" y="91439"/>
              <a:ext cx="411480" cy="411480"/>
            </a:xfrm>
            <a:prstGeom prst="rect">
              <a:avLst/>
            </a:prstGeom>
          </p:spPr>
        </p:pic>
        <p:sp>
          <p:nvSpPr>
            <p:cNvPr id="1950202597" name="Text 3"/>
            <p:cNvSpPr/>
            <p:nvPr/>
          </p:nvSpPr>
          <p:spPr bwMode="auto">
            <a:xfrm>
              <a:off x="0" y="62179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900" b="1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Project Member</a:t>
              </a:r>
              <a:endParaRPr lang="en-US" sz="900"/>
            </a:p>
          </p:txBody>
        </p:sp>
      </p:grpSp>
      <p:grpSp>
        <p:nvGrpSpPr>
          <p:cNvPr id="839864385" name=""/>
          <p:cNvGrpSpPr/>
          <p:nvPr/>
        </p:nvGrpSpPr>
        <p:grpSpPr bwMode="auto">
          <a:xfrm>
            <a:off x="6712089" y="3855900"/>
            <a:ext cx="2194560" cy="1033272"/>
            <a:chOff x="0" y="0"/>
            <a:chExt cx="2194560" cy="1033272"/>
          </a:xfrm>
        </p:grpSpPr>
        <p:sp>
          <p:nvSpPr>
            <p:cNvPr id="1325356072" name="Shape 14"/>
            <p:cNvSpPr/>
            <p:nvPr/>
          </p:nvSpPr>
          <p:spPr bwMode="auto">
            <a:xfrm>
              <a:off x="0" y="0"/>
              <a:ext cx="2194560" cy="1033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68574776" name="Shape 15"/>
            <p:cNvSpPr/>
            <p:nvPr/>
          </p:nvSpPr>
          <p:spPr bwMode="auto">
            <a:xfrm>
              <a:off x="0" y="0"/>
              <a:ext cx="2194560" cy="347471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454796387" name="Text 16"/>
            <p:cNvSpPr/>
            <p:nvPr/>
          </p:nvSpPr>
          <p:spPr bwMode="auto">
            <a:xfrm>
              <a:off x="118469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Authentication</a:t>
              </a:r>
              <a:endParaRPr lang="en-US" sz="1100"/>
            </a:p>
          </p:txBody>
        </p:sp>
        <p:sp>
          <p:nvSpPr>
            <p:cNvPr id="598242526" name="Shape 17"/>
            <p:cNvSpPr/>
            <p:nvPr/>
          </p:nvSpPr>
          <p:spPr bwMode="auto">
            <a:xfrm>
              <a:off x="165857" y="498346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795696213" name="Text 18"/>
            <p:cNvSpPr/>
            <p:nvPr/>
          </p:nvSpPr>
          <p:spPr bwMode="auto">
            <a:xfrm>
              <a:off x="301752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Login</a:t>
              </a:r>
              <a:endParaRPr lang="en-US" sz="1100"/>
            </a:p>
          </p:txBody>
        </p:sp>
        <p:sp>
          <p:nvSpPr>
            <p:cNvPr id="2095771585" name="Shape 19"/>
            <p:cNvSpPr/>
            <p:nvPr/>
          </p:nvSpPr>
          <p:spPr bwMode="auto">
            <a:xfrm>
              <a:off x="165857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597641910" name="Text 20"/>
            <p:cNvSpPr/>
            <p:nvPr/>
          </p:nvSpPr>
          <p:spPr bwMode="auto">
            <a:xfrm>
              <a:off x="301752" y="67665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Sign Up</a:t>
              </a:r>
              <a:endParaRPr lang="en-US" sz="1100"/>
            </a:p>
          </p:txBody>
        </p:sp>
      </p:grpSp>
      <p:grpSp>
        <p:nvGrpSpPr>
          <p:cNvPr id="1640545431" name=""/>
          <p:cNvGrpSpPr/>
          <p:nvPr/>
        </p:nvGrpSpPr>
        <p:grpSpPr bwMode="auto">
          <a:xfrm>
            <a:off x="6711695" y="2715718"/>
            <a:ext cx="2194560" cy="845818"/>
            <a:chOff x="0" y="0"/>
            <a:chExt cx="2194560" cy="845818"/>
          </a:xfrm>
        </p:grpSpPr>
        <p:sp>
          <p:nvSpPr>
            <p:cNvPr id="119642444" name="Shape 14"/>
            <p:cNvSpPr/>
            <p:nvPr/>
          </p:nvSpPr>
          <p:spPr bwMode="auto">
            <a:xfrm flipH="0" flipV="0">
              <a:off x="0" y="0"/>
              <a:ext cx="2194560" cy="84581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626173900" name="Shape 15"/>
            <p:cNvSpPr/>
            <p:nvPr/>
          </p:nvSpPr>
          <p:spPr bwMode="auto">
            <a:xfrm>
              <a:off x="0" y="0"/>
              <a:ext cx="2194560" cy="347471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88732234" name="Text 16"/>
            <p:cNvSpPr/>
            <p:nvPr/>
          </p:nvSpPr>
          <p:spPr bwMode="auto">
            <a:xfrm>
              <a:off x="118469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Dashboard</a:t>
              </a:r>
              <a:endParaRPr lang="en-US" sz="1100"/>
            </a:p>
          </p:txBody>
        </p:sp>
        <p:sp>
          <p:nvSpPr>
            <p:cNvPr id="564849534" name="Shape 17"/>
            <p:cNvSpPr/>
            <p:nvPr/>
          </p:nvSpPr>
          <p:spPr bwMode="auto">
            <a:xfrm>
              <a:off x="165857" y="498346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831079656" name="Text 18"/>
            <p:cNvSpPr/>
            <p:nvPr/>
          </p:nvSpPr>
          <p:spPr bwMode="auto">
            <a:xfrm>
              <a:off x="301752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Open dashboard</a:t>
              </a:r>
              <a:endParaRPr lang="en-US" sz="1100"/>
            </a:p>
          </p:txBody>
        </p:sp>
      </p:grpSp>
      <p:grpSp>
        <p:nvGrpSpPr>
          <p:cNvPr id="1516357152" name=""/>
          <p:cNvGrpSpPr/>
          <p:nvPr/>
        </p:nvGrpSpPr>
        <p:grpSpPr bwMode="auto">
          <a:xfrm>
            <a:off x="6713940" y="1031467"/>
            <a:ext cx="2194560" cy="1389887"/>
            <a:chOff x="0" y="0"/>
            <a:chExt cx="2194560" cy="1389887"/>
          </a:xfrm>
        </p:grpSpPr>
        <p:sp>
          <p:nvSpPr>
            <p:cNvPr id="1291783675" name="Shape 18"/>
            <p:cNvSpPr/>
            <p:nvPr/>
          </p:nvSpPr>
          <p:spPr bwMode="auto">
            <a:xfrm>
              <a:off x="0" y="0"/>
              <a:ext cx="2194560" cy="1389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280942065" name="Shape 19"/>
            <p:cNvSpPr/>
            <p:nvPr/>
          </p:nvSpPr>
          <p:spPr bwMode="auto">
            <a:xfrm>
              <a:off x="0" y="0"/>
              <a:ext cx="2194560" cy="347472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418197628" name="Text 20"/>
            <p:cNvSpPr/>
            <p:nvPr/>
          </p:nvSpPr>
          <p:spPr bwMode="auto">
            <a:xfrm>
              <a:off x="118469" y="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Comments</a:t>
              </a:r>
              <a:endParaRPr lang="en-US" sz="1100"/>
            </a:p>
          </p:txBody>
        </p:sp>
        <p:sp>
          <p:nvSpPr>
            <p:cNvPr id="850082460" name="Shape 21"/>
            <p:cNvSpPr/>
            <p:nvPr/>
          </p:nvSpPr>
          <p:spPr bwMode="auto">
            <a:xfrm>
              <a:off x="164592" y="49834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656508617" name="Text 22"/>
            <p:cNvSpPr/>
            <p:nvPr/>
          </p:nvSpPr>
          <p:spPr bwMode="auto">
            <a:xfrm>
              <a:off x="301752" y="40233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</a:t>
              </a:r>
              <a:endParaRPr lang="en-US" sz="1100"/>
            </a:p>
          </p:txBody>
        </p:sp>
        <p:sp>
          <p:nvSpPr>
            <p:cNvPr id="1403370260" name="Shape 23"/>
            <p:cNvSpPr/>
            <p:nvPr/>
          </p:nvSpPr>
          <p:spPr bwMode="auto">
            <a:xfrm>
              <a:off x="164592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36570075" name="Text 24"/>
            <p:cNvSpPr/>
            <p:nvPr/>
          </p:nvSpPr>
          <p:spPr bwMode="auto">
            <a:xfrm>
              <a:off x="301752" y="67665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Edit</a:t>
              </a:r>
              <a:endParaRPr lang="en-US" sz="1100"/>
            </a:p>
          </p:txBody>
        </p:sp>
        <p:sp>
          <p:nvSpPr>
            <p:cNvPr id="1093327027" name="Shape 25"/>
            <p:cNvSpPr/>
            <p:nvPr/>
          </p:nvSpPr>
          <p:spPr bwMode="auto">
            <a:xfrm>
              <a:off x="164592" y="104698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361639373" name="Text 26"/>
            <p:cNvSpPr/>
            <p:nvPr/>
          </p:nvSpPr>
          <p:spPr bwMode="auto">
            <a:xfrm>
              <a:off x="301752" y="95097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</a:t>
              </a:r>
              <a:endParaRPr lang="en-US" sz="1100"/>
            </a:p>
          </p:txBody>
        </p:sp>
      </p:grpSp>
      <p:grpSp>
        <p:nvGrpSpPr>
          <p:cNvPr id="853021858" name=""/>
          <p:cNvGrpSpPr/>
          <p:nvPr/>
        </p:nvGrpSpPr>
        <p:grpSpPr bwMode="auto">
          <a:xfrm>
            <a:off x="3474720" y="1032224"/>
            <a:ext cx="2194560" cy="1389887"/>
            <a:chOff x="0" y="0"/>
            <a:chExt cx="2194560" cy="1389887"/>
          </a:xfrm>
        </p:grpSpPr>
        <p:sp>
          <p:nvSpPr>
            <p:cNvPr id="387107994" name="Shape 18"/>
            <p:cNvSpPr/>
            <p:nvPr/>
          </p:nvSpPr>
          <p:spPr bwMode="auto">
            <a:xfrm>
              <a:off x="0" y="0"/>
              <a:ext cx="2194560" cy="138988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30993653" name="Shape 19"/>
            <p:cNvSpPr/>
            <p:nvPr/>
          </p:nvSpPr>
          <p:spPr bwMode="auto">
            <a:xfrm>
              <a:off x="0" y="0"/>
              <a:ext cx="2194560" cy="347471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373092046" name="Text 20"/>
            <p:cNvSpPr/>
            <p:nvPr/>
          </p:nvSpPr>
          <p:spPr bwMode="auto">
            <a:xfrm>
              <a:off x="118469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Epics</a:t>
              </a:r>
              <a:endParaRPr lang="en-US" sz="1100"/>
            </a:p>
          </p:txBody>
        </p:sp>
        <p:sp>
          <p:nvSpPr>
            <p:cNvPr id="1714006904" name="Shape 21"/>
            <p:cNvSpPr/>
            <p:nvPr/>
          </p:nvSpPr>
          <p:spPr bwMode="auto">
            <a:xfrm>
              <a:off x="164592" y="49834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135987731" name="Text 22"/>
            <p:cNvSpPr/>
            <p:nvPr/>
          </p:nvSpPr>
          <p:spPr bwMode="auto">
            <a:xfrm>
              <a:off x="301752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</a:t>
              </a:r>
              <a:endParaRPr lang="en-US" sz="1100"/>
            </a:p>
          </p:txBody>
        </p:sp>
        <p:sp>
          <p:nvSpPr>
            <p:cNvPr id="1454558902" name="Shape 23"/>
            <p:cNvSpPr/>
            <p:nvPr/>
          </p:nvSpPr>
          <p:spPr bwMode="auto">
            <a:xfrm>
              <a:off x="164592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166237871" name="Text 24"/>
            <p:cNvSpPr/>
            <p:nvPr/>
          </p:nvSpPr>
          <p:spPr bwMode="auto">
            <a:xfrm>
              <a:off x="301752" y="67665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Edit</a:t>
              </a:r>
              <a:endParaRPr lang="en-US" sz="1100"/>
            </a:p>
          </p:txBody>
        </p:sp>
        <p:sp>
          <p:nvSpPr>
            <p:cNvPr id="1347959490" name="Shape 25"/>
            <p:cNvSpPr/>
            <p:nvPr/>
          </p:nvSpPr>
          <p:spPr bwMode="auto">
            <a:xfrm>
              <a:off x="164592" y="104698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63994561" name="Text 26"/>
            <p:cNvSpPr/>
            <p:nvPr/>
          </p:nvSpPr>
          <p:spPr bwMode="auto">
            <a:xfrm>
              <a:off x="301752" y="95097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</a:t>
              </a:r>
              <a:endParaRPr lang="en-US" sz="1100"/>
            </a:p>
          </p:txBody>
        </p:sp>
      </p:grpSp>
      <p:sp>
        <p:nvSpPr>
          <p:cNvPr id="1354808675" name="Text 16"/>
          <p:cNvSpPr/>
          <p:nvPr/>
        </p:nvSpPr>
        <p:spPr bwMode="auto">
          <a:xfrm>
            <a:off x="502920" y="379200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100"/>
          </a:p>
        </p:txBody>
      </p:sp>
      <p:grpSp>
        <p:nvGrpSpPr>
          <p:cNvPr id="1905802386" name=""/>
          <p:cNvGrpSpPr/>
          <p:nvPr/>
        </p:nvGrpSpPr>
        <p:grpSpPr bwMode="auto">
          <a:xfrm>
            <a:off x="365759" y="1514559"/>
            <a:ext cx="1965960" cy="274319"/>
            <a:chOff x="0" y="0"/>
            <a:chExt cx="1965960" cy="274319"/>
          </a:xfrm>
        </p:grpSpPr>
        <p:sp>
          <p:nvSpPr>
            <p:cNvPr id="1930660542" name="Shape 7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147081096" name="Text 8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</a:t>
              </a:r>
              <a:endParaRPr lang="en-US" sz="1100"/>
            </a:p>
          </p:txBody>
        </p:sp>
      </p:grpSp>
      <p:grpSp>
        <p:nvGrpSpPr>
          <p:cNvPr id="475242618" name=""/>
          <p:cNvGrpSpPr/>
          <p:nvPr/>
        </p:nvGrpSpPr>
        <p:grpSpPr bwMode="auto">
          <a:xfrm>
            <a:off x="366453" y="1802648"/>
            <a:ext cx="1965960" cy="274319"/>
            <a:chOff x="0" y="0"/>
            <a:chExt cx="1965960" cy="274319"/>
          </a:xfrm>
        </p:grpSpPr>
        <p:sp>
          <p:nvSpPr>
            <p:cNvPr id="549664658" name="Shape 9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800017141" name="Text 10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Edit</a:t>
              </a:r>
              <a:endParaRPr lang="en-US" sz="1100"/>
            </a:p>
          </p:txBody>
        </p:sp>
      </p:grpSp>
      <p:grpSp>
        <p:nvGrpSpPr>
          <p:cNvPr id="1481382763" name=""/>
          <p:cNvGrpSpPr/>
          <p:nvPr/>
        </p:nvGrpSpPr>
        <p:grpSpPr bwMode="auto">
          <a:xfrm>
            <a:off x="367146" y="2090737"/>
            <a:ext cx="1965960" cy="274320"/>
            <a:chOff x="0" y="0"/>
            <a:chExt cx="1965960" cy="274320"/>
          </a:xfrm>
        </p:grpSpPr>
        <p:sp>
          <p:nvSpPr>
            <p:cNvPr id="1510410736" name="Shape 11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851490425" name="Text 12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</a:t>
              </a:r>
              <a:endParaRPr lang="en-US" sz="1100"/>
            </a:p>
          </p:txBody>
        </p:sp>
      </p:grpSp>
      <p:grpSp>
        <p:nvGrpSpPr>
          <p:cNvPr id="694491866" name=""/>
          <p:cNvGrpSpPr/>
          <p:nvPr/>
        </p:nvGrpSpPr>
        <p:grpSpPr bwMode="auto">
          <a:xfrm>
            <a:off x="367839" y="2378826"/>
            <a:ext cx="1965960" cy="274320"/>
            <a:chOff x="0" y="0"/>
            <a:chExt cx="1965960" cy="274320"/>
          </a:xfrm>
        </p:grpSpPr>
        <p:sp>
          <p:nvSpPr>
            <p:cNvPr id="530412973" name="Shape 13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432197281" name="Text 14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status</a:t>
              </a:r>
              <a:endParaRPr lang="en-US" sz="1100"/>
            </a:p>
          </p:txBody>
        </p:sp>
      </p:grpSp>
      <p:grpSp>
        <p:nvGrpSpPr>
          <p:cNvPr id="1902586624" name=""/>
          <p:cNvGrpSpPr/>
          <p:nvPr/>
        </p:nvGrpSpPr>
        <p:grpSpPr bwMode="auto">
          <a:xfrm>
            <a:off x="368533" y="2666915"/>
            <a:ext cx="1965960" cy="274320"/>
            <a:chOff x="0" y="0"/>
            <a:chExt cx="1965960" cy="274320"/>
          </a:xfrm>
        </p:grpSpPr>
        <p:sp>
          <p:nvSpPr>
            <p:cNvPr id="468185029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004951449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priority</a:t>
              </a:r>
              <a:endParaRPr lang="en-US" sz="1100"/>
            </a:p>
          </p:txBody>
        </p:sp>
      </p:grpSp>
      <p:grpSp>
        <p:nvGrpSpPr>
          <p:cNvPr id="116250813" name=""/>
          <p:cNvGrpSpPr/>
          <p:nvPr/>
        </p:nvGrpSpPr>
        <p:grpSpPr bwMode="auto">
          <a:xfrm>
            <a:off x="369226" y="2955004"/>
            <a:ext cx="1965960" cy="274320"/>
            <a:chOff x="0" y="0"/>
            <a:chExt cx="1965960" cy="274320"/>
          </a:xfrm>
        </p:grpSpPr>
        <p:sp>
          <p:nvSpPr>
            <p:cNvPr id="1273286600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445505804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project member</a:t>
              </a:r>
              <a:endParaRPr lang="en-US" sz="1100"/>
            </a:p>
          </p:txBody>
        </p:sp>
      </p:grpSp>
      <p:grpSp>
        <p:nvGrpSpPr>
          <p:cNvPr id="1572254292" name=""/>
          <p:cNvGrpSpPr/>
          <p:nvPr/>
        </p:nvGrpSpPr>
        <p:grpSpPr bwMode="auto">
          <a:xfrm>
            <a:off x="369919" y="3243093"/>
            <a:ext cx="1965960" cy="274320"/>
            <a:chOff x="0" y="0"/>
            <a:chExt cx="1965960" cy="274320"/>
          </a:xfrm>
        </p:grpSpPr>
        <p:sp>
          <p:nvSpPr>
            <p:cNvPr id="1682840374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2121127150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epic</a:t>
              </a:r>
              <a:endParaRPr lang="en-US" sz="1100"/>
            </a:p>
          </p:txBody>
        </p:sp>
      </p:grpSp>
      <p:grpSp>
        <p:nvGrpSpPr>
          <p:cNvPr id="285733524" name=""/>
          <p:cNvGrpSpPr/>
          <p:nvPr/>
        </p:nvGrpSpPr>
        <p:grpSpPr bwMode="auto">
          <a:xfrm>
            <a:off x="370613" y="3531182"/>
            <a:ext cx="1965960" cy="274320"/>
            <a:chOff x="0" y="0"/>
            <a:chExt cx="1965960" cy="274320"/>
          </a:xfrm>
        </p:grpSpPr>
        <p:sp>
          <p:nvSpPr>
            <p:cNvPr id="1302567565" name="Text 16"/>
            <p:cNvSpPr/>
            <p:nvPr/>
          </p:nvSpPr>
          <p:spPr bwMode="auto">
            <a:xfrm>
              <a:off x="137160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Manage comments</a:t>
              </a:r>
              <a:endParaRPr lang="en-US" sz="1100"/>
            </a:p>
          </p:txBody>
        </p:sp>
        <p:sp>
          <p:nvSpPr>
            <p:cNvPr id="2072570595" name="Shape 15"/>
            <p:cNvSpPr/>
            <p:nvPr/>
          </p:nvSpPr>
          <p:spPr bwMode="auto">
            <a:xfrm>
              <a:off x="0" y="96012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</p:grpSp>
      <p:grpSp>
        <p:nvGrpSpPr>
          <p:cNvPr id="1552724000" name=""/>
          <p:cNvGrpSpPr/>
          <p:nvPr/>
        </p:nvGrpSpPr>
        <p:grpSpPr bwMode="auto">
          <a:xfrm>
            <a:off x="371306" y="3819271"/>
            <a:ext cx="1965960" cy="274320"/>
            <a:chOff x="0" y="0"/>
            <a:chExt cx="1965960" cy="274320"/>
          </a:xfrm>
        </p:grpSpPr>
        <p:sp>
          <p:nvSpPr>
            <p:cNvPr id="1214984347" name="Text 16"/>
            <p:cNvSpPr/>
            <p:nvPr/>
          </p:nvSpPr>
          <p:spPr bwMode="auto">
            <a:xfrm>
              <a:off x="137159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Search tasks</a:t>
              </a:r>
              <a:endParaRPr lang="en-US" sz="1100"/>
            </a:p>
          </p:txBody>
        </p:sp>
        <p:sp>
          <p:nvSpPr>
            <p:cNvPr id="662735520" name="Shape 15"/>
            <p:cNvSpPr/>
            <p:nvPr/>
          </p:nvSpPr>
          <p:spPr bwMode="auto">
            <a:xfrm>
              <a:off x="0" y="96011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</p:grpSp>
      <p:grpSp>
        <p:nvGrpSpPr>
          <p:cNvPr id="251674757" name=""/>
          <p:cNvGrpSpPr/>
          <p:nvPr/>
        </p:nvGrpSpPr>
        <p:grpSpPr bwMode="auto">
          <a:xfrm>
            <a:off x="371999" y="4107360"/>
            <a:ext cx="1965960" cy="274319"/>
            <a:chOff x="0" y="0"/>
            <a:chExt cx="1965960" cy="274319"/>
          </a:xfrm>
        </p:grpSpPr>
        <p:sp>
          <p:nvSpPr>
            <p:cNvPr id="1875110692" name="Text 16"/>
            <p:cNvSpPr/>
            <p:nvPr/>
          </p:nvSpPr>
          <p:spPr bwMode="auto">
            <a:xfrm>
              <a:off x="137159" y="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Filter tasks</a:t>
              </a:r>
              <a:endParaRPr lang="en-US" sz="1100"/>
            </a:p>
          </p:txBody>
        </p:sp>
        <p:sp>
          <p:nvSpPr>
            <p:cNvPr id="2041602587" name="Shape 15"/>
            <p:cNvSpPr/>
            <p:nvPr/>
          </p:nvSpPr>
          <p:spPr bwMode="auto">
            <a:xfrm>
              <a:off x="0" y="96011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</p:grpSp>
      <p:sp>
        <p:nvSpPr>
          <p:cNvPr id="445543096" name="Shape 29"/>
          <p:cNvSpPr/>
          <p:nvPr/>
        </p:nvSpPr>
        <p:spPr bwMode="auto">
          <a:xfrm flipH="0" flipV="0">
            <a:off x="5057276" y="4285668"/>
            <a:ext cx="1654419" cy="150874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1493013716" name="Shape 29"/>
          <p:cNvSpPr/>
          <p:nvPr/>
        </p:nvSpPr>
        <p:spPr bwMode="auto">
          <a:xfrm flipH="0" flipV="1">
            <a:off x="4915111" y="1804892"/>
            <a:ext cx="1796977" cy="2124274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27726091" name="Shape 29"/>
          <p:cNvSpPr/>
          <p:nvPr/>
        </p:nvSpPr>
        <p:spPr bwMode="auto">
          <a:xfrm flipH="0" flipV="0">
            <a:off x="2395728" y="2879168"/>
            <a:ext cx="2036025" cy="1150468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2062731692" name="Shape 29"/>
          <p:cNvSpPr/>
          <p:nvPr/>
        </p:nvSpPr>
        <p:spPr bwMode="auto">
          <a:xfrm flipH="1" flipV="0">
            <a:off x="5057276" y="3139006"/>
            <a:ext cx="1654813" cy="890629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1125952822" name="Shape 29"/>
          <p:cNvSpPr/>
          <p:nvPr/>
        </p:nvSpPr>
        <p:spPr bwMode="auto">
          <a:xfrm flipH="0" flipV="0">
            <a:off x="4722875" y="2422112"/>
            <a:ext cx="0" cy="1433787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1502915624" name="Shape 29"/>
          <p:cNvSpPr/>
          <p:nvPr/>
        </p:nvSpPr>
        <p:spPr bwMode="auto">
          <a:xfrm flipH="0" flipV="1">
            <a:off x="2395728" y="1846040"/>
            <a:ext cx="1088264" cy="0"/>
          </a:xfrm>
          <a:prstGeom prst="line">
            <a:avLst/>
          </a:prstGeom>
          <a:noFill/>
          <a:ln w="15240">
            <a:solidFill>
              <a:srgbClr val="7F7F7F"/>
            </a:solidFill>
            <a:prstDash val="dash"/>
          </a:ln>
        </p:spPr>
      </p:sp>
      <p:sp>
        <p:nvSpPr>
          <p:cNvPr id="116320098" name="Shape 29"/>
          <p:cNvSpPr/>
          <p:nvPr/>
        </p:nvSpPr>
        <p:spPr bwMode="auto">
          <a:xfrm flipH="0" flipV="1">
            <a:off x="1212306" y="893469"/>
            <a:ext cx="6783028" cy="62819"/>
          </a:xfrm>
          <a:prstGeom prst="line">
            <a:avLst/>
          </a:prstGeom>
          <a:noFill/>
          <a:ln w="15240">
            <a:solidFill>
              <a:srgbClr val="7F7F7F"/>
            </a:solidFill>
            <a:prstDash val="dash"/>
          </a:ln>
        </p:spPr>
      </p:sp>
      <p:sp>
        <p:nvSpPr>
          <p:cNvPr id="1858704479" name="Shape 29"/>
          <p:cNvSpPr/>
          <p:nvPr/>
        </p:nvSpPr>
        <p:spPr bwMode="auto">
          <a:xfrm flipH="0" flipV="1">
            <a:off x="7995335" y="893469"/>
            <a:ext cx="0" cy="138754"/>
          </a:xfrm>
          <a:prstGeom prst="line">
            <a:avLst/>
          </a:prstGeom>
          <a:noFill/>
          <a:ln w="15240">
            <a:solidFill>
              <a:srgbClr val="7F7F7F"/>
            </a:solidFill>
            <a:prstDash val="dash"/>
          </a:ln>
        </p:spPr>
      </p:sp>
      <p:sp>
        <p:nvSpPr>
          <p:cNvPr id="728849769" name="Shape 29"/>
          <p:cNvSpPr/>
          <p:nvPr/>
        </p:nvSpPr>
        <p:spPr bwMode="auto">
          <a:xfrm flipH="1" flipV="1">
            <a:off x="1212306" y="956289"/>
            <a:ext cx="0" cy="152398"/>
          </a:xfrm>
          <a:prstGeom prst="line">
            <a:avLst/>
          </a:prstGeom>
          <a:noFill/>
          <a:ln w="15240">
            <a:solidFill>
              <a:srgbClr val="7F7F7F"/>
            </a:solidFill>
            <a:prstDash val="dash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273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5538965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 – Project Manager</a:t>
            </a:r>
            <a:endParaRPr lang="en-US" sz="2200"/>
          </a:p>
        </p:txBody>
      </p:sp>
      <p:sp>
        <p:nvSpPr>
          <p:cNvPr id="977289989" name="Shape 2"/>
          <p:cNvSpPr/>
          <p:nvPr/>
        </p:nvSpPr>
        <p:spPr bwMode="auto">
          <a:xfrm>
            <a:off x="274320" y="749808"/>
            <a:ext cx="8595360" cy="24688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9688182" name="Text 3"/>
          <p:cNvSpPr/>
          <p:nvPr/>
        </p:nvSpPr>
        <p:spPr bwMode="auto">
          <a:xfrm>
            <a:off x="411480" y="7498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⬆  Includes all Project Member use cases</a:t>
            </a:r>
            <a:endParaRPr lang="en-US" sz="1000"/>
          </a:p>
        </p:txBody>
      </p:sp>
      <p:sp>
        <p:nvSpPr>
          <p:cNvPr id="275406440" name="Shape 29"/>
          <p:cNvSpPr/>
          <p:nvPr/>
        </p:nvSpPr>
        <p:spPr bwMode="auto">
          <a:xfrm flipH="0" flipV="1">
            <a:off x="4867723" y="2699034"/>
            <a:ext cx="2313068" cy="1066151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grpSp>
        <p:nvGrpSpPr>
          <p:cNvPr id="735815316" name=""/>
          <p:cNvGrpSpPr/>
          <p:nvPr/>
        </p:nvGrpSpPr>
        <p:grpSpPr bwMode="auto">
          <a:xfrm>
            <a:off x="4091940" y="3573768"/>
            <a:ext cx="960120" cy="896111"/>
            <a:chOff x="0" y="0"/>
            <a:chExt cx="960120" cy="896111"/>
          </a:xfrm>
        </p:grpSpPr>
        <p:sp>
          <p:nvSpPr>
            <p:cNvPr id="1338645073" name="Shape 4"/>
            <p:cNvSpPr/>
            <p:nvPr/>
          </p:nvSpPr>
          <p:spPr bwMode="auto">
            <a:xfrm>
              <a:off x="182880" y="0"/>
              <a:ext cx="594360" cy="594360"/>
            </a:xfrm>
            <a:prstGeom prst="ellipse">
              <a:avLst/>
            </a:prstGeom>
            <a:solidFill>
              <a:srgbClr val="FFF7ED"/>
            </a:solidFill>
            <a:ln w="25400">
              <a:solidFill>
                <a:srgbClr val="F97316"/>
              </a:solidFill>
              <a:prstDash val="solid"/>
            </a:ln>
          </p:spPr>
        </p:sp>
        <p:pic>
          <p:nvPicPr>
            <p:cNvPr id="889206525" name="Image 0" descr="preencoded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274320" y="91439"/>
              <a:ext cx="411480" cy="411480"/>
            </a:xfrm>
            <a:prstGeom prst="rect">
              <a:avLst/>
            </a:prstGeom>
          </p:spPr>
        </p:pic>
        <p:sp>
          <p:nvSpPr>
            <p:cNvPr id="372029419" name="Text 5"/>
            <p:cNvSpPr/>
            <p:nvPr/>
          </p:nvSpPr>
          <p:spPr bwMode="auto">
            <a:xfrm>
              <a:off x="0" y="621791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900" b="1">
                  <a:solidFill>
                    <a:srgbClr val="F97316"/>
                  </a:solidFill>
                  <a:latin typeface="Calibri"/>
                  <a:ea typeface="Calibri"/>
                  <a:cs typeface="Calibri"/>
                </a:rPr>
                <a:t>Project Manager</a:t>
              </a:r>
              <a:endParaRPr lang="en-US" sz="900"/>
            </a:p>
          </p:txBody>
        </p:sp>
      </p:grpSp>
      <p:grpSp>
        <p:nvGrpSpPr>
          <p:cNvPr id="36681381" name=""/>
          <p:cNvGrpSpPr/>
          <p:nvPr/>
        </p:nvGrpSpPr>
        <p:grpSpPr bwMode="auto">
          <a:xfrm>
            <a:off x="6005583" y="1653388"/>
            <a:ext cx="2194559" cy="1033272"/>
            <a:chOff x="0" y="0"/>
            <a:chExt cx="2194559" cy="1033272"/>
          </a:xfrm>
        </p:grpSpPr>
        <p:sp>
          <p:nvSpPr>
            <p:cNvPr id="1125833184" name="Shape 14"/>
            <p:cNvSpPr/>
            <p:nvPr/>
          </p:nvSpPr>
          <p:spPr bwMode="auto">
            <a:xfrm>
              <a:off x="0" y="0"/>
              <a:ext cx="2194560" cy="1033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862933267" name="Shape 15"/>
            <p:cNvSpPr/>
            <p:nvPr/>
          </p:nvSpPr>
          <p:spPr bwMode="auto">
            <a:xfrm>
              <a:off x="0" y="0"/>
              <a:ext cx="2194560" cy="347472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080850083" name="Text 16"/>
            <p:cNvSpPr/>
            <p:nvPr/>
          </p:nvSpPr>
          <p:spPr bwMode="auto">
            <a:xfrm>
              <a:off x="118469" y="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Project </a:t>
              </a: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Members</a:t>
              </a:r>
              <a:endParaRPr lang="en-US" sz="1100"/>
            </a:p>
          </p:txBody>
        </p:sp>
        <p:sp>
          <p:nvSpPr>
            <p:cNvPr id="1034649681" name="Shape 17"/>
            <p:cNvSpPr/>
            <p:nvPr/>
          </p:nvSpPr>
          <p:spPr bwMode="auto">
            <a:xfrm>
              <a:off x="165858" y="498347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730646817" name="Text 18"/>
            <p:cNvSpPr/>
            <p:nvPr/>
          </p:nvSpPr>
          <p:spPr bwMode="auto">
            <a:xfrm>
              <a:off x="301752" y="40233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member</a:t>
              </a:r>
              <a:endParaRPr lang="en-US" sz="1100"/>
            </a:p>
          </p:txBody>
        </p:sp>
        <p:sp>
          <p:nvSpPr>
            <p:cNvPr id="1812917473" name="Shape 19"/>
            <p:cNvSpPr/>
            <p:nvPr/>
          </p:nvSpPr>
          <p:spPr bwMode="auto">
            <a:xfrm>
              <a:off x="165858" y="772668"/>
              <a:ext cx="82296" cy="822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71075944" name="Text 20"/>
            <p:cNvSpPr/>
            <p:nvPr/>
          </p:nvSpPr>
          <p:spPr bwMode="auto">
            <a:xfrm>
              <a:off x="301752" y="67665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Remove member</a:t>
              </a:r>
              <a:endParaRPr lang="en-US" sz="1100"/>
            </a:p>
          </p:txBody>
        </p:sp>
      </p:grpSp>
      <p:sp>
        <p:nvSpPr>
          <p:cNvPr id="1957263967" name="Shape 29"/>
          <p:cNvSpPr/>
          <p:nvPr/>
        </p:nvSpPr>
        <p:spPr bwMode="auto">
          <a:xfrm flipH="0" flipV="0">
            <a:off x="1868059" y="2699034"/>
            <a:ext cx="2416790" cy="1066151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grpSp>
        <p:nvGrpSpPr>
          <p:cNvPr id="695027189" name=""/>
          <p:cNvGrpSpPr/>
          <p:nvPr/>
        </p:nvGrpSpPr>
        <p:grpSpPr bwMode="auto">
          <a:xfrm>
            <a:off x="838920" y="1648649"/>
            <a:ext cx="2199298" cy="1033272"/>
            <a:chOff x="0" y="0"/>
            <a:chExt cx="2199298" cy="1033272"/>
          </a:xfrm>
        </p:grpSpPr>
        <p:sp>
          <p:nvSpPr>
            <p:cNvPr id="1261029091" name="Shape 6"/>
            <p:cNvSpPr/>
            <p:nvPr/>
          </p:nvSpPr>
          <p:spPr bwMode="auto">
            <a:xfrm>
              <a:off x="0" y="0"/>
              <a:ext cx="2194560" cy="1033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765204893" name="Shape 7"/>
            <p:cNvSpPr/>
            <p:nvPr/>
          </p:nvSpPr>
          <p:spPr bwMode="auto">
            <a:xfrm>
              <a:off x="4738" y="0"/>
              <a:ext cx="2194560" cy="347472"/>
            </a:xfrm>
            <a:prstGeom prst="rect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83158466" name="Text 8"/>
            <p:cNvSpPr/>
            <p:nvPr/>
          </p:nvSpPr>
          <p:spPr bwMode="auto">
            <a:xfrm>
              <a:off x="123208" y="0"/>
              <a:ext cx="1783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Projects</a:t>
              </a:r>
              <a:endParaRPr lang="en-US" sz="1100"/>
            </a:p>
          </p:txBody>
        </p:sp>
        <p:sp>
          <p:nvSpPr>
            <p:cNvPr id="454399619" name="Shape 9"/>
            <p:cNvSpPr/>
            <p:nvPr/>
          </p:nvSpPr>
          <p:spPr bwMode="auto">
            <a:xfrm>
              <a:off x="170596" y="498347"/>
              <a:ext cx="82296" cy="8229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606694358" name="Text 10"/>
            <p:cNvSpPr/>
            <p:nvPr/>
          </p:nvSpPr>
          <p:spPr bwMode="auto">
            <a:xfrm>
              <a:off x="306490" y="402335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project</a:t>
              </a:r>
              <a:endParaRPr lang="en-US" sz="1100"/>
            </a:p>
          </p:txBody>
        </p:sp>
        <p:sp>
          <p:nvSpPr>
            <p:cNvPr id="1628612922" name="Shape 11"/>
            <p:cNvSpPr/>
            <p:nvPr/>
          </p:nvSpPr>
          <p:spPr bwMode="auto">
            <a:xfrm>
              <a:off x="169330" y="772668"/>
              <a:ext cx="82296" cy="8229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32523337" name="Text 12"/>
            <p:cNvSpPr/>
            <p:nvPr/>
          </p:nvSpPr>
          <p:spPr bwMode="auto">
            <a:xfrm>
              <a:off x="306490" y="676656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Delete project</a:t>
              </a:r>
              <a:endParaRPr lang="en-US" sz="1100"/>
            </a:p>
          </p:txBody>
        </p:sp>
      </p:grpSp>
      <p:sp>
        <p:nvSpPr>
          <p:cNvPr id="572453217" name="Shape 29"/>
          <p:cNvSpPr/>
          <p:nvPr/>
        </p:nvSpPr>
        <p:spPr bwMode="auto">
          <a:xfrm flipH="0" flipV="0">
            <a:off x="3029067" y="2238930"/>
            <a:ext cx="2942798" cy="0"/>
          </a:xfrm>
          <a:prstGeom prst="line">
            <a:avLst/>
          </a:prstGeom>
          <a:noFill/>
          <a:ln w="15240">
            <a:solidFill>
              <a:schemeClr val="tx1">
                <a:lumMod val="50196"/>
                <a:lumOff val="49804"/>
              </a:schemeClr>
            </a:solidFill>
            <a:prstDash val="dash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136786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07909793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 – Admin</a:t>
            </a:r>
            <a:endParaRPr lang="en-US" sz="2200"/>
          </a:p>
        </p:txBody>
      </p:sp>
      <p:sp>
        <p:nvSpPr>
          <p:cNvPr id="1343833593" name="Shape 2"/>
          <p:cNvSpPr/>
          <p:nvPr/>
        </p:nvSpPr>
        <p:spPr bwMode="auto">
          <a:xfrm>
            <a:off x="274320" y="749808"/>
            <a:ext cx="8595360" cy="246888"/>
          </a:xfrm>
          <a:prstGeom prst="rect">
            <a:avLst/>
          </a:prstGeom>
          <a:solidFill>
            <a:srgbClr val="FAF5FF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87430715" name="Text 3"/>
          <p:cNvSpPr/>
          <p:nvPr/>
        </p:nvSpPr>
        <p:spPr bwMode="auto">
          <a:xfrm>
            <a:off x="411480" y="7498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9333EA"/>
                </a:solidFill>
                <a:latin typeface="Calibri"/>
                <a:ea typeface="Calibri"/>
                <a:cs typeface="Calibri"/>
              </a:rPr>
              <a:t>⬆  Includes all Project Manager &amp; Member use cases</a:t>
            </a:r>
            <a:endParaRPr lang="en-US" sz="1000"/>
          </a:p>
        </p:txBody>
      </p:sp>
      <p:grpSp>
        <p:nvGrpSpPr>
          <p:cNvPr id="303881977" name=""/>
          <p:cNvGrpSpPr/>
          <p:nvPr/>
        </p:nvGrpSpPr>
        <p:grpSpPr bwMode="auto">
          <a:xfrm>
            <a:off x="4229100" y="3474253"/>
            <a:ext cx="685800" cy="896111"/>
            <a:chOff x="0" y="0"/>
            <a:chExt cx="685800" cy="896111"/>
          </a:xfrm>
        </p:grpSpPr>
        <p:sp>
          <p:nvSpPr>
            <p:cNvPr id="2131607583" name="Shape 4"/>
            <p:cNvSpPr/>
            <p:nvPr/>
          </p:nvSpPr>
          <p:spPr bwMode="auto">
            <a:xfrm>
              <a:off x="45719" y="0"/>
              <a:ext cx="594360" cy="594360"/>
            </a:xfrm>
            <a:prstGeom prst="ellipse">
              <a:avLst/>
            </a:prstGeom>
            <a:solidFill>
              <a:srgbClr val="FAF5FF"/>
            </a:solidFill>
            <a:ln w="25400">
              <a:solidFill>
                <a:srgbClr val="9333EA"/>
              </a:solidFill>
              <a:prstDash val="solid"/>
            </a:ln>
          </p:spPr>
        </p:sp>
        <p:pic>
          <p:nvPicPr>
            <p:cNvPr id="617636203" name="Image 0" descr="preencoded.png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137160" y="91439"/>
              <a:ext cx="411480" cy="411480"/>
            </a:xfrm>
            <a:prstGeom prst="rect">
              <a:avLst/>
            </a:prstGeom>
          </p:spPr>
        </p:pic>
        <p:sp>
          <p:nvSpPr>
            <p:cNvPr id="289418284" name="Text 5"/>
            <p:cNvSpPr/>
            <p:nvPr/>
          </p:nvSpPr>
          <p:spPr bwMode="auto">
            <a:xfrm>
              <a:off x="0" y="621791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900" b="1">
                  <a:solidFill>
                    <a:srgbClr val="9333EA"/>
                  </a:solidFill>
                  <a:latin typeface="Calibri"/>
                  <a:ea typeface="Calibri"/>
                  <a:cs typeface="Calibri"/>
                </a:rPr>
                <a:t>Admin</a:t>
              </a:r>
              <a:endParaRPr lang="en-US" sz="900"/>
            </a:p>
          </p:txBody>
        </p:sp>
      </p:grpSp>
      <p:grpSp>
        <p:nvGrpSpPr>
          <p:cNvPr id="757432676" name=""/>
          <p:cNvGrpSpPr/>
          <p:nvPr/>
        </p:nvGrpSpPr>
        <p:grpSpPr bwMode="auto">
          <a:xfrm>
            <a:off x="870746" y="1449884"/>
            <a:ext cx="2199297" cy="733042"/>
            <a:chOff x="0" y="0"/>
            <a:chExt cx="2199297" cy="733042"/>
          </a:xfrm>
        </p:grpSpPr>
        <p:sp>
          <p:nvSpPr>
            <p:cNvPr id="235918986" name="Shape 6"/>
            <p:cNvSpPr/>
            <p:nvPr/>
          </p:nvSpPr>
          <p:spPr bwMode="auto">
            <a:xfrm flipH="0" flipV="0">
              <a:off x="0" y="0"/>
              <a:ext cx="2194560" cy="73304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626393808" name="Shape 7"/>
            <p:cNvSpPr/>
            <p:nvPr/>
          </p:nvSpPr>
          <p:spPr bwMode="auto">
            <a:xfrm>
              <a:off x="4737" y="0"/>
              <a:ext cx="2194560" cy="347471"/>
            </a:xfrm>
            <a:prstGeom prst="rect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2075082060" name="Text 8"/>
            <p:cNvSpPr/>
            <p:nvPr/>
          </p:nvSpPr>
          <p:spPr bwMode="auto">
            <a:xfrm>
              <a:off x="123207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User Management</a:t>
              </a:r>
              <a:endParaRPr lang="en-US" sz="1100"/>
            </a:p>
          </p:txBody>
        </p:sp>
        <p:sp>
          <p:nvSpPr>
            <p:cNvPr id="130213985" name="Shape 9"/>
            <p:cNvSpPr/>
            <p:nvPr/>
          </p:nvSpPr>
          <p:spPr bwMode="auto">
            <a:xfrm>
              <a:off x="170596" y="498346"/>
              <a:ext cx="82296" cy="8229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966533574" name="Text 10"/>
            <p:cNvSpPr/>
            <p:nvPr/>
          </p:nvSpPr>
          <p:spPr bwMode="auto">
            <a:xfrm>
              <a:off x="306489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0" i="0" u="none" strike="noStrike" cap="none" spc="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Create/delete user</a:t>
              </a:r>
              <a:endParaRPr sz="1100"/>
            </a:p>
          </p:txBody>
        </p:sp>
      </p:grpSp>
      <p:sp>
        <p:nvSpPr>
          <p:cNvPr id="1133814419" name="Shape 29"/>
          <p:cNvSpPr/>
          <p:nvPr/>
        </p:nvSpPr>
        <p:spPr bwMode="auto">
          <a:xfrm flipH="0" flipV="0">
            <a:off x="1972404" y="2181402"/>
            <a:ext cx="2312445" cy="1460575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grpSp>
        <p:nvGrpSpPr>
          <p:cNvPr id="1609590487" name=""/>
          <p:cNvGrpSpPr/>
          <p:nvPr/>
        </p:nvGrpSpPr>
        <p:grpSpPr bwMode="auto">
          <a:xfrm>
            <a:off x="5693883" y="1448359"/>
            <a:ext cx="2199297" cy="733042"/>
            <a:chOff x="0" y="0"/>
            <a:chExt cx="2199297" cy="733042"/>
          </a:xfrm>
        </p:grpSpPr>
        <p:sp>
          <p:nvSpPr>
            <p:cNvPr id="1096689932" name="Shape 6"/>
            <p:cNvSpPr/>
            <p:nvPr/>
          </p:nvSpPr>
          <p:spPr bwMode="auto">
            <a:xfrm flipH="0" flipV="0">
              <a:off x="0" y="0"/>
              <a:ext cx="2194560" cy="73304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1528544736" name="Shape 7"/>
            <p:cNvSpPr/>
            <p:nvPr/>
          </p:nvSpPr>
          <p:spPr bwMode="auto">
            <a:xfrm>
              <a:off x="4737" y="0"/>
              <a:ext cx="2194560" cy="347471"/>
            </a:xfrm>
            <a:prstGeom prst="rect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124568451" name="Text 8"/>
            <p:cNvSpPr/>
            <p:nvPr/>
          </p:nvSpPr>
          <p:spPr bwMode="auto">
            <a:xfrm>
              <a:off x="123207" y="0"/>
              <a:ext cx="1783080" cy="3474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Role Management</a:t>
              </a:r>
              <a:endParaRPr lang="en-US" sz="1100"/>
            </a:p>
          </p:txBody>
        </p:sp>
        <p:sp>
          <p:nvSpPr>
            <p:cNvPr id="1672318149" name="Shape 9"/>
            <p:cNvSpPr/>
            <p:nvPr/>
          </p:nvSpPr>
          <p:spPr bwMode="auto">
            <a:xfrm>
              <a:off x="170596" y="498346"/>
              <a:ext cx="82296" cy="8229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681172184" name="Text 10"/>
            <p:cNvSpPr/>
            <p:nvPr/>
          </p:nvSpPr>
          <p:spPr bwMode="auto">
            <a:xfrm>
              <a:off x="306489" y="40233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de-DE" sz="1100" b="0" i="0" u="none" strike="noStrike" cap="none" spc="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user role</a:t>
              </a:r>
              <a:endParaRPr sz="1100"/>
            </a:p>
          </p:txBody>
        </p:sp>
      </p:grpSp>
      <p:sp>
        <p:nvSpPr>
          <p:cNvPr id="548506516" name="Shape 29"/>
          <p:cNvSpPr/>
          <p:nvPr/>
        </p:nvSpPr>
        <p:spPr bwMode="auto">
          <a:xfrm flipH="1" flipV="0">
            <a:off x="4872462" y="2181402"/>
            <a:ext cx="1955040" cy="1460575"/>
          </a:xfrm>
          <a:prstGeom prst="line">
            <a:avLst/>
          </a:prstGeom>
          <a:noFill/>
          <a:ln w="15240">
            <a:solidFill>
              <a:srgbClr val="7F7F7F"/>
            </a:solidFill>
            <a:prstDash val="solid"/>
          </a:ln>
        </p:spPr>
      </p:sp>
      <p:sp>
        <p:nvSpPr>
          <p:cNvPr id="234278546" name="Shape 29"/>
          <p:cNvSpPr/>
          <p:nvPr/>
        </p:nvSpPr>
        <p:spPr bwMode="auto">
          <a:xfrm flipH="1" flipV="1">
            <a:off x="3070044" y="1795831"/>
            <a:ext cx="2659776" cy="0"/>
          </a:xfrm>
          <a:prstGeom prst="line">
            <a:avLst/>
          </a:prstGeom>
          <a:noFill/>
          <a:ln w="15240">
            <a:solidFill>
              <a:srgbClr val="7F7F7F"/>
            </a:solidFill>
            <a:prstDash val="dash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719411" name="Shape 0"/>
          <p:cNvSpPr/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20641848" name="Text 1"/>
          <p:cNvSpPr/>
          <p:nvPr/>
        </p:nvSpPr>
        <p:spPr bwMode="auto"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Permissions Matrix</a:t>
            </a:r>
            <a:endParaRPr lang="en-US" sz="2200"/>
          </a:p>
        </p:txBody>
      </p:sp>
      <p:grpSp>
        <p:nvGrpSpPr>
          <p:cNvPr id="573649606" name=""/>
          <p:cNvGrpSpPr/>
          <p:nvPr/>
        </p:nvGrpSpPr>
        <p:grpSpPr bwMode="auto">
          <a:xfrm flipH="0" flipV="0">
            <a:off x="0" y="701687"/>
            <a:ext cx="9168527" cy="4409319"/>
            <a:chOff x="0" y="0"/>
            <a:chExt cx="9168527" cy="4409319"/>
          </a:xfrm>
        </p:grpSpPr>
        <p:sp>
          <p:nvSpPr>
            <p:cNvPr id="606992025" name="Shape 2"/>
            <p:cNvSpPr/>
            <p:nvPr/>
          </p:nvSpPr>
          <p:spPr bwMode="auto">
            <a:xfrm>
              <a:off x="0" y="0"/>
              <a:ext cx="4699446" cy="321600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</p:sp>
        <p:sp>
          <p:nvSpPr>
            <p:cNvPr id="2231684" name="Text 3"/>
            <p:cNvSpPr/>
            <p:nvPr/>
          </p:nvSpPr>
          <p:spPr bwMode="auto">
            <a:xfrm>
              <a:off x="46072" y="0"/>
              <a:ext cx="4699446" cy="32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Feature / Use Case</a:t>
              </a:r>
              <a:endParaRPr lang="en-US" sz="1100"/>
            </a:p>
          </p:txBody>
        </p:sp>
        <p:sp>
          <p:nvSpPr>
            <p:cNvPr id="2134024461" name="Shape 4"/>
            <p:cNvSpPr/>
            <p:nvPr/>
          </p:nvSpPr>
          <p:spPr bwMode="auto">
            <a:xfrm>
              <a:off x="4837665" y="0"/>
              <a:ext cx="1336116" cy="32160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42336445" name="Text 5"/>
            <p:cNvSpPr/>
            <p:nvPr/>
          </p:nvSpPr>
          <p:spPr bwMode="auto">
            <a:xfrm>
              <a:off x="4883738" y="0"/>
              <a:ext cx="1336116" cy="32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Member</a:t>
              </a:r>
              <a:endParaRPr lang="en-US" sz="1100"/>
            </a:p>
          </p:txBody>
        </p:sp>
        <p:sp>
          <p:nvSpPr>
            <p:cNvPr id="918514894" name="Shape 6"/>
            <p:cNvSpPr/>
            <p:nvPr/>
          </p:nvSpPr>
          <p:spPr bwMode="auto">
            <a:xfrm>
              <a:off x="6312001" y="0"/>
              <a:ext cx="1336116" cy="321600"/>
            </a:xfrm>
            <a:prstGeom prst="rect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927255162" name="Text 7"/>
            <p:cNvSpPr/>
            <p:nvPr/>
          </p:nvSpPr>
          <p:spPr bwMode="auto">
            <a:xfrm>
              <a:off x="6358074" y="0"/>
              <a:ext cx="1336116" cy="32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Manager</a:t>
              </a:r>
              <a:endParaRPr lang="en-US" sz="1100"/>
            </a:p>
          </p:txBody>
        </p:sp>
        <p:sp>
          <p:nvSpPr>
            <p:cNvPr id="125736860" name="Shape 8"/>
            <p:cNvSpPr/>
            <p:nvPr/>
          </p:nvSpPr>
          <p:spPr bwMode="auto">
            <a:xfrm>
              <a:off x="7786337" y="0"/>
              <a:ext cx="1336116" cy="321600"/>
            </a:xfrm>
            <a:prstGeom prst="rect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2922425" name="Text 9"/>
            <p:cNvSpPr/>
            <p:nvPr/>
          </p:nvSpPr>
          <p:spPr bwMode="auto">
            <a:xfrm>
              <a:off x="7832410" y="0"/>
              <a:ext cx="1336116" cy="32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1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Admin</a:t>
              </a:r>
              <a:endParaRPr lang="en-US" sz="1100"/>
            </a:p>
          </p:txBody>
        </p:sp>
        <p:sp>
          <p:nvSpPr>
            <p:cNvPr id="911034568" name="Shape 10"/>
            <p:cNvSpPr/>
            <p:nvPr/>
          </p:nvSpPr>
          <p:spPr bwMode="auto">
            <a:xfrm flipH="0" flipV="0">
              <a:off x="0" y="338527"/>
              <a:ext cx="9098578" cy="31313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2090558446" name="Text 11"/>
            <p:cNvSpPr/>
            <p:nvPr/>
          </p:nvSpPr>
          <p:spPr bwMode="auto">
            <a:xfrm>
              <a:off x="73716" y="338527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/ edit / delete tasks</a:t>
              </a:r>
              <a:endParaRPr lang="en-US" sz="1000"/>
            </a:p>
          </p:txBody>
        </p:sp>
        <p:sp>
          <p:nvSpPr>
            <p:cNvPr id="651524377" name="Shape 12"/>
            <p:cNvSpPr/>
            <p:nvPr/>
          </p:nvSpPr>
          <p:spPr bwMode="auto">
            <a:xfrm>
              <a:off x="5395148" y="393537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95286101" name="Text 13"/>
            <p:cNvSpPr/>
            <p:nvPr/>
          </p:nvSpPr>
          <p:spPr bwMode="auto">
            <a:xfrm>
              <a:off x="5395148" y="393537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111755897" name="Shape 14"/>
            <p:cNvSpPr/>
            <p:nvPr/>
          </p:nvSpPr>
          <p:spPr bwMode="auto">
            <a:xfrm>
              <a:off x="6869485" y="393537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595559359" name="Text 15"/>
            <p:cNvSpPr/>
            <p:nvPr/>
          </p:nvSpPr>
          <p:spPr bwMode="auto">
            <a:xfrm>
              <a:off x="6869485" y="393537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745201441" name="Shape 16"/>
            <p:cNvSpPr/>
            <p:nvPr/>
          </p:nvSpPr>
          <p:spPr bwMode="auto">
            <a:xfrm>
              <a:off x="8343821" y="393537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2006901951" name="Text 17"/>
            <p:cNvSpPr/>
            <p:nvPr/>
          </p:nvSpPr>
          <p:spPr bwMode="auto">
            <a:xfrm>
              <a:off x="8343821" y="393537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84448033" name="Shape 18"/>
            <p:cNvSpPr/>
            <p:nvPr/>
          </p:nvSpPr>
          <p:spPr bwMode="auto">
            <a:xfrm flipH="0" flipV="0">
              <a:off x="0" y="651665"/>
              <a:ext cx="9098578" cy="313137"/>
            </a:xfrm>
            <a:prstGeom prst="rect">
              <a:avLst/>
            </a:prstGeom>
            <a:solidFill>
              <a:srgbClr val="F1F5F9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100511593" name="Text 19"/>
            <p:cNvSpPr/>
            <p:nvPr/>
          </p:nvSpPr>
          <p:spPr bwMode="auto">
            <a:xfrm>
              <a:off x="73716" y="651665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status &amp; priority</a:t>
              </a:r>
              <a:endParaRPr lang="en-US" sz="1000"/>
            </a:p>
          </p:txBody>
        </p:sp>
        <p:sp>
          <p:nvSpPr>
            <p:cNvPr id="1383062921" name="Shape 20"/>
            <p:cNvSpPr/>
            <p:nvPr/>
          </p:nvSpPr>
          <p:spPr bwMode="auto">
            <a:xfrm>
              <a:off x="5395148" y="706675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644919390" name="Text 21"/>
            <p:cNvSpPr/>
            <p:nvPr/>
          </p:nvSpPr>
          <p:spPr bwMode="auto">
            <a:xfrm>
              <a:off x="5395148" y="706675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190849090" name="Shape 22"/>
            <p:cNvSpPr/>
            <p:nvPr/>
          </p:nvSpPr>
          <p:spPr bwMode="auto">
            <a:xfrm>
              <a:off x="6869485" y="706675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332059512" name="Text 23"/>
            <p:cNvSpPr/>
            <p:nvPr/>
          </p:nvSpPr>
          <p:spPr bwMode="auto">
            <a:xfrm>
              <a:off x="6869485" y="706675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941093916" name="Shape 24"/>
            <p:cNvSpPr/>
            <p:nvPr/>
          </p:nvSpPr>
          <p:spPr bwMode="auto">
            <a:xfrm>
              <a:off x="8343821" y="706675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2023938585" name="Text 25"/>
            <p:cNvSpPr/>
            <p:nvPr/>
          </p:nvSpPr>
          <p:spPr bwMode="auto">
            <a:xfrm>
              <a:off x="8343821" y="706675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177605902" name="Shape 26"/>
            <p:cNvSpPr/>
            <p:nvPr/>
          </p:nvSpPr>
          <p:spPr bwMode="auto">
            <a:xfrm flipH="0" flipV="0">
              <a:off x="0" y="964802"/>
              <a:ext cx="9098578" cy="31313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250135447" name="Text 27"/>
            <p:cNvSpPr/>
            <p:nvPr/>
          </p:nvSpPr>
          <p:spPr bwMode="auto">
            <a:xfrm>
              <a:off x="73716" y="964802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/ edit / delete comments</a:t>
              </a:r>
              <a:endParaRPr lang="en-US" sz="1000"/>
            </a:p>
          </p:txBody>
        </p:sp>
        <p:sp>
          <p:nvSpPr>
            <p:cNvPr id="1099224223" name="Shape 28"/>
            <p:cNvSpPr/>
            <p:nvPr/>
          </p:nvSpPr>
          <p:spPr bwMode="auto">
            <a:xfrm>
              <a:off x="5395148" y="1019813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919532903" name="Text 29"/>
            <p:cNvSpPr/>
            <p:nvPr/>
          </p:nvSpPr>
          <p:spPr bwMode="auto">
            <a:xfrm>
              <a:off x="5395148" y="1019813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672286081" name="Shape 30"/>
            <p:cNvSpPr/>
            <p:nvPr/>
          </p:nvSpPr>
          <p:spPr bwMode="auto">
            <a:xfrm>
              <a:off x="6869485" y="1019813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98979876" name="Text 31"/>
            <p:cNvSpPr/>
            <p:nvPr/>
          </p:nvSpPr>
          <p:spPr bwMode="auto">
            <a:xfrm>
              <a:off x="6869485" y="1019813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2123209013" name="Shape 32"/>
            <p:cNvSpPr/>
            <p:nvPr/>
          </p:nvSpPr>
          <p:spPr bwMode="auto">
            <a:xfrm>
              <a:off x="8343821" y="1019813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527280371" name="Text 33"/>
            <p:cNvSpPr/>
            <p:nvPr/>
          </p:nvSpPr>
          <p:spPr bwMode="auto">
            <a:xfrm>
              <a:off x="8343821" y="1019813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981546480" name="Shape 34"/>
            <p:cNvSpPr/>
            <p:nvPr/>
          </p:nvSpPr>
          <p:spPr bwMode="auto">
            <a:xfrm flipH="0" flipV="0">
              <a:off x="0" y="1277940"/>
              <a:ext cx="9098578" cy="313137"/>
            </a:xfrm>
            <a:prstGeom prst="rect">
              <a:avLst/>
            </a:prstGeom>
            <a:solidFill>
              <a:srgbClr val="F1F5F9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740284981" name="Text 35"/>
            <p:cNvSpPr/>
            <p:nvPr/>
          </p:nvSpPr>
          <p:spPr bwMode="auto">
            <a:xfrm>
              <a:off x="73716" y="1277940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/ edit / delete epics</a:t>
              </a:r>
              <a:endParaRPr lang="en-US" sz="1000"/>
            </a:p>
          </p:txBody>
        </p:sp>
        <p:sp>
          <p:nvSpPr>
            <p:cNvPr id="561683017" name="Shape 36"/>
            <p:cNvSpPr/>
            <p:nvPr/>
          </p:nvSpPr>
          <p:spPr bwMode="auto">
            <a:xfrm>
              <a:off x="5395148" y="1332951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227104612" name="Text 37"/>
            <p:cNvSpPr/>
            <p:nvPr/>
          </p:nvSpPr>
          <p:spPr bwMode="auto">
            <a:xfrm>
              <a:off x="5395148" y="1332951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2046931064" name="Shape 38"/>
            <p:cNvSpPr/>
            <p:nvPr/>
          </p:nvSpPr>
          <p:spPr bwMode="auto">
            <a:xfrm>
              <a:off x="6869485" y="1332951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736417488" name="Text 39"/>
            <p:cNvSpPr/>
            <p:nvPr/>
          </p:nvSpPr>
          <p:spPr bwMode="auto">
            <a:xfrm>
              <a:off x="6869485" y="1332951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060130452" name="Shape 40"/>
            <p:cNvSpPr/>
            <p:nvPr/>
          </p:nvSpPr>
          <p:spPr bwMode="auto">
            <a:xfrm>
              <a:off x="8343821" y="1332951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2110235181" name="Text 41"/>
            <p:cNvSpPr/>
            <p:nvPr/>
          </p:nvSpPr>
          <p:spPr bwMode="auto">
            <a:xfrm>
              <a:off x="8343821" y="1332951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34761740" name="Shape 42"/>
            <p:cNvSpPr/>
            <p:nvPr/>
          </p:nvSpPr>
          <p:spPr bwMode="auto">
            <a:xfrm flipH="0" flipV="0">
              <a:off x="0" y="1591078"/>
              <a:ext cx="9098578" cy="31313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1947324267" name="Text 43"/>
            <p:cNvSpPr/>
            <p:nvPr/>
          </p:nvSpPr>
          <p:spPr bwMode="auto">
            <a:xfrm>
              <a:off x="73716" y="1591078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epic to task</a:t>
              </a:r>
              <a:endParaRPr lang="en-US" sz="1000"/>
            </a:p>
          </p:txBody>
        </p:sp>
        <p:sp>
          <p:nvSpPr>
            <p:cNvPr id="1380571264" name="Shape 44"/>
            <p:cNvSpPr/>
            <p:nvPr/>
          </p:nvSpPr>
          <p:spPr bwMode="auto">
            <a:xfrm>
              <a:off x="5395148" y="1646089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347611539" name="Text 45"/>
            <p:cNvSpPr/>
            <p:nvPr/>
          </p:nvSpPr>
          <p:spPr bwMode="auto">
            <a:xfrm>
              <a:off x="5395148" y="1646089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964071559" name="Shape 46"/>
            <p:cNvSpPr/>
            <p:nvPr/>
          </p:nvSpPr>
          <p:spPr bwMode="auto">
            <a:xfrm>
              <a:off x="6869485" y="1646089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524674980" name="Text 47"/>
            <p:cNvSpPr/>
            <p:nvPr/>
          </p:nvSpPr>
          <p:spPr bwMode="auto">
            <a:xfrm>
              <a:off x="6869485" y="1646089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7887145" name="Shape 48"/>
            <p:cNvSpPr/>
            <p:nvPr/>
          </p:nvSpPr>
          <p:spPr bwMode="auto">
            <a:xfrm>
              <a:off x="8343821" y="1646089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391639294" name="Text 49"/>
            <p:cNvSpPr/>
            <p:nvPr/>
          </p:nvSpPr>
          <p:spPr bwMode="auto">
            <a:xfrm>
              <a:off x="8343821" y="1646089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992998960" name="Shape 50"/>
            <p:cNvSpPr/>
            <p:nvPr/>
          </p:nvSpPr>
          <p:spPr bwMode="auto">
            <a:xfrm flipH="0" flipV="0">
              <a:off x="0" y="1904216"/>
              <a:ext cx="9098578" cy="313137"/>
            </a:xfrm>
            <a:prstGeom prst="rect">
              <a:avLst/>
            </a:prstGeom>
            <a:solidFill>
              <a:srgbClr val="F1F5F9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1387035667" name="Text 51"/>
            <p:cNvSpPr/>
            <p:nvPr/>
          </p:nvSpPr>
          <p:spPr bwMode="auto">
            <a:xfrm>
              <a:off x="73716" y="1904216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project member to task</a:t>
              </a:r>
              <a:endParaRPr lang="en-US" sz="1000"/>
            </a:p>
          </p:txBody>
        </p:sp>
        <p:sp>
          <p:nvSpPr>
            <p:cNvPr id="1316202197" name="Shape 52"/>
            <p:cNvSpPr/>
            <p:nvPr/>
          </p:nvSpPr>
          <p:spPr bwMode="auto">
            <a:xfrm>
              <a:off x="5395148" y="1959227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995046052" name="Text 53"/>
            <p:cNvSpPr/>
            <p:nvPr/>
          </p:nvSpPr>
          <p:spPr bwMode="auto">
            <a:xfrm>
              <a:off x="5395148" y="1959227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529429505" name="Shape 54"/>
            <p:cNvSpPr/>
            <p:nvPr/>
          </p:nvSpPr>
          <p:spPr bwMode="auto">
            <a:xfrm>
              <a:off x="6869485" y="1959227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454825536" name="Text 55"/>
            <p:cNvSpPr/>
            <p:nvPr/>
          </p:nvSpPr>
          <p:spPr bwMode="auto">
            <a:xfrm>
              <a:off x="6869485" y="1959227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938115358" name="Shape 56"/>
            <p:cNvSpPr/>
            <p:nvPr/>
          </p:nvSpPr>
          <p:spPr bwMode="auto">
            <a:xfrm>
              <a:off x="8343821" y="1959227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33385255" name="Text 57"/>
            <p:cNvSpPr/>
            <p:nvPr/>
          </p:nvSpPr>
          <p:spPr bwMode="auto">
            <a:xfrm>
              <a:off x="8343821" y="1959227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410815736" name="Shape 58"/>
            <p:cNvSpPr/>
            <p:nvPr/>
          </p:nvSpPr>
          <p:spPr bwMode="auto">
            <a:xfrm flipH="0" flipV="0">
              <a:off x="0" y="2217354"/>
              <a:ext cx="9098578" cy="31313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2054821121" name="Text 59"/>
            <p:cNvSpPr/>
            <p:nvPr/>
          </p:nvSpPr>
          <p:spPr bwMode="auto">
            <a:xfrm>
              <a:off x="73716" y="2217354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Search &amp; filter tasks</a:t>
              </a:r>
              <a:endParaRPr lang="en-US" sz="1000"/>
            </a:p>
          </p:txBody>
        </p:sp>
        <p:sp>
          <p:nvSpPr>
            <p:cNvPr id="2021245846" name="Shape 60"/>
            <p:cNvSpPr/>
            <p:nvPr/>
          </p:nvSpPr>
          <p:spPr bwMode="auto">
            <a:xfrm>
              <a:off x="5395148" y="2272365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312903530" name="Text 61"/>
            <p:cNvSpPr/>
            <p:nvPr/>
          </p:nvSpPr>
          <p:spPr bwMode="auto">
            <a:xfrm>
              <a:off x="5395148" y="2272365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38913928" name="Shape 62"/>
            <p:cNvSpPr/>
            <p:nvPr/>
          </p:nvSpPr>
          <p:spPr bwMode="auto">
            <a:xfrm>
              <a:off x="6869485" y="2272365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301545676" name="Text 63"/>
            <p:cNvSpPr/>
            <p:nvPr/>
          </p:nvSpPr>
          <p:spPr bwMode="auto">
            <a:xfrm>
              <a:off x="6869485" y="2272365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913034468" name="Shape 64"/>
            <p:cNvSpPr/>
            <p:nvPr/>
          </p:nvSpPr>
          <p:spPr bwMode="auto">
            <a:xfrm>
              <a:off x="8343821" y="2272365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76624548" name="Text 65"/>
            <p:cNvSpPr/>
            <p:nvPr/>
          </p:nvSpPr>
          <p:spPr bwMode="auto">
            <a:xfrm>
              <a:off x="8343821" y="2272365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720075059" name="Shape 66"/>
            <p:cNvSpPr/>
            <p:nvPr/>
          </p:nvSpPr>
          <p:spPr bwMode="auto">
            <a:xfrm flipH="0" flipV="0">
              <a:off x="0" y="2530492"/>
              <a:ext cx="9098578" cy="313137"/>
            </a:xfrm>
            <a:prstGeom prst="rect">
              <a:avLst/>
            </a:prstGeom>
            <a:solidFill>
              <a:srgbClr val="F1F5F9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1663078205" name="Text 67"/>
            <p:cNvSpPr/>
            <p:nvPr/>
          </p:nvSpPr>
          <p:spPr bwMode="auto">
            <a:xfrm>
              <a:off x="73716" y="2530492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Open dashboard</a:t>
              </a:r>
              <a:endParaRPr lang="en-US" sz="1000"/>
            </a:p>
          </p:txBody>
        </p:sp>
        <p:sp>
          <p:nvSpPr>
            <p:cNvPr id="1250902593" name="Shape 68"/>
            <p:cNvSpPr/>
            <p:nvPr/>
          </p:nvSpPr>
          <p:spPr bwMode="auto">
            <a:xfrm>
              <a:off x="5395148" y="2585503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912467893" name="Text 69"/>
            <p:cNvSpPr/>
            <p:nvPr/>
          </p:nvSpPr>
          <p:spPr bwMode="auto">
            <a:xfrm>
              <a:off x="5395148" y="2585503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225898774" name="Shape 70"/>
            <p:cNvSpPr/>
            <p:nvPr/>
          </p:nvSpPr>
          <p:spPr bwMode="auto">
            <a:xfrm>
              <a:off x="6869485" y="2585503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598666425" name="Text 71"/>
            <p:cNvSpPr/>
            <p:nvPr/>
          </p:nvSpPr>
          <p:spPr bwMode="auto">
            <a:xfrm>
              <a:off x="6869485" y="2585503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449938293" name="Shape 72"/>
            <p:cNvSpPr/>
            <p:nvPr/>
          </p:nvSpPr>
          <p:spPr bwMode="auto">
            <a:xfrm>
              <a:off x="8343821" y="2585503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784950302" name="Text 73"/>
            <p:cNvSpPr/>
            <p:nvPr/>
          </p:nvSpPr>
          <p:spPr bwMode="auto">
            <a:xfrm>
              <a:off x="8343821" y="2585503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431125696" name="Shape 74"/>
            <p:cNvSpPr/>
            <p:nvPr/>
          </p:nvSpPr>
          <p:spPr bwMode="auto">
            <a:xfrm flipH="0" flipV="0">
              <a:off x="0" y="2843629"/>
              <a:ext cx="9098578" cy="31313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271617161" name="Text 75"/>
            <p:cNvSpPr/>
            <p:nvPr/>
          </p:nvSpPr>
          <p:spPr bwMode="auto">
            <a:xfrm>
              <a:off x="73716" y="2843629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Login / sign up</a:t>
              </a:r>
              <a:endParaRPr lang="en-US" sz="1000"/>
            </a:p>
          </p:txBody>
        </p:sp>
        <p:sp>
          <p:nvSpPr>
            <p:cNvPr id="526527996" name="Shape 76"/>
            <p:cNvSpPr/>
            <p:nvPr/>
          </p:nvSpPr>
          <p:spPr bwMode="auto">
            <a:xfrm>
              <a:off x="5395148" y="2898639"/>
              <a:ext cx="221150" cy="20311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17469711" name="Text 77"/>
            <p:cNvSpPr/>
            <p:nvPr/>
          </p:nvSpPr>
          <p:spPr bwMode="auto">
            <a:xfrm>
              <a:off x="5395148" y="2898639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502138241" name="Shape 78"/>
            <p:cNvSpPr/>
            <p:nvPr/>
          </p:nvSpPr>
          <p:spPr bwMode="auto">
            <a:xfrm>
              <a:off x="6869485" y="2898639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812107019" name="Text 79"/>
            <p:cNvSpPr/>
            <p:nvPr/>
          </p:nvSpPr>
          <p:spPr bwMode="auto">
            <a:xfrm>
              <a:off x="6869485" y="2898639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448041851" name="Shape 80"/>
            <p:cNvSpPr/>
            <p:nvPr/>
          </p:nvSpPr>
          <p:spPr bwMode="auto">
            <a:xfrm>
              <a:off x="8343821" y="2898639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965474091" name="Text 81"/>
            <p:cNvSpPr/>
            <p:nvPr/>
          </p:nvSpPr>
          <p:spPr bwMode="auto">
            <a:xfrm>
              <a:off x="8343821" y="2898639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888641153" name="Shape 82"/>
            <p:cNvSpPr/>
            <p:nvPr/>
          </p:nvSpPr>
          <p:spPr bwMode="auto">
            <a:xfrm flipH="0" flipV="0">
              <a:off x="0" y="3156766"/>
              <a:ext cx="9098578" cy="313137"/>
            </a:xfrm>
            <a:prstGeom prst="rect">
              <a:avLst/>
            </a:prstGeom>
            <a:solidFill>
              <a:srgbClr val="F1F5F9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408968112" name="Text 83"/>
            <p:cNvSpPr/>
            <p:nvPr/>
          </p:nvSpPr>
          <p:spPr bwMode="auto">
            <a:xfrm>
              <a:off x="73716" y="3156766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/ delete projects</a:t>
              </a:r>
              <a:endParaRPr lang="en-US" sz="1000"/>
            </a:p>
          </p:txBody>
        </p:sp>
        <p:sp>
          <p:nvSpPr>
            <p:cNvPr id="670716399" name="Text 84"/>
            <p:cNvSpPr/>
            <p:nvPr/>
          </p:nvSpPr>
          <p:spPr bwMode="auto">
            <a:xfrm>
              <a:off x="4837665" y="3156766"/>
              <a:ext cx="1336116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400">
                  <a:solidFill>
                    <a:srgbClr val="CBD5E1"/>
                  </a:solidFill>
                </a:rPr>
                <a:t>–</a:t>
              </a:r>
              <a:endParaRPr lang="en-US" sz="1400"/>
            </a:p>
          </p:txBody>
        </p:sp>
        <p:sp>
          <p:nvSpPr>
            <p:cNvPr id="126325534" name="Shape 85"/>
            <p:cNvSpPr/>
            <p:nvPr/>
          </p:nvSpPr>
          <p:spPr bwMode="auto">
            <a:xfrm>
              <a:off x="6869485" y="3211778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2035749409" name="Text 86"/>
            <p:cNvSpPr/>
            <p:nvPr/>
          </p:nvSpPr>
          <p:spPr bwMode="auto">
            <a:xfrm>
              <a:off x="6869485" y="3211778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2112765213" name="Shape 87"/>
            <p:cNvSpPr/>
            <p:nvPr/>
          </p:nvSpPr>
          <p:spPr bwMode="auto">
            <a:xfrm>
              <a:off x="8343821" y="3211778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1298818622" name="Text 88"/>
            <p:cNvSpPr/>
            <p:nvPr/>
          </p:nvSpPr>
          <p:spPr bwMode="auto">
            <a:xfrm>
              <a:off x="8343821" y="3211778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512625419" name="Shape 89"/>
            <p:cNvSpPr/>
            <p:nvPr/>
          </p:nvSpPr>
          <p:spPr bwMode="auto">
            <a:xfrm flipH="0" flipV="0">
              <a:off x="0" y="3469905"/>
              <a:ext cx="9098578" cy="31313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1747620318" name="Text 90"/>
            <p:cNvSpPr/>
            <p:nvPr/>
          </p:nvSpPr>
          <p:spPr bwMode="auto">
            <a:xfrm>
              <a:off x="73716" y="3469905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Assign / remove project members</a:t>
              </a:r>
              <a:endParaRPr lang="en-US" sz="1000"/>
            </a:p>
          </p:txBody>
        </p:sp>
        <p:sp>
          <p:nvSpPr>
            <p:cNvPr id="814786879" name="Text 91"/>
            <p:cNvSpPr/>
            <p:nvPr/>
          </p:nvSpPr>
          <p:spPr bwMode="auto">
            <a:xfrm>
              <a:off x="4837665" y="3469905"/>
              <a:ext cx="1336116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400">
                  <a:solidFill>
                    <a:srgbClr val="CBD5E1"/>
                  </a:solidFill>
                </a:rPr>
                <a:t>–</a:t>
              </a:r>
              <a:endParaRPr lang="en-US" sz="1400"/>
            </a:p>
          </p:txBody>
        </p:sp>
        <p:sp>
          <p:nvSpPr>
            <p:cNvPr id="235705954" name="Shape 92"/>
            <p:cNvSpPr/>
            <p:nvPr/>
          </p:nvSpPr>
          <p:spPr bwMode="auto">
            <a:xfrm>
              <a:off x="6869485" y="3524916"/>
              <a:ext cx="221150" cy="203116"/>
            </a:xfrm>
            <a:prstGeom prst="ellipse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223709398" name="Text 93"/>
            <p:cNvSpPr/>
            <p:nvPr/>
          </p:nvSpPr>
          <p:spPr bwMode="auto">
            <a:xfrm>
              <a:off x="6869485" y="3524916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75679692" name="Shape 94"/>
            <p:cNvSpPr/>
            <p:nvPr/>
          </p:nvSpPr>
          <p:spPr bwMode="auto">
            <a:xfrm>
              <a:off x="8343821" y="3524916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2040100103" name="Text 95"/>
            <p:cNvSpPr/>
            <p:nvPr/>
          </p:nvSpPr>
          <p:spPr bwMode="auto">
            <a:xfrm>
              <a:off x="8343821" y="3524916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398801870" name="Shape 96"/>
            <p:cNvSpPr/>
            <p:nvPr/>
          </p:nvSpPr>
          <p:spPr bwMode="auto">
            <a:xfrm flipH="0" flipV="0">
              <a:off x="0" y="3783043"/>
              <a:ext cx="9098578" cy="313137"/>
            </a:xfrm>
            <a:prstGeom prst="rect">
              <a:avLst/>
            </a:prstGeom>
            <a:solidFill>
              <a:srgbClr val="F1F5F9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2018285144" name="Text 97"/>
            <p:cNvSpPr/>
            <p:nvPr/>
          </p:nvSpPr>
          <p:spPr bwMode="auto">
            <a:xfrm>
              <a:off x="73716" y="3783043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Change user roles</a:t>
              </a:r>
              <a:endParaRPr lang="en-US" sz="1000"/>
            </a:p>
          </p:txBody>
        </p:sp>
        <p:sp>
          <p:nvSpPr>
            <p:cNvPr id="1535996111" name="Text 98"/>
            <p:cNvSpPr/>
            <p:nvPr/>
          </p:nvSpPr>
          <p:spPr bwMode="auto">
            <a:xfrm>
              <a:off x="4837665" y="3783043"/>
              <a:ext cx="1336116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400">
                  <a:solidFill>
                    <a:srgbClr val="CBD5E1"/>
                  </a:solidFill>
                </a:rPr>
                <a:t>–</a:t>
              </a:r>
              <a:endParaRPr lang="en-US" sz="1400"/>
            </a:p>
          </p:txBody>
        </p:sp>
        <p:sp>
          <p:nvSpPr>
            <p:cNvPr id="167442115" name="Text 99"/>
            <p:cNvSpPr/>
            <p:nvPr/>
          </p:nvSpPr>
          <p:spPr bwMode="auto">
            <a:xfrm>
              <a:off x="6312001" y="3783043"/>
              <a:ext cx="1336116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400">
                  <a:solidFill>
                    <a:srgbClr val="CBD5E1"/>
                  </a:solidFill>
                </a:rPr>
                <a:t>–</a:t>
              </a:r>
              <a:endParaRPr lang="en-US" sz="1400"/>
            </a:p>
          </p:txBody>
        </p:sp>
        <p:sp>
          <p:nvSpPr>
            <p:cNvPr id="992415179" name="Shape 100"/>
            <p:cNvSpPr/>
            <p:nvPr/>
          </p:nvSpPr>
          <p:spPr bwMode="auto">
            <a:xfrm>
              <a:off x="8343821" y="3838054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604657024" name="Text 101"/>
            <p:cNvSpPr/>
            <p:nvPr/>
          </p:nvSpPr>
          <p:spPr bwMode="auto">
            <a:xfrm>
              <a:off x="8343821" y="3838054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  <p:sp>
          <p:nvSpPr>
            <p:cNvPr id="1836804951" name="Shape 102"/>
            <p:cNvSpPr/>
            <p:nvPr/>
          </p:nvSpPr>
          <p:spPr bwMode="auto">
            <a:xfrm flipH="0" flipV="0">
              <a:off x="0" y="4096181"/>
              <a:ext cx="9098578" cy="31313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</p:spPr>
        </p:sp>
        <p:sp>
          <p:nvSpPr>
            <p:cNvPr id="1261454566" name="Text 103"/>
            <p:cNvSpPr/>
            <p:nvPr/>
          </p:nvSpPr>
          <p:spPr bwMode="auto">
            <a:xfrm>
              <a:off x="73716" y="4096181"/>
              <a:ext cx="4607300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  <a:defRPr/>
              </a:pPr>
              <a:r>
                <a:rPr lang="en-US" sz="1000">
                  <a:solidFill>
                    <a:srgbClr val="0F172A"/>
                  </a:solidFill>
                  <a:latin typeface="Calibri"/>
                  <a:ea typeface="Calibri"/>
                  <a:cs typeface="Calibri"/>
                </a:rPr>
                <a:t>Create / delete users</a:t>
              </a:r>
              <a:endParaRPr lang="en-US" sz="1000"/>
            </a:p>
          </p:txBody>
        </p:sp>
        <p:sp>
          <p:nvSpPr>
            <p:cNvPr id="140078322" name="Text 104"/>
            <p:cNvSpPr/>
            <p:nvPr/>
          </p:nvSpPr>
          <p:spPr bwMode="auto">
            <a:xfrm>
              <a:off x="4837665" y="4096181"/>
              <a:ext cx="1336116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400">
                  <a:solidFill>
                    <a:srgbClr val="CBD5E1"/>
                  </a:solidFill>
                </a:rPr>
                <a:t>–</a:t>
              </a:r>
              <a:endParaRPr lang="en-US" sz="1400"/>
            </a:p>
          </p:txBody>
        </p:sp>
        <p:sp>
          <p:nvSpPr>
            <p:cNvPr id="801097622" name="Text 105"/>
            <p:cNvSpPr/>
            <p:nvPr/>
          </p:nvSpPr>
          <p:spPr bwMode="auto">
            <a:xfrm>
              <a:off x="6312001" y="4096181"/>
              <a:ext cx="1336116" cy="31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400">
                  <a:solidFill>
                    <a:srgbClr val="CBD5E1"/>
                  </a:solidFill>
                </a:rPr>
                <a:t>–</a:t>
              </a:r>
              <a:endParaRPr lang="en-US" sz="1400"/>
            </a:p>
          </p:txBody>
        </p:sp>
        <p:sp>
          <p:nvSpPr>
            <p:cNvPr id="1062545147" name="Shape 106"/>
            <p:cNvSpPr/>
            <p:nvPr/>
          </p:nvSpPr>
          <p:spPr bwMode="auto">
            <a:xfrm>
              <a:off x="8343821" y="4151192"/>
              <a:ext cx="221150" cy="203116"/>
            </a:xfrm>
            <a:prstGeom prst="ellipse">
              <a:avLst/>
            </a:prstGeom>
            <a:solidFill>
              <a:srgbClr val="9333EA"/>
            </a:solidFill>
            <a:ln w="12700">
              <a:solidFill>
                <a:srgbClr val="9333EA"/>
              </a:solidFill>
              <a:prstDash val="solid"/>
            </a:ln>
          </p:spPr>
        </p:sp>
        <p:sp>
          <p:nvSpPr>
            <p:cNvPr id="527902906" name="Text 107"/>
            <p:cNvSpPr/>
            <p:nvPr/>
          </p:nvSpPr>
          <p:spPr bwMode="auto">
            <a:xfrm>
              <a:off x="8343821" y="4151192"/>
              <a:ext cx="221150" cy="203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  <a:defRPr/>
              </a:pPr>
              <a:r>
                <a:rPr lang="en-US" sz="1000" b="1">
                  <a:solidFill>
                    <a:srgbClr val="FFFFFF"/>
                  </a:solidFill>
                </a:rPr>
                <a:t>✓</a:t>
              </a:r>
              <a:endParaRPr lang="en-US" sz="10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Jira – Use Cases &amp; Roles</dc:title>
  <dc:subject>PptxGenJS Presentation</dc:subject>
  <dc:creator>PptxGenJS</dc:creator>
  <cp:lastModifiedBy/>
  <cp:revision>2</cp:revision>
  <dcterms:created xsi:type="dcterms:W3CDTF">2026-04-06T11:44:17Z</dcterms:created>
  <dcterms:modified xsi:type="dcterms:W3CDTF">2026-04-06T12:50:46Z</dcterms:modified>
</cp:coreProperties>
</file>