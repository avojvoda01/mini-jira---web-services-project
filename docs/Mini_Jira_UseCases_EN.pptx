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2880">
          <p15:clr>
            <a:srgbClr val="A4A3A4"/>
          </p15:clr>
        </p15:guide>
        <p15:guide id="2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2"/>
  </p:normalViewPr>
  <p:slideViewPr>
    <p:cSldViewPr snapToGrid="0" snapToObjects="1">
      <p:cViewPr varScale="1">
        <p:scale>
          <a:sx n="132" d="100"/>
          <a:sy n="132" d="100"/>
        </p:scale>
        <p:origin x="944" y="168"/>
      </p:cViewPr>
      <p:guideLst>
        <p:guide pos="2880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3353537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99580607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5282F153-3F37-0F45-9E97-73ACFA13230C}" type="datetimeFigureOut">
              <a:rPr lang="en-US"/>
              <a:t>4/19/26</a:t>
            </a:fld>
            <a:endParaRPr lang="en-US"/>
          </a:p>
        </p:txBody>
      </p:sp>
      <p:sp>
        <p:nvSpPr>
          <p:cNvPr id="1658878560" name="Slide Image Placeholder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65941191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1831568027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734372878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535129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3803910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596082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3582920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101595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322118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916187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5245984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952989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F08F0D-7539-486C-00E3-B9F988617589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0224040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5678334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108695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08E325-F849-A203-B3CC-E685AAE7F131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6265878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7876265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248321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3244270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531127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712988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1021965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1163199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428515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1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6361877" name="Shape 0"/>
          <p:cNvSpPr/>
          <p:nvPr/>
        </p:nvSpPr>
        <p:spPr bwMode="auto"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46817239" name="Shape 1"/>
          <p:cNvSpPr/>
          <p:nvPr/>
        </p:nvSpPr>
        <p:spPr bwMode="auto">
          <a:xfrm>
            <a:off x="365760" y="274320"/>
            <a:ext cx="109728" cy="109728"/>
          </a:xfrm>
          <a:prstGeom prst="ellipse">
            <a:avLst/>
          </a:prstGeom>
          <a:solidFill>
            <a:srgbClr val="14B8A6">
              <a:alpha val="60000"/>
            </a:srgbClr>
          </a:solidFill>
          <a:ln w="12700">
            <a:solidFill>
              <a:srgbClr val="14B8A6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1658607" name="Shape 2"/>
          <p:cNvSpPr/>
          <p:nvPr/>
        </p:nvSpPr>
        <p:spPr bwMode="auto">
          <a:xfrm>
            <a:off x="685800" y="274320"/>
            <a:ext cx="109728" cy="109728"/>
          </a:xfrm>
          <a:prstGeom prst="ellipse">
            <a:avLst/>
          </a:prstGeom>
          <a:solidFill>
            <a:srgbClr val="14B8A6">
              <a:alpha val="60000"/>
            </a:srgbClr>
          </a:solidFill>
          <a:ln w="12700">
            <a:solidFill>
              <a:srgbClr val="14B8A6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30318316" name="Shape 3"/>
          <p:cNvSpPr/>
          <p:nvPr/>
        </p:nvSpPr>
        <p:spPr bwMode="auto">
          <a:xfrm>
            <a:off x="1005840" y="274320"/>
            <a:ext cx="109728" cy="109728"/>
          </a:xfrm>
          <a:prstGeom prst="ellipse">
            <a:avLst/>
          </a:prstGeom>
          <a:solidFill>
            <a:srgbClr val="14B8A6">
              <a:alpha val="60000"/>
            </a:srgbClr>
          </a:solidFill>
          <a:ln w="12700">
            <a:solidFill>
              <a:srgbClr val="14B8A6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4263494" name="Shape 4"/>
          <p:cNvSpPr/>
          <p:nvPr/>
        </p:nvSpPr>
        <p:spPr bwMode="auto">
          <a:xfrm>
            <a:off x="1325880" y="274320"/>
            <a:ext cx="109728" cy="109728"/>
          </a:xfrm>
          <a:prstGeom prst="ellipse">
            <a:avLst/>
          </a:prstGeom>
          <a:solidFill>
            <a:srgbClr val="14B8A6">
              <a:alpha val="60000"/>
            </a:srgbClr>
          </a:solidFill>
          <a:ln w="12700">
            <a:solidFill>
              <a:srgbClr val="14B8A6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086871" name="Shape 5"/>
          <p:cNvSpPr/>
          <p:nvPr/>
        </p:nvSpPr>
        <p:spPr bwMode="auto">
          <a:xfrm>
            <a:off x="1645920" y="274320"/>
            <a:ext cx="109728" cy="109728"/>
          </a:xfrm>
          <a:prstGeom prst="ellipse">
            <a:avLst/>
          </a:prstGeom>
          <a:solidFill>
            <a:srgbClr val="14B8A6">
              <a:alpha val="60000"/>
            </a:srgbClr>
          </a:solidFill>
          <a:ln w="12700">
            <a:solidFill>
              <a:srgbClr val="14B8A6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0712605" name="Text 6"/>
          <p:cNvSpPr/>
          <p:nvPr/>
        </p:nvSpPr>
        <p:spPr bwMode="auto">
          <a:xfrm>
            <a:off x="457200" y="10972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5200" b="1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Mini Jira</a:t>
            </a:r>
            <a:endParaRPr sz="5200">
              <a:solidFill>
                <a:schemeClr val="tx1"/>
              </a:solidFill>
            </a:endParaRPr>
          </a:p>
        </p:txBody>
      </p:sp>
      <p:sp>
        <p:nvSpPr>
          <p:cNvPr id="1210472871" name="Text 7"/>
          <p:cNvSpPr/>
          <p:nvPr/>
        </p:nvSpPr>
        <p:spPr bwMode="auto">
          <a:xfrm>
            <a:off x="457200" y="20116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2800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Use Cases &amp; Roles</a:t>
            </a:r>
            <a:endParaRPr lang="en-US" sz="2800"/>
          </a:p>
        </p:txBody>
      </p:sp>
      <p:sp>
        <p:nvSpPr>
          <p:cNvPr id="1036911702" name="Shape 8"/>
          <p:cNvSpPr/>
          <p:nvPr/>
        </p:nvSpPr>
        <p:spPr bwMode="auto">
          <a:xfrm>
            <a:off x="457200" y="2788920"/>
            <a:ext cx="292608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3645498" name="Text 9"/>
          <p:cNvSpPr/>
          <p:nvPr/>
        </p:nvSpPr>
        <p:spPr bwMode="auto">
          <a:xfrm>
            <a:off x="457200" y="3017519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1400">
                <a:solidFill>
                  <a:schemeClr val="tx1">
                    <a:lumMod val="50000"/>
                    <a:lumOff val="50000"/>
                  </a:schemeClr>
                </a:solidFill>
                <a:latin typeface="Calibri"/>
                <a:ea typeface="Calibri"/>
                <a:cs typeface="Calibri"/>
              </a:rPr>
              <a:t>Task, Project &amp; Team Management</a:t>
            </a:r>
            <a:endParaRPr sz="14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2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2878718" name="Shape 0"/>
          <p:cNvSpPr/>
          <p:nvPr/>
        </p:nvSpPr>
        <p:spPr bwMode="auto">
          <a:xfrm>
            <a:off x="0" y="0"/>
            <a:ext cx="9144000" cy="6858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46338364" name="Text 1"/>
          <p:cNvSpPr/>
          <p:nvPr/>
        </p:nvSpPr>
        <p:spPr bwMode="auto"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de-DE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The Team</a:t>
            </a:r>
            <a:endParaRPr lang="en-US" sz="2200"/>
          </a:p>
        </p:txBody>
      </p:sp>
      <p:sp>
        <p:nvSpPr>
          <p:cNvPr id="2015799492" name="TextBox 2015799491"/>
          <p:cNvSpPr txBox="1"/>
          <p:nvPr/>
        </p:nvSpPr>
        <p:spPr bwMode="auto">
          <a:xfrm>
            <a:off x="3294519" y="2388689"/>
            <a:ext cx="2554961" cy="3661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de-DE"/>
              <a:t>Add Picture of Team here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2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13654" name="Shape 0"/>
          <p:cNvSpPr/>
          <p:nvPr/>
        </p:nvSpPr>
        <p:spPr bwMode="auto">
          <a:xfrm>
            <a:off x="0" y="0"/>
            <a:ext cx="9144000" cy="6858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1849693" name="Text 1"/>
          <p:cNvSpPr/>
          <p:nvPr/>
        </p:nvSpPr>
        <p:spPr bwMode="auto"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de-DE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Project Idea</a:t>
            </a:r>
            <a:endParaRPr lang="en-US" sz="2200"/>
          </a:p>
        </p:txBody>
      </p:sp>
      <p:sp>
        <p:nvSpPr>
          <p:cNvPr id="1376518645" name="Shape 2"/>
          <p:cNvSpPr/>
          <p:nvPr/>
        </p:nvSpPr>
        <p:spPr bwMode="auto">
          <a:xfrm>
            <a:off x="206301" y="995773"/>
            <a:ext cx="8731393" cy="770699"/>
          </a:xfrm>
          <a:prstGeom prst="flowChartAlternateProcess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36576367" name="Shape 2"/>
          <p:cNvSpPr/>
          <p:nvPr/>
        </p:nvSpPr>
        <p:spPr bwMode="auto">
          <a:xfrm>
            <a:off x="206301" y="1901716"/>
            <a:ext cx="8731393" cy="770699"/>
          </a:xfrm>
          <a:prstGeom prst="flowChartAlternateProcess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9068424" name="Shape 2"/>
          <p:cNvSpPr/>
          <p:nvPr/>
        </p:nvSpPr>
        <p:spPr bwMode="auto">
          <a:xfrm>
            <a:off x="206301" y="2807660"/>
            <a:ext cx="8731393" cy="770699"/>
          </a:xfrm>
          <a:prstGeom prst="flowChartAlternateProcess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6374053" name="Shape 2"/>
          <p:cNvSpPr/>
          <p:nvPr/>
        </p:nvSpPr>
        <p:spPr bwMode="auto">
          <a:xfrm>
            <a:off x="206301" y="3713603"/>
            <a:ext cx="8731393" cy="770699"/>
          </a:xfrm>
          <a:prstGeom prst="flowChartAlternateProcess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83877742" name="Rectangle 1983877741"/>
          <p:cNvSpPr/>
          <p:nvPr/>
        </p:nvSpPr>
        <p:spPr bwMode="auto">
          <a:xfrm>
            <a:off x="345746" y="1039316"/>
            <a:ext cx="683612" cy="683612"/>
          </a:xfrm>
          <a:prstGeom prst="rect">
            <a:avLst/>
          </a:prstGeom>
          <a:blipFill rotWithShape="1">
            <a:blip r:embed="rId3"/>
            <a:stretch/>
          </a:blipFill>
          <a:ln w="19050" cap="flat" cmpd="sng" algn="ctr">
            <a:solidFill>
              <a:schemeClr val="lt1">
                <a:hueOff val="0"/>
                <a:satOff val="0"/>
                <a:lumOff val="0"/>
                <a:alphaOff val="0"/>
              </a:schemeClr>
            </a:solidFill>
            <a:prstDash val="solid"/>
            <a:miter lim="800000"/>
          </a:ln>
          <a:effectLst/>
        </p:spPr>
        <p:style>
          <a:lnRef idx="2">
            <a:srgbClr val="000000"/>
          </a:lnRef>
          <a:fillRef idx="1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56121892" name="Rectangle 56121891"/>
          <p:cNvSpPr/>
          <p:nvPr/>
        </p:nvSpPr>
        <p:spPr bwMode="auto">
          <a:xfrm>
            <a:off x="345746" y="1945260"/>
            <a:ext cx="683612" cy="683612"/>
          </a:xfrm>
          <a:prstGeom prst="rect">
            <a:avLst/>
          </a:prstGeom>
          <a:blipFill rotWithShape="1">
            <a:blip r:embed="rId4"/>
            <a:stretch/>
          </a:blipFill>
          <a:ln w="19050" cap="flat" cmpd="sng" algn="ctr">
            <a:solidFill>
              <a:schemeClr val="lt1">
                <a:hueOff val="0"/>
                <a:satOff val="0"/>
                <a:lumOff val="0"/>
                <a:alphaOff val="0"/>
              </a:schemeClr>
            </a:solidFill>
            <a:prstDash val="solid"/>
            <a:miter lim="800000"/>
          </a:ln>
          <a:effectLst/>
        </p:spPr>
        <p:style>
          <a:lnRef idx="2">
            <a:srgbClr val="000000"/>
          </a:lnRef>
          <a:fillRef idx="1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28927024" name="Rectangle 1228927023"/>
          <p:cNvSpPr/>
          <p:nvPr/>
        </p:nvSpPr>
        <p:spPr bwMode="auto">
          <a:xfrm>
            <a:off x="345746" y="2851203"/>
            <a:ext cx="683612" cy="683612"/>
          </a:xfrm>
          <a:prstGeom prst="rect">
            <a:avLst/>
          </a:prstGeom>
          <a:blipFill rotWithShape="1">
            <a:blip r:embed="rId5"/>
            <a:stretch/>
          </a:blipFill>
          <a:ln w="19050" cap="flat" cmpd="sng" algn="ctr">
            <a:solidFill>
              <a:schemeClr val="lt1">
                <a:hueOff val="0"/>
                <a:satOff val="0"/>
                <a:lumOff val="0"/>
                <a:alphaOff val="0"/>
              </a:schemeClr>
            </a:solidFill>
            <a:prstDash val="solid"/>
            <a:miter lim="800000"/>
          </a:ln>
          <a:effectLst/>
        </p:spPr>
        <p:style>
          <a:lnRef idx="2">
            <a:srgbClr val="000000"/>
          </a:lnRef>
          <a:fillRef idx="1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32296538" name="Rectangle 432296537"/>
          <p:cNvSpPr/>
          <p:nvPr/>
        </p:nvSpPr>
        <p:spPr bwMode="auto">
          <a:xfrm>
            <a:off x="345746" y="3757146"/>
            <a:ext cx="683612" cy="683612"/>
          </a:xfrm>
          <a:prstGeom prst="rect">
            <a:avLst/>
          </a:prstGeom>
          <a:blipFill rotWithShape="1">
            <a:blip r:embed="rId6"/>
            <a:stretch/>
          </a:blip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rgbClr val="000000"/>
          </a:lnRef>
          <a:fillRef idx="1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/>
          </a:p>
        </p:txBody>
      </p:sp>
      <p:sp>
        <p:nvSpPr>
          <p:cNvPr id="1428342454" name="TextBox 1428342453"/>
          <p:cNvSpPr txBox="1"/>
          <p:nvPr/>
        </p:nvSpPr>
        <p:spPr bwMode="auto">
          <a:xfrm>
            <a:off x="1029360" y="1198243"/>
            <a:ext cx="7567076" cy="3661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marL="0" lvl="0" indent="0" algn="l" defTabSz="111124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de-DE" sz="1800" b="0" i="0" u="none" strike="noStrike" cap="none" spc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Task Management Web Service</a:t>
            </a:r>
            <a:endParaRPr sz="1800"/>
          </a:p>
        </p:txBody>
      </p:sp>
      <p:sp>
        <p:nvSpPr>
          <p:cNvPr id="1555854711" name="TextBox 1555854710"/>
          <p:cNvSpPr txBox="1"/>
          <p:nvPr/>
        </p:nvSpPr>
        <p:spPr bwMode="auto">
          <a:xfrm>
            <a:off x="1029360" y="2104007"/>
            <a:ext cx="7567076" cy="3661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marL="0" lvl="0" indent="0" algn="l" defTabSz="111124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de-DE" sz="1800" b="0" i="0" u="none" strike="noStrike" cap="none" spc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Simple, scalable, role-based system</a:t>
            </a:r>
            <a:endParaRPr sz="1800"/>
          </a:p>
        </p:txBody>
      </p:sp>
      <p:sp>
        <p:nvSpPr>
          <p:cNvPr id="196038368" name="TextBox 196038367"/>
          <p:cNvSpPr txBox="1"/>
          <p:nvPr/>
        </p:nvSpPr>
        <p:spPr bwMode="auto">
          <a:xfrm>
            <a:off x="1029360" y="3009951"/>
            <a:ext cx="7567076" cy="3661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marL="0" lvl="0" indent="0" algn="l" defTabSz="111124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de-DE" sz="1800" b="0" i="0" u="none" strike="noStrike" cap="none" spc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Designed for teams &amp; project collaboration</a:t>
            </a:r>
            <a:endParaRPr sz="1800"/>
          </a:p>
        </p:txBody>
      </p:sp>
      <p:sp>
        <p:nvSpPr>
          <p:cNvPr id="2125783183" name="TextBox 2125783182"/>
          <p:cNvSpPr txBox="1"/>
          <p:nvPr/>
        </p:nvSpPr>
        <p:spPr bwMode="auto">
          <a:xfrm>
            <a:off x="1028281" y="3915893"/>
            <a:ext cx="7568875" cy="3661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marL="0" indent="0" algn="l">
              <a:buNone/>
              <a:defRPr/>
            </a:pPr>
            <a:r>
              <a:rPr lang="de-D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AI Assistant for task organization</a:t>
            </a:r>
            <a:endParaRPr lang="en-US" sz="100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2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2858799" name="Shape 0"/>
          <p:cNvSpPr/>
          <p:nvPr/>
        </p:nvSpPr>
        <p:spPr bwMode="auto">
          <a:xfrm>
            <a:off x="0" y="0"/>
            <a:ext cx="9144000" cy="6858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5941082" name="Text 1"/>
          <p:cNvSpPr/>
          <p:nvPr/>
        </p:nvSpPr>
        <p:spPr bwMode="auto"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de-DE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User Roles</a:t>
            </a:r>
            <a:endParaRPr lang="en-US" sz="2200"/>
          </a:p>
        </p:txBody>
      </p:sp>
      <p:sp>
        <p:nvSpPr>
          <p:cNvPr id="1597755350" name="Shape 2"/>
          <p:cNvSpPr/>
          <p:nvPr/>
        </p:nvSpPr>
        <p:spPr bwMode="auto">
          <a:xfrm>
            <a:off x="274320" y="822960"/>
            <a:ext cx="2834639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51482133" name="Shape 3"/>
          <p:cNvSpPr/>
          <p:nvPr/>
        </p:nvSpPr>
        <p:spPr bwMode="auto">
          <a:xfrm>
            <a:off x="274320" y="822960"/>
            <a:ext cx="2834639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0226564" name="Shape 4"/>
          <p:cNvSpPr/>
          <p:nvPr/>
        </p:nvSpPr>
        <p:spPr bwMode="auto">
          <a:xfrm>
            <a:off x="1399032" y="1024128"/>
            <a:ext cx="585216" cy="5852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16213355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490472" y="1115568"/>
            <a:ext cx="402336" cy="402336"/>
          </a:xfrm>
          <a:prstGeom prst="rect">
            <a:avLst/>
          </a:prstGeom>
        </p:spPr>
      </p:pic>
      <p:sp>
        <p:nvSpPr>
          <p:cNvPr id="2047590101" name="Text 5"/>
          <p:cNvSpPr/>
          <p:nvPr/>
        </p:nvSpPr>
        <p:spPr bwMode="auto">
          <a:xfrm>
            <a:off x="274320" y="1691640"/>
            <a:ext cx="2834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3B82F6"/>
                </a:solidFill>
                <a:latin typeface="Calibri"/>
                <a:ea typeface="Calibri"/>
                <a:cs typeface="Calibri"/>
              </a:rPr>
              <a:t>Project Member</a:t>
            </a:r>
            <a:endParaRPr lang="en-US" sz="1400"/>
          </a:p>
        </p:txBody>
      </p:sp>
      <p:sp>
        <p:nvSpPr>
          <p:cNvPr id="1103509186" name="Text 6"/>
          <p:cNvSpPr/>
          <p:nvPr/>
        </p:nvSpPr>
        <p:spPr bwMode="auto">
          <a:xfrm>
            <a:off x="411480" y="196636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Default role for all team members. </a:t>
            </a:r>
            <a:r>
              <a:rPr lang="de-DE"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Works in projects on different tasks.</a:t>
            </a:r>
            <a:endParaRPr lang="en-US" sz="1000"/>
          </a:p>
        </p:txBody>
      </p:sp>
      <p:sp>
        <p:nvSpPr>
          <p:cNvPr id="469325892" name="Shape 7"/>
          <p:cNvSpPr/>
          <p:nvPr/>
        </p:nvSpPr>
        <p:spPr bwMode="auto">
          <a:xfrm>
            <a:off x="640080" y="2517069"/>
            <a:ext cx="210312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6375762" name="Shape 10"/>
          <p:cNvSpPr/>
          <p:nvPr/>
        </p:nvSpPr>
        <p:spPr bwMode="auto">
          <a:xfrm>
            <a:off x="457200" y="3057400"/>
            <a:ext cx="91440" cy="914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832696" name="Text 11"/>
          <p:cNvSpPr/>
          <p:nvPr/>
        </p:nvSpPr>
        <p:spPr bwMode="auto">
          <a:xfrm>
            <a:off x="603504" y="2952244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Change </a:t>
            </a:r>
            <a:r>
              <a:rPr lang="de-DE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task </a:t>
            </a:r>
            <a:r>
              <a:rPr lang="en-US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status &amp; priority</a:t>
            </a:r>
            <a:endParaRPr lang="en-US" sz="1000"/>
          </a:p>
        </p:txBody>
      </p:sp>
      <p:sp>
        <p:nvSpPr>
          <p:cNvPr id="1925255951" name="Shape 12"/>
          <p:cNvSpPr/>
          <p:nvPr/>
        </p:nvSpPr>
        <p:spPr bwMode="auto">
          <a:xfrm>
            <a:off x="457200" y="3359152"/>
            <a:ext cx="91440" cy="914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5018589" name="Text 13"/>
          <p:cNvSpPr/>
          <p:nvPr/>
        </p:nvSpPr>
        <p:spPr bwMode="auto">
          <a:xfrm>
            <a:off x="603504" y="3253996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 b="0" i="0" u="none" strike="noStrike" cap="none" spc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Create, edit &amp; delete </a:t>
            </a:r>
            <a:r>
              <a:rPr lang="de-DE" sz="1000" b="0" i="0" u="none" strike="noStrike" cap="none" spc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comments</a:t>
            </a:r>
            <a:endParaRPr sz="1000"/>
          </a:p>
        </p:txBody>
      </p:sp>
      <p:sp>
        <p:nvSpPr>
          <p:cNvPr id="1451280852" name="Shape 14"/>
          <p:cNvSpPr/>
          <p:nvPr/>
        </p:nvSpPr>
        <p:spPr bwMode="auto">
          <a:xfrm>
            <a:off x="457200" y="3660904"/>
            <a:ext cx="91440" cy="914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7278547" name="Text 15"/>
          <p:cNvSpPr/>
          <p:nvPr/>
        </p:nvSpPr>
        <p:spPr bwMode="auto">
          <a:xfrm>
            <a:off x="603504" y="3555748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de-DE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Epic management</a:t>
            </a:r>
            <a:endParaRPr lang="en-US" sz="1000"/>
          </a:p>
        </p:txBody>
      </p:sp>
      <p:sp>
        <p:nvSpPr>
          <p:cNvPr id="1668212936" name="Shape 16"/>
          <p:cNvSpPr/>
          <p:nvPr/>
        </p:nvSpPr>
        <p:spPr bwMode="auto">
          <a:xfrm>
            <a:off x="457200" y="3962656"/>
            <a:ext cx="91440" cy="914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05845518" name="Text 17"/>
          <p:cNvSpPr/>
          <p:nvPr/>
        </p:nvSpPr>
        <p:spPr bwMode="auto">
          <a:xfrm>
            <a:off x="603504" y="3857500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Open dashboard</a:t>
            </a:r>
            <a:endParaRPr lang="en-US" sz="1000"/>
          </a:p>
        </p:txBody>
      </p:sp>
      <p:sp>
        <p:nvSpPr>
          <p:cNvPr id="275320966" name="Shape 18"/>
          <p:cNvSpPr/>
          <p:nvPr/>
        </p:nvSpPr>
        <p:spPr bwMode="auto">
          <a:xfrm>
            <a:off x="457200" y="4264408"/>
            <a:ext cx="91440" cy="914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29958858" name="Text 19"/>
          <p:cNvSpPr/>
          <p:nvPr/>
        </p:nvSpPr>
        <p:spPr bwMode="auto">
          <a:xfrm>
            <a:off x="603504" y="4159252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Login &amp; sign up</a:t>
            </a:r>
            <a:endParaRPr lang="en-US" sz="1000"/>
          </a:p>
        </p:txBody>
      </p:sp>
      <p:sp>
        <p:nvSpPr>
          <p:cNvPr id="1198403496" name="Shape 20"/>
          <p:cNvSpPr/>
          <p:nvPr/>
        </p:nvSpPr>
        <p:spPr bwMode="auto">
          <a:xfrm>
            <a:off x="3246120" y="822960"/>
            <a:ext cx="2834639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9435001" name="Shape 21"/>
          <p:cNvSpPr/>
          <p:nvPr/>
        </p:nvSpPr>
        <p:spPr bwMode="auto">
          <a:xfrm>
            <a:off x="3246120" y="822960"/>
            <a:ext cx="2834639" cy="5029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8900819" name="Shape 22"/>
          <p:cNvSpPr/>
          <p:nvPr/>
        </p:nvSpPr>
        <p:spPr bwMode="auto">
          <a:xfrm>
            <a:off x="4370832" y="1024128"/>
            <a:ext cx="585216" cy="5852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24602385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4462272" y="1115568"/>
            <a:ext cx="402336" cy="402336"/>
          </a:xfrm>
          <a:prstGeom prst="rect">
            <a:avLst/>
          </a:prstGeom>
        </p:spPr>
      </p:pic>
      <p:sp>
        <p:nvSpPr>
          <p:cNvPr id="810599601" name="Text 23"/>
          <p:cNvSpPr/>
          <p:nvPr/>
        </p:nvSpPr>
        <p:spPr bwMode="auto">
          <a:xfrm>
            <a:off x="3246120" y="1691640"/>
            <a:ext cx="2834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97316"/>
                </a:solidFill>
                <a:latin typeface="Calibri"/>
                <a:ea typeface="Calibri"/>
                <a:cs typeface="Calibri"/>
              </a:rPr>
              <a:t>Project Manager</a:t>
            </a:r>
            <a:endParaRPr lang="en-US" sz="1400"/>
          </a:p>
        </p:txBody>
      </p:sp>
      <p:sp>
        <p:nvSpPr>
          <p:cNvPr id="980817398" name="Text 24"/>
          <p:cNvSpPr/>
          <p:nvPr/>
        </p:nvSpPr>
        <p:spPr bwMode="auto">
          <a:xfrm>
            <a:off x="3383280" y="196636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Extended permissions. Manages projects and assigns members.</a:t>
            </a:r>
            <a:endParaRPr lang="en-US" sz="1000"/>
          </a:p>
        </p:txBody>
      </p:sp>
      <p:sp>
        <p:nvSpPr>
          <p:cNvPr id="2075255531" name="Shape 25"/>
          <p:cNvSpPr/>
          <p:nvPr/>
        </p:nvSpPr>
        <p:spPr bwMode="auto">
          <a:xfrm>
            <a:off x="3611880" y="2517069"/>
            <a:ext cx="210312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61601603" name="Shape 26"/>
          <p:cNvSpPr/>
          <p:nvPr/>
        </p:nvSpPr>
        <p:spPr bwMode="auto">
          <a:xfrm>
            <a:off x="3429000" y="2755648"/>
            <a:ext cx="91440" cy="9144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6249643" name="Text 27"/>
          <p:cNvSpPr/>
          <p:nvPr/>
        </p:nvSpPr>
        <p:spPr bwMode="auto">
          <a:xfrm>
            <a:off x="3575302" y="2650492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 b="0" i="0" u="none" strike="noStrike" cap="none" spc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Create &amp; delete projects</a:t>
            </a:r>
            <a:endParaRPr sz="1000"/>
          </a:p>
        </p:txBody>
      </p:sp>
      <p:sp>
        <p:nvSpPr>
          <p:cNvPr id="1703301339" name="Shape 28"/>
          <p:cNvSpPr/>
          <p:nvPr/>
        </p:nvSpPr>
        <p:spPr bwMode="auto">
          <a:xfrm>
            <a:off x="3429000" y="3057400"/>
            <a:ext cx="91440" cy="9144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4988075" name="Text 29"/>
          <p:cNvSpPr/>
          <p:nvPr/>
        </p:nvSpPr>
        <p:spPr bwMode="auto">
          <a:xfrm>
            <a:off x="3575302" y="2952244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de-DE" sz="1000" b="0" i="0" u="none" strike="noStrike" cap="none" spc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Remove &amp; assign project management</a:t>
            </a:r>
            <a:endParaRPr sz="1000"/>
          </a:p>
        </p:txBody>
      </p:sp>
      <p:sp>
        <p:nvSpPr>
          <p:cNvPr id="1745510608" name="Shape 36"/>
          <p:cNvSpPr/>
          <p:nvPr/>
        </p:nvSpPr>
        <p:spPr bwMode="auto">
          <a:xfrm>
            <a:off x="6217920" y="822960"/>
            <a:ext cx="2834639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32956667" name="Shape 37"/>
          <p:cNvSpPr/>
          <p:nvPr/>
        </p:nvSpPr>
        <p:spPr bwMode="auto">
          <a:xfrm>
            <a:off x="6217920" y="822960"/>
            <a:ext cx="2834639" cy="502920"/>
          </a:xfrm>
          <a:prstGeom prst="rect">
            <a:avLst/>
          </a:prstGeom>
          <a:solidFill>
            <a:srgbClr val="9333EA"/>
          </a:solidFill>
          <a:ln w="12700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80422390" name="Shape 38"/>
          <p:cNvSpPr/>
          <p:nvPr/>
        </p:nvSpPr>
        <p:spPr bwMode="auto">
          <a:xfrm>
            <a:off x="7342632" y="1024128"/>
            <a:ext cx="585216" cy="5852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11435805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7434072" y="1115568"/>
            <a:ext cx="402336" cy="402336"/>
          </a:xfrm>
          <a:prstGeom prst="rect">
            <a:avLst/>
          </a:prstGeom>
        </p:spPr>
      </p:pic>
      <p:sp>
        <p:nvSpPr>
          <p:cNvPr id="229508100" name="Text 39"/>
          <p:cNvSpPr/>
          <p:nvPr/>
        </p:nvSpPr>
        <p:spPr bwMode="auto">
          <a:xfrm>
            <a:off x="6217920" y="1691640"/>
            <a:ext cx="2834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9333EA"/>
                </a:solidFill>
                <a:latin typeface="Calibri"/>
                <a:ea typeface="Calibri"/>
                <a:cs typeface="Calibri"/>
              </a:rPr>
              <a:t>Admin</a:t>
            </a:r>
            <a:endParaRPr lang="en-US" sz="1400"/>
          </a:p>
        </p:txBody>
      </p:sp>
      <p:sp>
        <p:nvSpPr>
          <p:cNvPr id="2086234781" name="Text 40"/>
          <p:cNvSpPr/>
          <p:nvPr/>
        </p:nvSpPr>
        <p:spPr bwMode="auto">
          <a:xfrm>
            <a:off x="6355080" y="196636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Highest permission level. Full access including role management.</a:t>
            </a:r>
            <a:endParaRPr lang="en-US" sz="1000"/>
          </a:p>
        </p:txBody>
      </p:sp>
      <p:sp>
        <p:nvSpPr>
          <p:cNvPr id="1624408864" name="Shape 41"/>
          <p:cNvSpPr/>
          <p:nvPr/>
        </p:nvSpPr>
        <p:spPr bwMode="auto">
          <a:xfrm>
            <a:off x="6583680" y="2517069"/>
            <a:ext cx="210312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75720886" name="Shape 42"/>
          <p:cNvSpPr/>
          <p:nvPr/>
        </p:nvSpPr>
        <p:spPr bwMode="auto">
          <a:xfrm>
            <a:off x="6400800" y="2755648"/>
            <a:ext cx="91440" cy="91440"/>
          </a:xfrm>
          <a:prstGeom prst="ellipse">
            <a:avLst/>
          </a:prstGeom>
          <a:solidFill>
            <a:srgbClr val="9333EA"/>
          </a:solidFill>
          <a:ln w="12700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4160814" name="Text 43"/>
          <p:cNvSpPr/>
          <p:nvPr/>
        </p:nvSpPr>
        <p:spPr bwMode="auto">
          <a:xfrm>
            <a:off x="6547104" y="2650492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de-DE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Role management</a:t>
            </a:r>
            <a:endParaRPr lang="en-US" sz="1000"/>
          </a:p>
        </p:txBody>
      </p:sp>
      <p:grpSp>
        <p:nvGrpSpPr>
          <p:cNvPr id="1876734150" name="Group 1876734149"/>
          <p:cNvGrpSpPr/>
          <p:nvPr/>
        </p:nvGrpSpPr>
        <p:grpSpPr bwMode="auto">
          <a:xfrm>
            <a:off x="457198" y="2650492"/>
            <a:ext cx="2523744" cy="301752"/>
            <a:chOff x="0" y="0"/>
            <a:chExt cx="2523744" cy="301752"/>
          </a:xfrm>
        </p:grpSpPr>
        <p:sp>
          <p:nvSpPr>
            <p:cNvPr id="1582493543" name="Shape 8"/>
            <p:cNvSpPr/>
            <p:nvPr/>
          </p:nvSpPr>
          <p:spPr bwMode="auto">
            <a:xfrm>
              <a:off x="0" y="105154"/>
              <a:ext cx="91440" cy="91440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3496982" name="Text 9"/>
            <p:cNvSpPr/>
            <p:nvPr/>
          </p:nvSpPr>
          <p:spPr bwMode="auto">
            <a:xfrm>
              <a:off x="146304" y="0"/>
              <a:ext cx="2377440" cy="3017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0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Task management</a:t>
              </a:r>
              <a:endParaRPr lang="en-US" sz="1000"/>
            </a:p>
          </p:txBody>
        </p:sp>
      </p:grpSp>
      <p:sp>
        <p:nvSpPr>
          <p:cNvPr id="1595146504" name="Shape 18"/>
          <p:cNvSpPr/>
          <p:nvPr/>
        </p:nvSpPr>
        <p:spPr bwMode="auto">
          <a:xfrm>
            <a:off x="457200" y="4566160"/>
            <a:ext cx="91440" cy="914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188084" name="Text 19"/>
          <p:cNvSpPr/>
          <p:nvPr/>
        </p:nvSpPr>
        <p:spPr bwMode="auto">
          <a:xfrm>
            <a:off x="603504" y="4461004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de-DE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Task assignment</a:t>
            </a:r>
            <a:endParaRPr lang="en-US" sz="1000"/>
          </a:p>
        </p:txBody>
      </p:sp>
      <p:sp>
        <p:nvSpPr>
          <p:cNvPr id="924717081" name="Text 29"/>
          <p:cNvSpPr/>
          <p:nvPr/>
        </p:nvSpPr>
        <p:spPr bwMode="auto">
          <a:xfrm>
            <a:off x="6547104" y="2952244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de-DE" sz="1000" b="0" i="0" u="none" strike="noStrike" cap="none" spc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User management</a:t>
            </a:r>
            <a:endParaRPr sz="1000"/>
          </a:p>
        </p:txBody>
      </p:sp>
      <p:sp>
        <p:nvSpPr>
          <p:cNvPr id="102171071" name="Shape 28"/>
          <p:cNvSpPr/>
          <p:nvPr/>
        </p:nvSpPr>
        <p:spPr bwMode="auto">
          <a:xfrm>
            <a:off x="6400800" y="3057400"/>
            <a:ext cx="91440" cy="91440"/>
          </a:xfrm>
          <a:prstGeom prst="ellipse">
            <a:avLst/>
          </a:prstGeom>
          <a:solidFill>
            <a:srgbClr val="9333EA"/>
          </a:solidFill>
          <a:ln w="12700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3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854383" name="Shape 0"/>
          <p:cNvSpPr/>
          <p:nvPr/>
        </p:nvSpPr>
        <p:spPr bwMode="auto">
          <a:xfrm>
            <a:off x="0" y="0"/>
            <a:ext cx="9144000" cy="6858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25387654" name="Text 1"/>
          <p:cNvSpPr/>
          <p:nvPr/>
        </p:nvSpPr>
        <p:spPr bwMode="auto"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Use Case – Project Member</a:t>
            </a:r>
            <a:endParaRPr lang="en-US" sz="2200"/>
          </a:p>
        </p:txBody>
      </p:sp>
      <p:sp>
        <p:nvSpPr>
          <p:cNvPr id="1063995969" name="Shape 4"/>
          <p:cNvSpPr/>
          <p:nvPr/>
        </p:nvSpPr>
        <p:spPr bwMode="auto">
          <a:xfrm>
            <a:off x="201167" y="1112223"/>
            <a:ext cx="2194560" cy="338767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02341640" name="Shape 5"/>
          <p:cNvSpPr/>
          <p:nvPr/>
        </p:nvSpPr>
        <p:spPr bwMode="auto">
          <a:xfrm>
            <a:off x="201167" y="1112223"/>
            <a:ext cx="2194560" cy="34747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25364187" name="Text 6"/>
          <p:cNvSpPr/>
          <p:nvPr/>
        </p:nvSpPr>
        <p:spPr bwMode="auto">
          <a:xfrm>
            <a:off x="320766" y="1112223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de-DE"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Task Management</a:t>
            </a:r>
            <a:endParaRPr lang="en-US" sz="1100"/>
          </a:p>
        </p:txBody>
      </p:sp>
      <p:grpSp>
        <p:nvGrpSpPr>
          <p:cNvPr id="1901520704" name="Group 1901520703"/>
          <p:cNvGrpSpPr/>
          <p:nvPr/>
        </p:nvGrpSpPr>
        <p:grpSpPr bwMode="auto">
          <a:xfrm>
            <a:off x="4198316" y="3953377"/>
            <a:ext cx="1051560" cy="896112"/>
            <a:chOff x="0" y="0"/>
            <a:chExt cx="1051560" cy="896112"/>
          </a:xfrm>
        </p:grpSpPr>
        <p:sp>
          <p:nvSpPr>
            <p:cNvPr id="333009385" name="Shape 2"/>
            <p:cNvSpPr/>
            <p:nvPr/>
          </p:nvSpPr>
          <p:spPr bwMode="auto">
            <a:xfrm>
              <a:off x="228600" y="0"/>
              <a:ext cx="594360" cy="594360"/>
            </a:xfrm>
            <a:prstGeom prst="ellipse">
              <a:avLst/>
            </a:prstGeom>
            <a:solidFill>
              <a:srgbClr val="EFF6FF"/>
            </a:solidFill>
            <a:ln w="254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1278296530" name="Image 0" descr="preencoded.png"/>
            <p:cNvPicPr>
              <a:picLocks noChangeAspect="1"/>
            </p:cNvPicPr>
            <p:nvPr/>
          </p:nvPicPr>
          <p:blipFill rotWithShape="1">
            <a:blip r:embed="rId3"/>
            <a:stretch/>
          </p:blipFill>
          <p:spPr bwMode="auto">
            <a:xfrm>
              <a:off x="320039" y="91439"/>
              <a:ext cx="411480" cy="411480"/>
            </a:xfrm>
            <a:prstGeom prst="rect">
              <a:avLst/>
            </a:prstGeom>
          </p:spPr>
        </p:pic>
        <p:sp>
          <p:nvSpPr>
            <p:cNvPr id="1950202597" name="Text 3"/>
            <p:cNvSpPr/>
            <p:nvPr/>
          </p:nvSpPr>
          <p:spPr bwMode="auto">
            <a:xfrm>
              <a:off x="0" y="621792"/>
              <a:ext cx="10515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900" b="1">
                  <a:solidFill>
                    <a:srgbClr val="3B82F6"/>
                  </a:solidFill>
                  <a:latin typeface="Calibri"/>
                  <a:ea typeface="Calibri"/>
                  <a:cs typeface="Calibri"/>
                </a:rPr>
                <a:t>Project Member</a:t>
              </a:r>
              <a:endParaRPr lang="en-US" sz="900"/>
            </a:p>
          </p:txBody>
        </p:sp>
      </p:grpSp>
      <p:grpSp>
        <p:nvGrpSpPr>
          <p:cNvPr id="550493900" name="Group 550493899"/>
          <p:cNvGrpSpPr/>
          <p:nvPr/>
        </p:nvGrpSpPr>
        <p:grpSpPr bwMode="auto">
          <a:xfrm>
            <a:off x="6712089" y="3855900"/>
            <a:ext cx="2194560" cy="1033272"/>
            <a:chOff x="0" y="0"/>
            <a:chExt cx="2194560" cy="1033272"/>
          </a:xfrm>
        </p:grpSpPr>
        <p:sp>
          <p:nvSpPr>
            <p:cNvPr id="1325356072" name="Shape 14"/>
            <p:cNvSpPr/>
            <p:nvPr/>
          </p:nvSpPr>
          <p:spPr bwMode="auto">
            <a:xfrm>
              <a:off x="0" y="0"/>
              <a:ext cx="2194560" cy="1033272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9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68574776" name="Shape 15"/>
            <p:cNvSpPr/>
            <p:nvPr/>
          </p:nvSpPr>
          <p:spPr bwMode="auto">
            <a:xfrm>
              <a:off x="0" y="0"/>
              <a:ext cx="2194560" cy="347471"/>
            </a:xfrm>
            <a:prstGeom prst="rect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4796387" name="Text 16"/>
            <p:cNvSpPr/>
            <p:nvPr/>
          </p:nvSpPr>
          <p:spPr bwMode="auto">
            <a:xfrm>
              <a:off x="118469" y="0"/>
              <a:ext cx="1783080" cy="3474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Authentication</a:t>
              </a:r>
              <a:endParaRPr lang="en-US" sz="1100"/>
            </a:p>
          </p:txBody>
        </p:sp>
        <p:sp>
          <p:nvSpPr>
            <p:cNvPr id="598242526" name="Shape 17"/>
            <p:cNvSpPr/>
            <p:nvPr/>
          </p:nvSpPr>
          <p:spPr bwMode="auto">
            <a:xfrm>
              <a:off x="165857" y="498346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5696213" name="Text 18"/>
            <p:cNvSpPr/>
            <p:nvPr/>
          </p:nvSpPr>
          <p:spPr bwMode="auto">
            <a:xfrm>
              <a:off x="301752" y="40233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Login</a:t>
              </a:r>
              <a:endParaRPr lang="en-US" sz="1100"/>
            </a:p>
          </p:txBody>
        </p:sp>
        <p:sp>
          <p:nvSpPr>
            <p:cNvPr id="2095771585" name="Shape 19"/>
            <p:cNvSpPr/>
            <p:nvPr/>
          </p:nvSpPr>
          <p:spPr bwMode="auto">
            <a:xfrm>
              <a:off x="165857" y="772668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7641910" name="Text 20"/>
            <p:cNvSpPr/>
            <p:nvPr/>
          </p:nvSpPr>
          <p:spPr bwMode="auto">
            <a:xfrm>
              <a:off x="301752" y="676656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Sign Up</a:t>
              </a:r>
              <a:endParaRPr lang="en-US" sz="1100"/>
            </a:p>
          </p:txBody>
        </p:sp>
      </p:grpSp>
      <p:grpSp>
        <p:nvGrpSpPr>
          <p:cNvPr id="72862429" name="Group 72862428"/>
          <p:cNvGrpSpPr/>
          <p:nvPr/>
        </p:nvGrpSpPr>
        <p:grpSpPr bwMode="auto">
          <a:xfrm>
            <a:off x="6711695" y="2715718"/>
            <a:ext cx="2194560" cy="845818"/>
            <a:chOff x="0" y="0"/>
            <a:chExt cx="2194560" cy="845818"/>
          </a:xfrm>
        </p:grpSpPr>
        <p:sp>
          <p:nvSpPr>
            <p:cNvPr id="119642444" name="Shape 14"/>
            <p:cNvSpPr/>
            <p:nvPr/>
          </p:nvSpPr>
          <p:spPr bwMode="auto">
            <a:xfrm>
              <a:off x="0" y="0"/>
              <a:ext cx="2194560" cy="84581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9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626173900" name="Shape 15"/>
            <p:cNvSpPr/>
            <p:nvPr/>
          </p:nvSpPr>
          <p:spPr bwMode="auto">
            <a:xfrm>
              <a:off x="0" y="0"/>
              <a:ext cx="2194560" cy="347471"/>
            </a:xfrm>
            <a:prstGeom prst="rect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8732234" name="Text 16"/>
            <p:cNvSpPr/>
            <p:nvPr/>
          </p:nvSpPr>
          <p:spPr bwMode="auto">
            <a:xfrm>
              <a:off x="118469" y="0"/>
              <a:ext cx="1783080" cy="3474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Dashboard</a:t>
              </a:r>
              <a:endParaRPr lang="en-US" sz="1100"/>
            </a:p>
          </p:txBody>
        </p:sp>
        <p:sp>
          <p:nvSpPr>
            <p:cNvPr id="564849534" name="Shape 17"/>
            <p:cNvSpPr/>
            <p:nvPr/>
          </p:nvSpPr>
          <p:spPr bwMode="auto">
            <a:xfrm>
              <a:off x="165857" y="498346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1079656" name="Text 18"/>
            <p:cNvSpPr/>
            <p:nvPr/>
          </p:nvSpPr>
          <p:spPr bwMode="auto">
            <a:xfrm>
              <a:off x="301752" y="40233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Open dashboard</a:t>
              </a:r>
              <a:endParaRPr lang="en-US" sz="1100"/>
            </a:p>
          </p:txBody>
        </p:sp>
      </p:grpSp>
      <p:grpSp>
        <p:nvGrpSpPr>
          <p:cNvPr id="456160677" name="Group 456160676"/>
          <p:cNvGrpSpPr/>
          <p:nvPr/>
        </p:nvGrpSpPr>
        <p:grpSpPr bwMode="auto">
          <a:xfrm>
            <a:off x="6713940" y="1031467"/>
            <a:ext cx="2194560" cy="1389887"/>
            <a:chOff x="0" y="0"/>
            <a:chExt cx="2194560" cy="1389887"/>
          </a:xfrm>
        </p:grpSpPr>
        <p:sp>
          <p:nvSpPr>
            <p:cNvPr id="1291783675" name="Shape 18"/>
            <p:cNvSpPr/>
            <p:nvPr/>
          </p:nvSpPr>
          <p:spPr bwMode="auto">
            <a:xfrm>
              <a:off x="0" y="0"/>
              <a:ext cx="2194560" cy="138988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9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280942065" name="Shape 19"/>
            <p:cNvSpPr/>
            <p:nvPr/>
          </p:nvSpPr>
          <p:spPr bwMode="auto">
            <a:xfrm>
              <a:off x="0" y="0"/>
              <a:ext cx="2194560" cy="347472"/>
            </a:xfrm>
            <a:prstGeom prst="rect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8197628" name="Text 20"/>
            <p:cNvSpPr/>
            <p:nvPr/>
          </p:nvSpPr>
          <p:spPr bwMode="auto">
            <a:xfrm>
              <a:off x="118469" y="0"/>
              <a:ext cx="178308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Comments</a:t>
              </a:r>
              <a:endParaRPr lang="en-US" sz="1100"/>
            </a:p>
          </p:txBody>
        </p:sp>
        <p:sp>
          <p:nvSpPr>
            <p:cNvPr id="850082460" name="Shape 21"/>
            <p:cNvSpPr/>
            <p:nvPr/>
          </p:nvSpPr>
          <p:spPr bwMode="auto">
            <a:xfrm>
              <a:off x="164592" y="498348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6508617" name="Text 22"/>
            <p:cNvSpPr/>
            <p:nvPr/>
          </p:nvSpPr>
          <p:spPr bwMode="auto">
            <a:xfrm>
              <a:off x="301752" y="402335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Create</a:t>
              </a:r>
              <a:endParaRPr lang="en-US" sz="1100"/>
            </a:p>
          </p:txBody>
        </p:sp>
        <p:sp>
          <p:nvSpPr>
            <p:cNvPr id="1403370260" name="Shape 23"/>
            <p:cNvSpPr/>
            <p:nvPr/>
          </p:nvSpPr>
          <p:spPr bwMode="auto">
            <a:xfrm>
              <a:off x="164592" y="772668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6570075" name="Text 24"/>
            <p:cNvSpPr/>
            <p:nvPr/>
          </p:nvSpPr>
          <p:spPr bwMode="auto">
            <a:xfrm>
              <a:off x="301752" y="676655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Edit</a:t>
              </a:r>
              <a:endParaRPr lang="en-US" sz="1100"/>
            </a:p>
          </p:txBody>
        </p:sp>
        <p:sp>
          <p:nvSpPr>
            <p:cNvPr id="1093327027" name="Shape 25"/>
            <p:cNvSpPr/>
            <p:nvPr/>
          </p:nvSpPr>
          <p:spPr bwMode="auto">
            <a:xfrm>
              <a:off x="164592" y="1046988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1639373" name="Text 26"/>
            <p:cNvSpPr/>
            <p:nvPr/>
          </p:nvSpPr>
          <p:spPr bwMode="auto">
            <a:xfrm>
              <a:off x="301752" y="950976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Delete</a:t>
              </a:r>
              <a:endParaRPr lang="en-US" sz="1100"/>
            </a:p>
          </p:txBody>
        </p:sp>
      </p:grpSp>
      <p:grpSp>
        <p:nvGrpSpPr>
          <p:cNvPr id="1166411386" name="Group 1166411385"/>
          <p:cNvGrpSpPr/>
          <p:nvPr/>
        </p:nvGrpSpPr>
        <p:grpSpPr bwMode="auto">
          <a:xfrm>
            <a:off x="3474720" y="1032224"/>
            <a:ext cx="2194560" cy="1389887"/>
            <a:chOff x="0" y="0"/>
            <a:chExt cx="2194560" cy="1389887"/>
          </a:xfrm>
        </p:grpSpPr>
        <p:sp>
          <p:nvSpPr>
            <p:cNvPr id="387107994" name="Shape 18"/>
            <p:cNvSpPr/>
            <p:nvPr/>
          </p:nvSpPr>
          <p:spPr bwMode="auto">
            <a:xfrm>
              <a:off x="0" y="0"/>
              <a:ext cx="2194560" cy="1389887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9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30993653" name="Shape 19"/>
            <p:cNvSpPr/>
            <p:nvPr/>
          </p:nvSpPr>
          <p:spPr bwMode="auto">
            <a:xfrm>
              <a:off x="0" y="0"/>
              <a:ext cx="2194560" cy="347471"/>
            </a:xfrm>
            <a:prstGeom prst="rect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3092046" name="Text 20"/>
            <p:cNvSpPr/>
            <p:nvPr/>
          </p:nvSpPr>
          <p:spPr bwMode="auto">
            <a:xfrm>
              <a:off x="118469" y="0"/>
              <a:ext cx="1783080" cy="3474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Epics</a:t>
              </a:r>
              <a:endParaRPr lang="en-US" sz="1100"/>
            </a:p>
          </p:txBody>
        </p:sp>
        <p:sp>
          <p:nvSpPr>
            <p:cNvPr id="1714006904" name="Shape 21"/>
            <p:cNvSpPr/>
            <p:nvPr/>
          </p:nvSpPr>
          <p:spPr bwMode="auto">
            <a:xfrm>
              <a:off x="164592" y="498348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5987731" name="Text 22"/>
            <p:cNvSpPr/>
            <p:nvPr/>
          </p:nvSpPr>
          <p:spPr bwMode="auto">
            <a:xfrm>
              <a:off x="301752" y="40233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Create</a:t>
              </a:r>
              <a:endParaRPr lang="en-US" sz="1100"/>
            </a:p>
          </p:txBody>
        </p:sp>
        <p:sp>
          <p:nvSpPr>
            <p:cNvPr id="1454558902" name="Shape 23"/>
            <p:cNvSpPr/>
            <p:nvPr/>
          </p:nvSpPr>
          <p:spPr bwMode="auto">
            <a:xfrm>
              <a:off x="164592" y="772668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6237871" name="Text 24"/>
            <p:cNvSpPr/>
            <p:nvPr/>
          </p:nvSpPr>
          <p:spPr bwMode="auto">
            <a:xfrm>
              <a:off x="301752" y="67665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Edit</a:t>
              </a:r>
              <a:endParaRPr lang="en-US" sz="1100"/>
            </a:p>
          </p:txBody>
        </p:sp>
        <p:sp>
          <p:nvSpPr>
            <p:cNvPr id="1347959490" name="Shape 25"/>
            <p:cNvSpPr/>
            <p:nvPr/>
          </p:nvSpPr>
          <p:spPr bwMode="auto">
            <a:xfrm>
              <a:off x="164592" y="1046988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994561" name="Text 26"/>
            <p:cNvSpPr/>
            <p:nvPr/>
          </p:nvSpPr>
          <p:spPr bwMode="auto">
            <a:xfrm>
              <a:off x="301752" y="950976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Delete</a:t>
              </a:r>
              <a:endParaRPr lang="en-US" sz="1100"/>
            </a:p>
          </p:txBody>
        </p:sp>
      </p:grpSp>
      <p:sp>
        <p:nvSpPr>
          <p:cNvPr id="162057119" name="Text 16"/>
          <p:cNvSpPr/>
          <p:nvPr/>
        </p:nvSpPr>
        <p:spPr bwMode="auto">
          <a:xfrm>
            <a:off x="502920" y="3792007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endParaRPr lang="en-US" sz="1100"/>
          </a:p>
        </p:txBody>
      </p:sp>
      <p:grpSp>
        <p:nvGrpSpPr>
          <p:cNvPr id="1663097440" name="Group 1663097439"/>
          <p:cNvGrpSpPr/>
          <p:nvPr/>
        </p:nvGrpSpPr>
        <p:grpSpPr bwMode="auto">
          <a:xfrm>
            <a:off x="365759" y="1514559"/>
            <a:ext cx="1965960" cy="274319"/>
            <a:chOff x="0" y="0"/>
            <a:chExt cx="1965960" cy="274319"/>
          </a:xfrm>
        </p:grpSpPr>
        <p:sp>
          <p:nvSpPr>
            <p:cNvPr id="1930660542" name="Shape 7"/>
            <p:cNvSpPr/>
            <p:nvPr/>
          </p:nvSpPr>
          <p:spPr bwMode="auto">
            <a:xfrm>
              <a:off x="0" y="96012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7081096" name="Text 8"/>
            <p:cNvSpPr/>
            <p:nvPr/>
          </p:nvSpPr>
          <p:spPr bwMode="auto">
            <a:xfrm>
              <a:off x="137160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Create</a:t>
              </a:r>
              <a:endParaRPr lang="en-US" sz="1100"/>
            </a:p>
          </p:txBody>
        </p:sp>
      </p:grpSp>
      <p:grpSp>
        <p:nvGrpSpPr>
          <p:cNvPr id="630773313" name="Group 630773312"/>
          <p:cNvGrpSpPr/>
          <p:nvPr/>
        </p:nvGrpSpPr>
        <p:grpSpPr bwMode="auto">
          <a:xfrm>
            <a:off x="366453" y="1802648"/>
            <a:ext cx="1965960" cy="274319"/>
            <a:chOff x="0" y="0"/>
            <a:chExt cx="1965960" cy="274319"/>
          </a:xfrm>
        </p:grpSpPr>
        <p:sp>
          <p:nvSpPr>
            <p:cNvPr id="549664658" name="Shape 9"/>
            <p:cNvSpPr/>
            <p:nvPr/>
          </p:nvSpPr>
          <p:spPr bwMode="auto">
            <a:xfrm>
              <a:off x="0" y="96012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00017141" name="Text 10"/>
            <p:cNvSpPr/>
            <p:nvPr/>
          </p:nvSpPr>
          <p:spPr bwMode="auto">
            <a:xfrm>
              <a:off x="137160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Edit</a:t>
              </a:r>
              <a:endParaRPr lang="en-US" sz="1100"/>
            </a:p>
          </p:txBody>
        </p:sp>
      </p:grpSp>
      <p:grpSp>
        <p:nvGrpSpPr>
          <p:cNvPr id="2125615672" name="Group 2125615671"/>
          <p:cNvGrpSpPr/>
          <p:nvPr/>
        </p:nvGrpSpPr>
        <p:grpSpPr bwMode="auto">
          <a:xfrm>
            <a:off x="367146" y="2090736"/>
            <a:ext cx="1965960" cy="274320"/>
            <a:chOff x="0" y="0"/>
            <a:chExt cx="1965960" cy="274320"/>
          </a:xfrm>
        </p:grpSpPr>
        <p:sp>
          <p:nvSpPr>
            <p:cNvPr id="1510410736" name="Shape 11"/>
            <p:cNvSpPr/>
            <p:nvPr/>
          </p:nvSpPr>
          <p:spPr bwMode="auto">
            <a:xfrm>
              <a:off x="0" y="96012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1490425" name="Text 12"/>
            <p:cNvSpPr/>
            <p:nvPr/>
          </p:nvSpPr>
          <p:spPr bwMode="auto">
            <a:xfrm>
              <a:off x="137160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Delete</a:t>
              </a:r>
              <a:endParaRPr lang="en-US" sz="1100"/>
            </a:p>
          </p:txBody>
        </p:sp>
      </p:grpSp>
      <p:grpSp>
        <p:nvGrpSpPr>
          <p:cNvPr id="21980623" name="Group 21980622"/>
          <p:cNvGrpSpPr/>
          <p:nvPr/>
        </p:nvGrpSpPr>
        <p:grpSpPr bwMode="auto">
          <a:xfrm>
            <a:off x="367839" y="2378826"/>
            <a:ext cx="1965960" cy="274320"/>
            <a:chOff x="0" y="0"/>
            <a:chExt cx="1965960" cy="274320"/>
          </a:xfrm>
        </p:grpSpPr>
        <p:sp>
          <p:nvSpPr>
            <p:cNvPr id="530412973" name="Shape 13"/>
            <p:cNvSpPr/>
            <p:nvPr/>
          </p:nvSpPr>
          <p:spPr bwMode="auto">
            <a:xfrm>
              <a:off x="0" y="96012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2197281" name="Text 14"/>
            <p:cNvSpPr/>
            <p:nvPr/>
          </p:nvSpPr>
          <p:spPr bwMode="auto">
            <a:xfrm>
              <a:off x="137160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Change status</a:t>
              </a:r>
              <a:endParaRPr lang="en-US" sz="1100"/>
            </a:p>
          </p:txBody>
        </p:sp>
      </p:grpSp>
      <p:grpSp>
        <p:nvGrpSpPr>
          <p:cNvPr id="1611543351" name="Group 1611543350"/>
          <p:cNvGrpSpPr/>
          <p:nvPr/>
        </p:nvGrpSpPr>
        <p:grpSpPr bwMode="auto">
          <a:xfrm>
            <a:off x="368533" y="2666915"/>
            <a:ext cx="1965960" cy="274320"/>
            <a:chOff x="0" y="0"/>
            <a:chExt cx="1965960" cy="274320"/>
          </a:xfrm>
        </p:grpSpPr>
        <p:sp>
          <p:nvSpPr>
            <p:cNvPr id="468185029" name="Shape 15"/>
            <p:cNvSpPr/>
            <p:nvPr/>
          </p:nvSpPr>
          <p:spPr bwMode="auto">
            <a:xfrm>
              <a:off x="0" y="96012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4951449" name="Text 16"/>
            <p:cNvSpPr/>
            <p:nvPr/>
          </p:nvSpPr>
          <p:spPr bwMode="auto">
            <a:xfrm>
              <a:off x="137160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Change priority</a:t>
              </a:r>
              <a:endParaRPr lang="en-US" sz="1100"/>
            </a:p>
          </p:txBody>
        </p:sp>
      </p:grpSp>
      <p:grpSp>
        <p:nvGrpSpPr>
          <p:cNvPr id="818181742" name="Group 818181741"/>
          <p:cNvGrpSpPr/>
          <p:nvPr/>
        </p:nvGrpSpPr>
        <p:grpSpPr bwMode="auto">
          <a:xfrm>
            <a:off x="369226" y="2955004"/>
            <a:ext cx="1965960" cy="274320"/>
            <a:chOff x="0" y="0"/>
            <a:chExt cx="1965960" cy="274320"/>
          </a:xfrm>
        </p:grpSpPr>
        <p:sp>
          <p:nvSpPr>
            <p:cNvPr id="1273286600" name="Shape 15"/>
            <p:cNvSpPr/>
            <p:nvPr/>
          </p:nvSpPr>
          <p:spPr bwMode="auto">
            <a:xfrm>
              <a:off x="0" y="96012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5505804" name="Text 16"/>
            <p:cNvSpPr/>
            <p:nvPr/>
          </p:nvSpPr>
          <p:spPr bwMode="auto">
            <a:xfrm>
              <a:off x="137160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Assign project member</a:t>
              </a:r>
              <a:endParaRPr lang="en-US" sz="1100"/>
            </a:p>
          </p:txBody>
        </p:sp>
      </p:grpSp>
      <p:grpSp>
        <p:nvGrpSpPr>
          <p:cNvPr id="1883486366" name="Group 1883486365"/>
          <p:cNvGrpSpPr/>
          <p:nvPr/>
        </p:nvGrpSpPr>
        <p:grpSpPr bwMode="auto">
          <a:xfrm>
            <a:off x="369919" y="3243093"/>
            <a:ext cx="1965960" cy="274320"/>
            <a:chOff x="0" y="0"/>
            <a:chExt cx="1965960" cy="274320"/>
          </a:xfrm>
        </p:grpSpPr>
        <p:sp>
          <p:nvSpPr>
            <p:cNvPr id="1682840374" name="Shape 15"/>
            <p:cNvSpPr/>
            <p:nvPr/>
          </p:nvSpPr>
          <p:spPr bwMode="auto">
            <a:xfrm>
              <a:off x="0" y="96012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1127150" name="Text 16"/>
            <p:cNvSpPr/>
            <p:nvPr/>
          </p:nvSpPr>
          <p:spPr bwMode="auto">
            <a:xfrm>
              <a:off x="137160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Assign epic</a:t>
              </a:r>
              <a:endParaRPr lang="en-US" sz="1100"/>
            </a:p>
          </p:txBody>
        </p:sp>
      </p:grpSp>
      <p:grpSp>
        <p:nvGrpSpPr>
          <p:cNvPr id="1089236089" name="Group 1089236088"/>
          <p:cNvGrpSpPr/>
          <p:nvPr/>
        </p:nvGrpSpPr>
        <p:grpSpPr bwMode="auto">
          <a:xfrm>
            <a:off x="370613" y="3531182"/>
            <a:ext cx="1965960" cy="274320"/>
            <a:chOff x="0" y="0"/>
            <a:chExt cx="1965960" cy="274320"/>
          </a:xfrm>
        </p:grpSpPr>
        <p:sp>
          <p:nvSpPr>
            <p:cNvPr id="1302567565" name="Text 16"/>
            <p:cNvSpPr/>
            <p:nvPr/>
          </p:nvSpPr>
          <p:spPr bwMode="auto">
            <a:xfrm>
              <a:off x="137160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Manage comments</a:t>
              </a:r>
              <a:endParaRPr lang="en-US" sz="1100"/>
            </a:p>
          </p:txBody>
        </p:sp>
        <p:sp>
          <p:nvSpPr>
            <p:cNvPr id="2072570595" name="Shape 15"/>
            <p:cNvSpPr/>
            <p:nvPr/>
          </p:nvSpPr>
          <p:spPr bwMode="auto">
            <a:xfrm>
              <a:off x="0" y="96012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59840996" name="Group 459840995"/>
          <p:cNvGrpSpPr/>
          <p:nvPr/>
        </p:nvGrpSpPr>
        <p:grpSpPr bwMode="auto">
          <a:xfrm>
            <a:off x="371306" y="3819271"/>
            <a:ext cx="1965960" cy="274320"/>
            <a:chOff x="0" y="0"/>
            <a:chExt cx="1965960" cy="274320"/>
          </a:xfrm>
        </p:grpSpPr>
        <p:sp>
          <p:nvSpPr>
            <p:cNvPr id="1214984347" name="Text 16"/>
            <p:cNvSpPr/>
            <p:nvPr/>
          </p:nvSpPr>
          <p:spPr bwMode="auto">
            <a:xfrm>
              <a:off x="137159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Search tasks</a:t>
              </a:r>
              <a:endParaRPr lang="en-US" sz="1100"/>
            </a:p>
          </p:txBody>
        </p:sp>
        <p:sp>
          <p:nvSpPr>
            <p:cNvPr id="662735520" name="Shape 15"/>
            <p:cNvSpPr/>
            <p:nvPr/>
          </p:nvSpPr>
          <p:spPr bwMode="auto">
            <a:xfrm>
              <a:off x="0" y="96011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91002730" name="Group 1091002729"/>
          <p:cNvGrpSpPr/>
          <p:nvPr/>
        </p:nvGrpSpPr>
        <p:grpSpPr bwMode="auto">
          <a:xfrm>
            <a:off x="371999" y="4107360"/>
            <a:ext cx="1965960" cy="274319"/>
            <a:chOff x="0" y="0"/>
            <a:chExt cx="1965960" cy="274319"/>
          </a:xfrm>
        </p:grpSpPr>
        <p:sp>
          <p:nvSpPr>
            <p:cNvPr id="1875110692" name="Text 16"/>
            <p:cNvSpPr/>
            <p:nvPr/>
          </p:nvSpPr>
          <p:spPr bwMode="auto">
            <a:xfrm>
              <a:off x="137159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Filter tasks</a:t>
              </a:r>
              <a:endParaRPr lang="en-US" sz="1100"/>
            </a:p>
          </p:txBody>
        </p:sp>
        <p:sp>
          <p:nvSpPr>
            <p:cNvPr id="2041602587" name="Shape 15"/>
            <p:cNvSpPr/>
            <p:nvPr/>
          </p:nvSpPr>
          <p:spPr bwMode="auto">
            <a:xfrm>
              <a:off x="0" y="96011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652948366" name="Shape 29"/>
          <p:cNvSpPr/>
          <p:nvPr/>
        </p:nvSpPr>
        <p:spPr bwMode="auto">
          <a:xfrm>
            <a:off x="5057276" y="4285668"/>
            <a:ext cx="1654419" cy="150874"/>
          </a:xfrm>
          <a:prstGeom prst="line">
            <a:avLst/>
          </a:prstGeom>
          <a:noFill/>
          <a:ln w="15240">
            <a:solidFill>
              <a:srgbClr val="7F7F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0895917" name="Shape 29"/>
          <p:cNvSpPr/>
          <p:nvPr/>
        </p:nvSpPr>
        <p:spPr bwMode="auto">
          <a:xfrm flipV="1">
            <a:off x="4915111" y="1804891"/>
            <a:ext cx="1796977" cy="2124274"/>
          </a:xfrm>
          <a:prstGeom prst="line">
            <a:avLst/>
          </a:prstGeom>
          <a:noFill/>
          <a:ln w="15240">
            <a:solidFill>
              <a:srgbClr val="7F7F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01167722" name="Shape 29"/>
          <p:cNvSpPr/>
          <p:nvPr/>
        </p:nvSpPr>
        <p:spPr bwMode="auto">
          <a:xfrm>
            <a:off x="2395728" y="2879168"/>
            <a:ext cx="2036025" cy="1150468"/>
          </a:xfrm>
          <a:prstGeom prst="line">
            <a:avLst/>
          </a:prstGeom>
          <a:noFill/>
          <a:ln w="15240">
            <a:solidFill>
              <a:srgbClr val="7F7F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04083780" name="Shape 29"/>
          <p:cNvSpPr/>
          <p:nvPr/>
        </p:nvSpPr>
        <p:spPr bwMode="auto">
          <a:xfrm flipH="1">
            <a:off x="5057276" y="3139006"/>
            <a:ext cx="1654813" cy="890629"/>
          </a:xfrm>
          <a:prstGeom prst="line">
            <a:avLst/>
          </a:prstGeom>
          <a:noFill/>
          <a:ln w="15240">
            <a:solidFill>
              <a:srgbClr val="7F7F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36086657" name="Shape 29"/>
          <p:cNvSpPr/>
          <p:nvPr/>
        </p:nvSpPr>
        <p:spPr bwMode="auto">
          <a:xfrm>
            <a:off x="4722875" y="2422112"/>
            <a:ext cx="0" cy="1433787"/>
          </a:xfrm>
          <a:prstGeom prst="line">
            <a:avLst/>
          </a:prstGeom>
          <a:noFill/>
          <a:ln w="15240">
            <a:solidFill>
              <a:srgbClr val="7F7F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4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9270757" name="Shape 0"/>
          <p:cNvSpPr/>
          <p:nvPr/>
        </p:nvSpPr>
        <p:spPr bwMode="auto">
          <a:xfrm>
            <a:off x="0" y="0"/>
            <a:ext cx="9144000" cy="68580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98578875" name="Text 1"/>
          <p:cNvSpPr/>
          <p:nvPr/>
        </p:nvSpPr>
        <p:spPr bwMode="auto"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Use Case – Project Manager</a:t>
            </a:r>
            <a:endParaRPr lang="en-US" sz="2200"/>
          </a:p>
        </p:txBody>
      </p:sp>
      <p:sp>
        <p:nvSpPr>
          <p:cNvPr id="146864079" name="Shape 2"/>
          <p:cNvSpPr/>
          <p:nvPr/>
        </p:nvSpPr>
        <p:spPr bwMode="auto">
          <a:xfrm>
            <a:off x="274320" y="749808"/>
            <a:ext cx="8595360" cy="246888"/>
          </a:xfrm>
          <a:prstGeom prst="rect">
            <a:avLst/>
          </a:prstGeom>
          <a:solidFill>
            <a:srgbClr val="FFF7ED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67321058" name="Text 3"/>
          <p:cNvSpPr/>
          <p:nvPr/>
        </p:nvSpPr>
        <p:spPr bwMode="auto">
          <a:xfrm>
            <a:off x="411480" y="749808"/>
            <a:ext cx="8412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 b="1">
                <a:solidFill>
                  <a:srgbClr val="F97316"/>
                </a:solidFill>
                <a:latin typeface="Calibri"/>
                <a:ea typeface="Calibri"/>
                <a:cs typeface="Calibri"/>
              </a:rPr>
              <a:t>⬆  Includes all Project Member use cases</a:t>
            </a:r>
            <a:endParaRPr lang="en-US" sz="1000"/>
          </a:p>
        </p:txBody>
      </p:sp>
      <p:sp>
        <p:nvSpPr>
          <p:cNvPr id="1024274937" name="Shape 29"/>
          <p:cNvSpPr/>
          <p:nvPr/>
        </p:nvSpPr>
        <p:spPr bwMode="auto">
          <a:xfrm flipV="1">
            <a:off x="4867723" y="2699034"/>
            <a:ext cx="2313068" cy="1066151"/>
          </a:xfrm>
          <a:prstGeom prst="line">
            <a:avLst/>
          </a:prstGeom>
          <a:noFill/>
          <a:ln w="15240">
            <a:solidFill>
              <a:srgbClr val="7F7F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pSp>
        <p:nvGrpSpPr>
          <p:cNvPr id="564140426" name="Group 564140425"/>
          <p:cNvGrpSpPr/>
          <p:nvPr/>
        </p:nvGrpSpPr>
        <p:grpSpPr bwMode="auto">
          <a:xfrm>
            <a:off x="4091940" y="3573768"/>
            <a:ext cx="960120" cy="896111"/>
            <a:chOff x="0" y="0"/>
            <a:chExt cx="960120" cy="896111"/>
          </a:xfrm>
        </p:grpSpPr>
        <p:sp>
          <p:nvSpPr>
            <p:cNvPr id="1338645073" name="Shape 4"/>
            <p:cNvSpPr/>
            <p:nvPr/>
          </p:nvSpPr>
          <p:spPr bwMode="auto">
            <a:xfrm>
              <a:off x="182880" y="0"/>
              <a:ext cx="594360" cy="594360"/>
            </a:xfrm>
            <a:prstGeom prst="ellipse">
              <a:avLst/>
            </a:prstGeom>
            <a:solidFill>
              <a:srgbClr val="FFF7ED"/>
            </a:solidFill>
            <a:ln w="25400">
              <a:solidFill>
                <a:srgbClr val="F9731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889206525" name="Image 0" descr="preencoded.png"/>
            <p:cNvPicPr>
              <a:picLocks noChangeAspect="1"/>
            </p:cNvPicPr>
            <p:nvPr/>
          </p:nvPicPr>
          <p:blipFill rotWithShape="1">
            <a:blip r:embed="rId3"/>
            <a:stretch/>
          </p:blipFill>
          <p:spPr bwMode="auto">
            <a:xfrm>
              <a:off x="274320" y="91439"/>
              <a:ext cx="411480" cy="411480"/>
            </a:xfrm>
            <a:prstGeom prst="rect">
              <a:avLst/>
            </a:prstGeom>
          </p:spPr>
        </p:pic>
        <p:sp>
          <p:nvSpPr>
            <p:cNvPr id="372029419" name="Text 5"/>
            <p:cNvSpPr/>
            <p:nvPr/>
          </p:nvSpPr>
          <p:spPr bwMode="auto">
            <a:xfrm>
              <a:off x="0" y="621791"/>
              <a:ext cx="9601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900" b="1">
                  <a:solidFill>
                    <a:srgbClr val="F97316"/>
                  </a:solidFill>
                  <a:latin typeface="Calibri"/>
                  <a:ea typeface="Calibri"/>
                  <a:cs typeface="Calibri"/>
                </a:rPr>
                <a:t>Project Manager</a:t>
              </a:r>
              <a:endParaRPr lang="en-US" sz="900"/>
            </a:p>
          </p:txBody>
        </p:sp>
      </p:grpSp>
      <p:grpSp>
        <p:nvGrpSpPr>
          <p:cNvPr id="1658739631" name="Group 1658739630"/>
          <p:cNvGrpSpPr/>
          <p:nvPr/>
        </p:nvGrpSpPr>
        <p:grpSpPr bwMode="auto">
          <a:xfrm>
            <a:off x="6005583" y="1653388"/>
            <a:ext cx="2194559" cy="1033272"/>
            <a:chOff x="0" y="0"/>
            <a:chExt cx="2194559" cy="1033272"/>
          </a:xfrm>
        </p:grpSpPr>
        <p:sp>
          <p:nvSpPr>
            <p:cNvPr id="1125833184" name="Shape 14"/>
            <p:cNvSpPr/>
            <p:nvPr/>
          </p:nvSpPr>
          <p:spPr bwMode="auto">
            <a:xfrm>
              <a:off x="0" y="0"/>
              <a:ext cx="2194560" cy="1033272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9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862933267" name="Shape 15"/>
            <p:cNvSpPr/>
            <p:nvPr/>
          </p:nvSpPr>
          <p:spPr bwMode="auto">
            <a:xfrm>
              <a:off x="0" y="0"/>
              <a:ext cx="2194560" cy="347472"/>
            </a:xfrm>
            <a:prstGeom prst="rect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0850083" name="Text 16"/>
            <p:cNvSpPr/>
            <p:nvPr/>
          </p:nvSpPr>
          <p:spPr bwMode="auto">
            <a:xfrm>
              <a:off x="118469" y="0"/>
              <a:ext cx="178308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Project </a:t>
              </a:r>
              <a:r>
                <a:rPr lang="en-US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Members</a:t>
              </a:r>
              <a:endParaRPr lang="en-US" sz="1100"/>
            </a:p>
          </p:txBody>
        </p:sp>
        <p:sp>
          <p:nvSpPr>
            <p:cNvPr id="1034649681" name="Shape 17"/>
            <p:cNvSpPr/>
            <p:nvPr/>
          </p:nvSpPr>
          <p:spPr bwMode="auto">
            <a:xfrm>
              <a:off x="165858" y="498347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0646817" name="Text 18"/>
            <p:cNvSpPr/>
            <p:nvPr/>
          </p:nvSpPr>
          <p:spPr bwMode="auto">
            <a:xfrm>
              <a:off x="301752" y="402335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Assign member</a:t>
              </a:r>
              <a:endParaRPr lang="en-US" sz="1100"/>
            </a:p>
          </p:txBody>
        </p:sp>
        <p:sp>
          <p:nvSpPr>
            <p:cNvPr id="1812917473" name="Shape 19"/>
            <p:cNvSpPr/>
            <p:nvPr/>
          </p:nvSpPr>
          <p:spPr bwMode="auto">
            <a:xfrm>
              <a:off x="165858" y="772668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075944" name="Text 20"/>
            <p:cNvSpPr/>
            <p:nvPr/>
          </p:nvSpPr>
          <p:spPr bwMode="auto">
            <a:xfrm>
              <a:off x="301752" y="676656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Remove member</a:t>
              </a:r>
              <a:endParaRPr lang="en-US" sz="1100"/>
            </a:p>
          </p:txBody>
        </p:sp>
      </p:grpSp>
      <p:sp>
        <p:nvSpPr>
          <p:cNvPr id="791151807" name="Shape 29"/>
          <p:cNvSpPr/>
          <p:nvPr/>
        </p:nvSpPr>
        <p:spPr bwMode="auto">
          <a:xfrm>
            <a:off x="1868059" y="2699034"/>
            <a:ext cx="2416790" cy="1066151"/>
          </a:xfrm>
          <a:prstGeom prst="line">
            <a:avLst/>
          </a:prstGeom>
          <a:noFill/>
          <a:ln w="15240">
            <a:solidFill>
              <a:srgbClr val="7F7F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pSp>
        <p:nvGrpSpPr>
          <p:cNvPr id="1022503775" name="Group 1022503774"/>
          <p:cNvGrpSpPr/>
          <p:nvPr/>
        </p:nvGrpSpPr>
        <p:grpSpPr bwMode="auto">
          <a:xfrm>
            <a:off x="838920" y="1648649"/>
            <a:ext cx="2199298" cy="1033272"/>
            <a:chOff x="0" y="0"/>
            <a:chExt cx="2199298" cy="1033272"/>
          </a:xfrm>
        </p:grpSpPr>
        <p:sp>
          <p:nvSpPr>
            <p:cNvPr id="1261029091" name="Shape 6"/>
            <p:cNvSpPr/>
            <p:nvPr/>
          </p:nvSpPr>
          <p:spPr bwMode="auto">
            <a:xfrm>
              <a:off x="0" y="0"/>
              <a:ext cx="2194560" cy="1033272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9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765204893" name="Shape 7"/>
            <p:cNvSpPr/>
            <p:nvPr/>
          </p:nvSpPr>
          <p:spPr bwMode="auto">
            <a:xfrm>
              <a:off x="4738" y="0"/>
              <a:ext cx="2194560" cy="347472"/>
            </a:xfrm>
            <a:prstGeom prst="rect">
              <a:avLst/>
            </a:prstGeom>
            <a:solidFill>
              <a:srgbClr val="F97316"/>
            </a:solidFill>
            <a:ln w="12700">
              <a:solidFill>
                <a:srgbClr val="F9731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158466" name="Text 8"/>
            <p:cNvSpPr/>
            <p:nvPr/>
          </p:nvSpPr>
          <p:spPr bwMode="auto">
            <a:xfrm>
              <a:off x="123208" y="0"/>
              <a:ext cx="178308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Projects</a:t>
              </a:r>
              <a:endParaRPr lang="en-US" sz="1100"/>
            </a:p>
          </p:txBody>
        </p:sp>
        <p:sp>
          <p:nvSpPr>
            <p:cNvPr id="454399619" name="Shape 9"/>
            <p:cNvSpPr/>
            <p:nvPr/>
          </p:nvSpPr>
          <p:spPr bwMode="auto">
            <a:xfrm>
              <a:off x="170596" y="498347"/>
              <a:ext cx="82296" cy="82296"/>
            </a:xfrm>
            <a:prstGeom prst="ellipse">
              <a:avLst/>
            </a:prstGeom>
            <a:solidFill>
              <a:srgbClr val="F97316"/>
            </a:solidFill>
            <a:ln w="12700">
              <a:solidFill>
                <a:srgbClr val="F9731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6694358" name="Text 10"/>
            <p:cNvSpPr/>
            <p:nvPr/>
          </p:nvSpPr>
          <p:spPr bwMode="auto">
            <a:xfrm>
              <a:off x="306490" y="402335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Create project</a:t>
              </a:r>
              <a:endParaRPr lang="en-US" sz="1100"/>
            </a:p>
          </p:txBody>
        </p:sp>
        <p:sp>
          <p:nvSpPr>
            <p:cNvPr id="1628612922" name="Shape 11"/>
            <p:cNvSpPr/>
            <p:nvPr/>
          </p:nvSpPr>
          <p:spPr bwMode="auto">
            <a:xfrm>
              <a:off x="169330" y="772668"/>
              <a:ext cx="82296" cy="82296"/>
            </a:xfrm>
            <a:prstGeom prst="ellipse">
              <a:avLst/>
            </a:prstGeom>
            <a:solidFill>
              <a:srgbClr val="F97316"/>
            </a:solidFill>
            <a:ln w="12700">
              <a:solidFill>
                <a:srgbClr val="F9731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523337" name="Text 12"/>
            <p:cNvSpPr/>
            <p:nvPr/>
          </p:nvSpPr>
          <p:spPr bwMode="auto">
            <a:xfrm>
              <a:off x="306490" y="676656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Delete project</a:t>
              </a:r>
              <a:endParaRPr lang="en-US" sz="1100"/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5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2551554" name="Shape 0"/>
          <p:cNvSpPr/>
          <p:nvPr/>
        </p:nvSpPr>
        <p:spPr bwMode="auto">
          <a:xfrm>
            <a:off x="0" y="0"/>
            <a:ext cx="9144000" cy="685800"/>
          </a:xfrm>
          <a:prstGeom prst="rect">
            <a:avLst/>
          </a:prstGeom>
          <a:solidFill>
            <a:srgbClr val="9333EA"/>
          </a:solidFill>
          <a:ln w="12700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27621038" name="Text 1"/>
          <p:cNvSpPr/>
          <p:nvPr/>
        </p:nvSpPr>
        <p:spPr bwMode="auto"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Use Case – Admin</a:t>
            </a:r>
            <a:endParaRPr lang="en-US" sz="2200"/>
          </a:p>
        </p:txBody>
      </p:sp>
      <p:sp>
        <p:nvSpPr>
          <p:cNvPr id="1594154094" name="Shape 2"/>
          <p:cNvSpPr/>
          <p:nvPr/>
        </p:nvSpPr>
        <p:spPr bwMode="auto">
          <a:xfrm>
            <a:off x="274320" y="749808"/>
            <a:ext cx="8595360" cy="246888"/>
          </a:xfrm>
          <a:prstGeom prst="rect">
            <a:avLst/>
          </a:prstGeom>
          <a:solidFill>
            <a:srgbClr val="FAF5FF"/>
          </a:solidFill>
          <a:ln w="12700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607525" name="Text 3"/>
          <p:cNvSpPr/>
          <p:nvPr/>
        </p:nvSpPr>
        <p:spPr bwMode="auto">
          <a:xfrm>
            <a:off x="411480" y="749808"/>
            <a:ext cx="8412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 b="1">
                <a:solidFill>
                  <a:srgbClr val="9333EA"/>
                </a:solidFill>
                <a:latin typeface="Calibri"/>
                <a:ea typeface="Calibri"/>
                <a:cs typeface="Calibri"/>
              </a:rPr>
              <a:t>⬆  Includes all Project Manager &amp; Member use cases</a:t>
            </a:r>
            <a:endParaRPr lang="en-US" sz="1000"/>
          </a:p>
        </p:txBody>
      </p:sp>
      <p:grpSp>
        <p:nvGrpSpPr>
          <p:cNvPr id="707970611" name="Group 707970610"/>
          <p:cNvGrpSpPr/>
          <p:nvPr/>
        </p:nvGrpSpPr>
        <p:grpSpPr bwMode="auto">
          <a:xfrm>
            <a:off x="4229100" y="3474253"/>
            <a:ext cx="685800" cy="896111"/>
            <a:chOff x="0" y="0"/>
            <a:chExt cx="685800" cy="896111"/>
          </a:xfrm>
        </p:grpSpPr>
        <p:sp>
          <p:nvSpPr>
            <p:cNvPr id="2131607583" name="Shape 4"/>
            <p:cNvSpPr/>
            <p:nvPr/>
          </p:nvSpPr>
          <p:spPr bwMode="auto">
            <a:xfrm>
              <a:off x="45719" y="0"/>
              <a:ext cx="594360" cy="594360"/>
            </a:xfrm>
            <a:prstGeom prst="ellipse">
              <a:avLst/>
            </a:prstGeom>
            <a:solidFill>
              <a:srgbClr val="FAF5FF"/>
            </a:solidFill>
            <a:ln w="25400">
              <a:solidFill>
                <a:srgbClr val="9333EA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617636203" name="Image 0" descr="preencoded.png"/>
            <p:cNvPicPr>
              <a:picLocks noChangeAspect="1"/>
            </p:cNvPicPr>
            <p:nvPr/>
          </p:nvPicPr>
          <p:blipFill rotWithShape="1">
            <a:blip r:embed="rId3"/>
            <a:stretch/>
          </p:blipFill>
          <p:spPr bwMode="auto">
            <a:xfrm>
              <a:off x="137160" y="91439"/>
              <a:ext cx="411480" cy="411480"/>
            </a:xfrm>
            <a:prstGeom prst="rect">
              <a:avLst/>
            </a:prstGeom>
          </p:spPr>
        </p:pic>
        <p:sp>
          <p:nvSpPr>
            <p:cNvPr id="289418284" name="Text 5"/>
            <p:cNvSpPr/>
            <p:nvPr/>
          </p:nvSpPr>
          <p:spPr bwMode="auto">
            <a:xfrm>
              <a:off x="0" y="621791"/>
              <a:ext cx="685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900" b="1">
                  <a:solidFill>
                    <a:srgbClr val="9333EA"/>
                  </a:solidFill>
                  <a:latin typeface="Calibri"/>
                  <a:ea typeface="Calibri"/>
                  <a:cs typeface="Calibri"/>
                </a:rPr>
                <a:t>Admin</a:t>
              </a:r>
              <a:endParaRPr lang="en-US" sz="900"/>
            </a:p>
          </p:txBody>
        </p:sp>
      </p:grpSp>
      <p:sp>
        <p:nvSpPr>
          <p:cNvPr id="938224161" name="Shape 29"/>
          <p:cNvSpPr/>
          <p:nvPr/>
        </p:nvSpPr>
        <p:spPr bwMode="auto">
          <a:xfrm>
            <a:off x="2370372" y="2419365"/>
            <a:ext cx="1914475" cy="1222610"/>
          </a:xfrm>
          <a:prstGeom prst="line">
            <a:avLst/>
          </a:prstGeom>
          <a:noFill/>
          <a:ln w="15240">
            <a:solidFill>
              <a:srgbClr val="7F7F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pSp>
        <p:nvGrpSpPr>
          <p:cNvPr id="1395350226" name="Group 1395350225"/>
          <p:cNvGrpSpPr/>
          <p:nvPr/>
        </p:nvGrpSpPr>
        <p:grpSpPr bwMode="auto">
          <a:xfrm>
            <a:off x="5693883" y="1448359"/>
            <a:ext cx="2199297" cy="733042"/>
            <a:chOff x="0" y="0"/>
            <a:chExt cx="2199297" cy="733042"/>
          </a:xfrm>
        </p:grpSpPr>
        <p:sp>
          <p:nvSpPr>
            <p:cNvPr id="1096689932" name="Shape 6"/>
            <p:cNvSpPr/>
            <p:nvPr/>
          </p:nvSpPr>
          <p:spPr bwMode="auto">
            <a:xfrm>
              <a:off x="0" y="0"/>
              <a:ext cx="2194560" cy="733042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9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1528544736" name="Shape 7"/>
            <p:cNvSpPr/>
            <p:nvPr/>
          </p:nvSpPr>
          <p:spPr bwMode="auto">
            <a:xfrm>
              <a:off x="4737" y="0"/>
              <a:ext cx="2194560" cy="347471"/>
            </a:xfrm>
            <a:prstGeom prst="rect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4568451" name="Text 8"/>
            <p:cNvSpPr/>
            <p:nvPr/>
          </p:nvSpPr>
          <p:spPr bwMode="auto">
            <a:xfrm>
              <a:off x="123207" y="0"/>
              <a:ext cx="1783080" cy="3474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Role Management</a:t>
              </a:r>
              <a:endParaRPr lang="en-US" sz="1100"/>
            </a:p>
          </p:txBody>
        </p:sp>
        <p:sp>
          <p:nvSpPr>
            <p:cNvPr id="1672318149" name="Shape 9"/>
            <p:cNvSpPr/>
            <p:nvPr/>
          </p:nvSpPr>
          <p:spPr bwMode="auto">
            <a:xfrm>
              <a:off x="170596" y="498346"/>
              <a:ext cx="82296" cy="82296"/>
            </a:xfrm>
            <a:prstGeom prst="ellipse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1172184" name="Text 10"/>
            <p:cNvSpPr/>
            <p:nvPr/>
          </p:nvSpPr>
          <p:spPr bwMode="auto">
            <a:xfrm>
              <a:off x="306489" y="40233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 b="0" i="0" u="none" strike="noStrike" cap="none" spc="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Change user role</a:t>
              </a:r>
              <a:endParaRPr sz="1100"/>
            </a:p>
          </p:txBody>
        </p:sp>
      </p:grpSp>
      <p:sp>
        <p:nvSpPr>
          <p:cNvPr id="2044140067" name="Shape 29"/>
          <p:cNvSpPr/>
          <p:nvPr/>
        </p:nvSpPr>
        <p:spPr bwMode="auto">
          <a:xfrm flipH="1">
            <a:off x="4872462" y="2181402"/>
            <a:ext cx="1955040" cy="1460574"/>
          </a:xfrm>
          <a:prstGeom prst="line">
            <a:avLst/>
          </a:prstGeom>
          <a:noFill/>
          <a:ln w="15240">
            <a:solidFill>
              <a:srgbClr val="7F7F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pSp>
        <p:nvGrpSpPr>
          <p:cNvPr id="1907407505" name="Group 1907407504"/>
          <p:cNvGrpSpPr/>
          <p:nvPr/>
        </p:nvGrpSpPr>
        <p:grpSpPr bwMode="auto">
          <a:xfrm>
            <a:off x="1258080" y="1385315"/>
            <a:ext cx="2199297" cy="1033272"/>
            <a:chOff x="0" y="0"/>
            <a:chExt cx="2199297" cy="1033272"/>
          </a:xfrm>
        </p:grpSpPr>
        <p:sp>
          <p:nvSpPr>
            <p:cNvPr id="666264661" name="Shape 6"/>
            <p:cNvSpPr/>
            <p:nvPr/>
          </p:nvSpPr>
          <p:spPr bwMode="auto">
            <a:xfrm>
              <a:off x="0" y="0"/>
              <a:ext cx="2194560" cy="1033272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9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663022233" name="Shape 7"/>
            <p:cNvSpPr/>
            <p:nvPr/>
          </p:nvSpPr>
          <p:spPr bwMode="auto">
            <a:xfrm>
              <a:off x="4737" y="0"/>
              <a:ext cx="2194560" cy="347471"/>
            </a:xfrm>
            <a:prstGeom prst="rect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2914500" name="Text 8"/>
            <p:cNvSpPr/>
            <p:nvPr/>
          </p:nvSpPr>
          <p:spPr bwMode="auto">
            <a:xfrm>
              <a:off x="123207" y="0"/>
              <a:ext cx="1783080" cy="3474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User Management</a:t>
              </a:r>
              <a:endParaRPr lang="en-US" sz="1100"/>
            </a:p>
          </p:txBody>
        </p:sp>
        <p:sp>
          <p:nvSpPr>
            <p:cNvPr id="932413197" name="Shape 9"/>
            <p:cNvSpPr/>
            <p:nvPr/>
          </p:nvSpPr>
          <p:spPr bwMode="auto">
            <a:xfrm>
              <a:off x="170595" y="498346"/>
              <a:ext cx="82296" cy="82296"/>
            </a:xfrm>
            <a:prstGeom prst="ellipse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7812101" name="Text 10"/>
            <p:cNvSpPr/>
            <p:nvPr/>
          </p:nvSpPr>
          <p:spPr bwMode="auto">
            <a:xfrm>
              <a:off x="306489" y="40233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Create </a:t>
              </a:r>
              <a:r>
                <a:rPr lang="de-DE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user</a:t>
              </a:r>
              <a:endParaRPr lang="en-US" sz="1100"/>
            </a:p>
          </p:txBody>
        </p:sp>
        <p:sp>
          <p:nvSpPr>
            <p:cNvPr id="498651531" name="Shape 11"/>
            <p:cNvSpPr/>
            <p:nvPr/>
          </p:nvSpPr>
          <p:spPr bwMode="auto">
            <a:xfrm>
              <a:off x="169329" y="772668"/>
              <a:ext cx="82296" cy="82296"/>
            </a:xfrm>
            <a:prstGeom prst="ellipse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9240353" name="Text 12"/>
            <p:cNvSpPr/>
            <p:nvPr/>
          </p:nvSpPr>
          <p:spPr bwMode="auto">
            <a:xfrm>
              <a:off x="306489" y="676656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Delete </a:t>
              </a:r>
              <a:r>
                <a:rPr lang="de-DE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user</a:t>
              </a:r>
              <a:endParaRPr lang="en-US" sz="1100"/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217</Words>
  <Application>Microsoft Macintosh PowerPoint</Application>
  <PresentationFormat>On-screen Show (16:9)</PresentationFormat>
  <Paragraphs>78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Mini Jira – Use Cases &amp; Roles</dc:title>
  <dc:subject>PptxGenJS Presentation</dc:subject>
  <dc:creator>PptxGenJS</dc:creator>
  <cp:lastModifiedBy>Schlee, Robert</cp:lastModifiedBy>
  <cp:revision>5</cp:revision>
  <dcterms:created xsi:type="dcterms:W3CDTF">2026-04-06T11:44:17Z</dcterms:created>
  <dcterms:modified xsi:type="dcterms:W3CDTF">2026-04-19T17:15:06Z</dcterms:modified>
</cp:coreProperties>
</file>