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wmf" ContentType="image/x-wmf"/>
  <Default Extension="png" ContentType="image/png"/>
  <Default Extension="rels" ContentType="application/vnd.openxmlformats-package.relationships+xml"/>
  <Default Extension="bin" ContentType="application/vnd.openxmlformats-officedocument.oleObject"/>
  <Override PartName="/ppt/notesSlides/notesSlide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notesSlides/notesSlide5.xml" ContentType="application/vnd.openxmlformats-officedocument.presentationml.notesSlide+xml"/>
  <Override PartName="/ppt/notesMasters/notesMaster1.xml" ContentType="application/vnd.openxmlformats-officedocument.presentationml.notesMaster+xml"/>
  <Override PartName="/ppt/viewProps.xml" ContentType="application/vnd.openxmlformats-officedocument.presentationml.viewProps+xml"/>
  <Override PartName="/ppt/slideLayouts/slideLayout1.xml" ContentType="application/vnd.openxmlformats-officedocument.presentationml.slideLayout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docProps/core.xml" ContentType="application/vnd.openxmlformats-package.core-properties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autoCompressPictures="0" saveSubsetFonts="1">
  <p:sldMasterIdLst>
    <p:sldMasterId id="2147483648" r:id="rId1"/>
  </p:sldMasterIdLst>
  <p:notesMasterIdLst>
    <p:notesMasterId r:id="rId9"/>
  </p:notesMasterIdLst>
  <p:sldIdLst>
    <p:sldId id="256" r:id="rId3"/>
    <p:sldId id="257" r:id="rId4"/>
    <p:sldId id="258" r:id="rId5"/>
    <p:sldId id="259" r:id="rId6"/>
    <p:sldId id="260" r:id="rId7"/>
    <p:sldId id="261" r:id="rId8"/>
  </p:sldIdLst>
  <p:sldSz cx="9144000" cy="5143500"/>
  <p:notesSz cx="5143500" cy="9144000"/>
  <p:defaultTextStyle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>
        <p:guide pos="2880"/>
        <p:guide pos="1620" orient="horz"/>
      </p:guideLst>
    </p:cSldViewPr>
  </p:slideViewPr>
  <p:gridSpacing cx="76200" cy="762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 /><Relationship Id="rId11" Type="http://schemas.openxmlformats.org/officeDocument/2006/relationships/tableStyles" Target="tableStyles.xml" /><Relationship Id="rId12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4183668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00685746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1969557186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589529951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/>
          </a:p>
        </p:txBody>
      </p:sp>
      <p:sp>
        <p:nvSpPr>
          <p:cNvPr id="2078592688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74738728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653178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078229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225264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582351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2082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0054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4015773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824250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583284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08E325-F849-A203-B3CC-E685AAE7F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29338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83095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6253400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73010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1294146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190940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91161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163374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860373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021451-1387-4CA6-816F-3879F97B5CBC}" type="slidenum">
              <a:rPr lang="en-US"/>
              <a:t>5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dt="0" ftr="0" hdr="0" sldNum="0"/>
  <p:txStyles>
    <p:titleStyle>
      <a:lvl1pPr algn="ctr" defTabSz="914400" rtl="0"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1">
    <p:bg>
      <p:bgPr shadeToTitle="0">
        <a:solidFill>
          <a:srgbClr val="1A2B4A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2000286" name="Shape 0"/>
          <p:cNvSpPr/>
          <p:nvPr/>
        </p:nvSpPr>
        <p:spPr bwMode="auto">
          <a:xfrm>
            <a:off x="0" y="0"/>
            <a:ext cx="10972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6444741" name="Shape 1"/>
          <p:cNvSpPr/>
          <p:nvPr/>
        </p:nvSpPr>
        <p:spPr bwMode="auto">
          <a:xfrm>
            <a:off x="36576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27521551" name="Shape 2"/>
          <p:cNvSpPr/>
          <p:nvPr/>
        </p:nvSpPr>
        <p:spPr bwMode="auto">
          <a:xfrm>
            <a:off x="68580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173225182" name="Shape 3"/>
          <p:cNvSpPr/>
          <p:nvPr/>
        </p:nvSpPr>
        <p:spPr bwMode="auto">
          <a:xfrm>
            <a:off x="100584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2018651950" name="Shape 4"/>
          <p:cNvSpPr/>
          <p:nvPr/>
        </p:nvSpPr>
        <p:spPr bwMode="auto">
          <a:xfrm>
            <a:off x="132588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817504058" name="Shape 5"/>
          <p:cNvSpPr/>
          <p:nvPr/>
        </p:nvSpPr>
        <p:spPr bwMode="auto">
          <a:xfrm>
            <a:off x="1645920" y="274320"/>
            <a:ext cx="109728" cy="109728"/>
          </a:xfrm>
          <a:prstGeom prst="ellipse">
            <a:avLst/>
          </a:prstGeom>
          <a:solidFill>
            <a:srgbClr val="14B8A6">
              <a:alpha val="60000"/>
            </a:srgbClr>
          </a:solidFill>
          <a:ln w="12700">
            <a:solidFill>
              <a:srgbClr val="14B8A6">
                <a:alpha val="60000"/>
              </a:srgbClr>
            </a:solidFill>
            <a:prstDash val="solid"/>
          </a:ln>
        </p:spPr>
      </p:sp>
      <p:sp>
        <p:nvSpPr>
          <p:cNvPr id="1152622363" name="Text 6"/>
          <p:cNvSpPr/>
          <p:nvPr/>
        </p:nvSpPr>
        <p:spPr bwMode="auto">
          <a:xfrm>
            <a:off x="457200" y="10972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5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Mini Jira</a:t>
            </a:r>
            <a:endParaRPr lang="en-US" sz="5200"/>
          </a:p>
        </p:txBody>
      </p:sp>
      <p:sp>
        <p:nvSpPr>
          <p:cNvPr id="1766386390" name="Text 7"/>
          <p:cNvSpPr/>
          <p:nvPr/>
        </p:nvSpPr>
        <p:spPr bwMode="auto">
          <a:xfrm>
            <a:off x="457200" y="2011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2800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Use Cases &amp; Roles</a:t>
            </a:r>
            <a:endParaRPr lang="en-US" sz="2800"/>
          </a:p>
        </p:txBody>
      </p:sp>
      <p:sp>
        <p:nvSpPr>
          <p:cNvPr id="2071072652" name="Shape 8"/>
          <p:cNvSpPr/>
          <p:nvPr/>
        </p:nvSpPr>
        <p:spPr bwMode="auto">
          <a:xfrm>
            <a:off x="457200" y="2788920"/>
            <a:ext cx="2926080" cy="4572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320957384" name="Text 9"/>
          <p:cNvSpPr/>
          <p:nvPr/>
        </p:nvSpPr>
        <p:spPr bwMode="auto">
          <a:xfrm>
            <a:off x="457200" y="3017519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  <a:defRPr/>
            </a:pPr>
            <a:r>
              <a:rPr lang="en-US" sz="1400">
                <a:solidFill>
                  <a:srgbClr val="CBD5E1"/>
                </a:solidFill>
                <a:latin typeface="Calibri"/>
                <a:ea typeface="Calibri"/>
                <a:cs typeface="Calibri"/>
              </a:rPr>
              <a:t>Task, Project &amp; Team Management</a:t>
            </a:r>
            <a:endParaRPr lang="en-US"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4146544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090543943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Project Idea</a:t>
            </a:r>
            <a:endParaRPr lang="en-US" sz="2200"/>
          </a:p>
        </p:txBody>
      </p:sp>
      <p:sp>
        <p:nvSpPr>
          <p:cNvPr id="584057493" name="Shape 2"/>
          <p:cNvSpPr/>
          <p:nvPr/>
        </p:nvSpPr>
        <p:spPr bwMode="auto">
          <a:xfrm flipH="0" flipV="0">
            <a:off x="206302" y="995774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2067347522" name="Shape 2"/>
          <p:cNvSpPr/>
          <p:nvPr/>
        </p:nvSpPr>
        <p:spPr bwMode="auto">
          <a:xfrm flipH="0" flipV="0">
            <a:off x="206302" y="1901717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714190439" name="Shape 2"/>
          <p:cNvSpPr/>
          <p:nvPr/>
        </p:nvSpPr>
        <p:spPr bwMode="auto">
          <a:xfrm flipH="0" flipV="0">
            <a:off x="206302" y="2807661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926168423" name="Shape 2"/>
          <p:cNvSpPr/>
          <p:nvPr/>
        </p:nvSpPr>
        <p:spPr bwMode="auto">
          <a:xfrm flipH="0" flipV="0">
            <a:off x="206302" y="3713604"/>
            <a:ext cx="8731394" cy="770700"/>
          </a:xfrm>
          <a:prstGeom prst="flowChartAlternateProcess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 modelId="{A8BC8CD6-8738-41EA-9E71-3CD4C9AF2582}">
        <p:nvSpPr>
          <p:cNvPr id="748801556" name=""/>
          <p:cNvSpPr/>
          <p:nvPr/>
        </p:nvSpPr>
        <p:spPr bwMode="auto">
          <a:xfrm>
            <a:off x="345747" y="1039316"/>
            <a:ext cx="683613" cy="683613"/>
          </a:xfrm>
          <a:prstGeom prst="rect">
            <a:avLst/>
          </a:prstGeom>
          <a:blipFill rotWithShape="1">
            <a:blip r:embed="rId3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B63312C8-A8E7-471C-BDC7-E288FC589C93}">
        <p:nvSpPr>
          <p:cNvPr id="1019157395" name=""/>
          <p:cNvSpPr/>
          <p:nvPr/>
        </p:nvSpPr>
        <p:spPr bwMode="auto">
          <a:xfrm>
            <a:off x="345747" y="1945261"/>
            <a:ext cx="683613" cy="683613"/>
          </a:xfrm>
          <a:prstGeom prst="rect">
            <a:avLst/>
          </a:prstGeom>
          <a:blipFill rotWithShape="1">
            <a:blip r:embed="rId4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304136446" name=""/>
          <p:cNvSpPr/>
          <p:nvPr/>
        </p:nvSpPr>
        <p:spPr bwMode="auto">
          <a:xfrm>
            <a:off x="345747" y="2851204"/>
            <a:ext cx="683613" cy="683613"/>
          </a:xfrm>
          <a:prstGeom prst="rect">
            <a:avLst/>
          </a:prstGeom>
          <a:blipFill rotWithShape="1">
            <a:blip r:embed="rId5"/>
            <a:stretch/>
          </a:blipFill>
          <a:ln w="19050" cap="flat" cmpd="sng" algn="ctr">
            <a:solidFill>
              <a:schemeClr val="lt1">
                <a:hueOff val="0"/>
                <a:satOff val="0"/>
                <a:lumOff val="0"/>
                <a:alphaOff val="0"/>
              </a:schemeClr>
            </a:solidFill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</p:sp>
      <p:sp modelId="{CA7E8371-02DB-4E6B-BDD4-4E6725844AB0}">
        <p:nvSpPr>
          <p:cNvPr id="1870385085" name=""/>
          <p:cNvSpPr/>
          <p:nvPr/>
        </p:nvSpPr>
        <p:spPr bwMode="auto">
          <a:xfrm>
            <a:off x="345747" y="3757147"/>
            <a:ext cx="683613" cy="683613"/>
          </a:xfrm>
          <a:prstGeom prst="rect">
            <a:avLst/>
          </a:prstGeom>
          <a:blipFill rotWithShape="1">
            <a:blip r:embed="rId6"/>
            <a:stretch/>
          </a:blipFill>
          <a:ln w="19050" cap="flat" cmpd="sng" algn="ctr">
            <a:noFill/>
            <a:prstDash val="solid"/>
            <a:miter lim="800000"/>
          </a:ln>
          <a:effectLst/>
        </p:spPr>
        <p:style>
          <a:lnRef idx="2">
            <a:srgbClr val="000000"/>
          </a:lnRef>
          <a:fillRef idx="1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anchor="ctr"/>
          <a:p>
            <a:pPr algn="ctr">
              <a:defRPr/>
            </a:pPr>
            <a:endParaRPr/>
          </a:p>
        </p:txBody>
      </p:sp>
      <p:sp>
        <p:nvSpPr>
          <p:cNvPr id="602153185" name=""/>
          <p:cNvSpPr txBox="1"/>
          <p:nvPr/>
        </p:nvSpPr>
        <p:spPr bwMode="auto">
          <a:xfrm rot="0" flipH="0" flipV="0">
            <a:off x="1029361" y="1198244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Task Management Web Service</a:t>
            </a:r>
            <a:endParaRPr sz="1800"/>
          </a:p>
        </p:txBody>
      </p:sp>
      <p:sp>
        <p:nvSpPr>
          <p:cNvPr id="243456283" name=""/>
          <p:cNvSpPr txBox="1"/>
          <p:nvPr/>
        </p:nvSpPr>
        <p:spPr bwMode="auto">
          <a:xfrm rot="0" flipH="0" flipV="0">
            <a:off x="1029361" y="2104008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Simple, scalable, role-based system</a:t>
            </a:r>
            <a:endParaRPr sz="1800"/>
          </a:p>
        </p:txBody>
      </p:sp>
      <p:sp>
        <p:nvSpPr>
          <p:cNvPr id="1249558843" name=""/>
          <p:cNvSpPr txBox="1"/>
          <p:nvPr/>
        </p:nvSpPr>
        <p:spPr bwMode="auto">
          <a:xfrm rot="0" flipH="0" flipV="0">
            <a:off x="1029361" y="3009951"/>
            <a:ext cx="7567077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lvl="0" indent="0" algn="l" defTabSz="1111249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/>
            </a:pPr>
            <a:r>
              <a:rPr lang="de-DE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Designed for teams &amp; project collaboration</a:t>
            </a:r>
            <a:endParaRPr sz="1800"/>
          </a:p>
        </p:txBody>
      </p:sp>
      <p:sp>
        <p:nvSpPr>
          <p:cNvPr id="1919790884" name=""/>
          <p:cNvSpPr txBox="1"/>
          <p:nvPr/>
        </p:nvSpPr>
        <p:spPr bwMode="auto">
          <a:xfrm rot="0" flipH="0" flipV="0">
            <a:off x="1028282" y="3915894"/>
            <a:ext cx="756887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indent="0" algn="l">
              <a:buNone/>
              <a:defRPr/>
            </a:pPr>
            <a:r>
              <a:rPr lang="de-D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AI Assistant for task organization</a:t>
            </a:r>
            <a:endParaRPr lang="en-US" sz="10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2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0078398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1A2B4A"/>
          </a:solidFill>
          <a:ln w="12700">
            <a:solidFill>
              <a:srgbClr val="1A2B4A"/>
            </a:solidFill>
            <a:prstDash val="solid"/>
          </a:ln>
        </p:spPr>
      </p:sp>
      <p:sp>
        <p:nvSpPr>
          <p:cNvPr id="2013971289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User Roles</a:t>
            </a:r>
            <a:endParaRPr lang="en-US" sz="2200"/>
          </a:p>
        </p:txBody>
      </p:sp>
      <p:sp>
        <p:nvSpPr>
          <p:cNvPr id="1023021624" name="Shape 2"/>
          <p:cNvSpPr/>
          <p:nvPr/>
        </p:nvSpPr>
        <p:spPr bwMode="auto">
          <a:xfrm>
            <a:off x="2743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357908812" name="Shape 3"/>
          <p:cNvSpPr/>
          <p:nvPr/>
        </p:nvSpPr>
        <p:spPr bwMode="auto">
          <a:xfrm>
            <a:off x="274320" y="822960"/>
            <a:ext cx="2834639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2061089712" name="Shape 4"/>
          <p:cNvSpPr/>
          <p:nvPr/>
        </p:nvSpPr>
        <p:spPr bwMode="auto">
          <a:xfrm>
            <a:off x="13990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3B82F6"/>
            </a:solidFill>
            <a:prstDash val="solid"/>
          </a:ln>
        </p:spPr>
      </p:sp>
      <p:pic>
        <p:nvPicPr>
          <p:cNvPr id="29794053" name="Image 0" descr="preencoded.png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1490472" y="1115568"/>
            <a:ext cx="402336" cy="402336"/>
          </a:xfrm>
          <a:prstGeom prst="rect">
            <a:avLst/>
          </a:prstGeom>
        </p:spPr>
      </p:pic>
      <p:sp>
        <p:nvSpPr>
          <p:cNvPr id="1189167288" name="Text 5"/>
          <p:cNvSpPr/>
          <p:nvPr/>
        </p:nvSpPr>
        <p:spPr bwMode="auto">
          <a:xfrm>
            <a:off x="2743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3B82F6"/>
                </a:solidFill>
                <a:latin typeface="Calibri"/>
                <a:ea typeface="Calibri"/>
                <a:cs typeface="Calibri"/>
              </a:rPr>
              <a:t>Project Member</a:t>
            </a:r>
            <a:endParaRPr lang="en-US" sz="1400"/>
          </a:p>
        </p:txBody>
      </p:sp>
      <p:sp>
        <p:nvSpPr>
          <p:cNvPr id="15212801" name="Text 6"/>
          <p:cNvSpPr/>
          <p:nvPr/>
        </p:nvSpPr>
        <p:spPr bwMode="auto">
          <a:xfrm>
            <a:off x="4114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Default role for all team members. </a:t>
            </a:r>
            <a:r>
              <a:rPr lang="de-DE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Works in projects on different tasks.</a:t>
            </a:r>
            <a:endParaRPr lang="en-US" sz="1000"/>
          </a:p>
        </p:txBody>
      </p:sp>
      <p:sp>
        <p:nvSpPr>
          <p:cNvPr id="1872047947" name="Shape 7"/>
          <p:cNvSpPr/>
          <p:nvPr/>
        </p:nvSpPr>
        <p:spPr bwMode="auto">
          <a:xfrm>
            <a:off x="6400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2084784501" name="Shape 10"/>
          <p:cNvSpPr/>
          <p:nvPr/>
        </p:nvSpPr>
        <p:spPr bwMode="auto">
          <a:xfrm>
            <a:off x="457200" y="305740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817095608" name="Text 11"/>
          <p:cNvSpPr/>
          <p:nvPr/>
        </p:nvSpPr>
        <p:spPr bwMode="auto">
          <a:xfrm>
            <a:off x="6035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Change </a:t>
            </a: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</a:t>
            </a: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status &amp; priority</a:t>
            </a:r>
            <a:endParaRPr lang="en-US" sz="1000"/>
          </a:p>
        </p:txBody>
      </p:sp>
      <p:sp>
        <p:nvSpPr>
          <p:cNvPr id="1357713650" name="Shape 12"/>
          <p:cNvSpPr/>
          <p:nvPr/>
        </p:nvSpPr>
        <p:spPr bwMode="auto">
          <a:xfrm>
            <a:off x="457200" y="3359152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521455736" name="Text 13"/>
          <p:cNvSpPr/>
          <p:nvPr/>
        </p:nvSpPr>
        <p:spPr bwMode="auto">
          <a:xfrm>
            <a:off x="603504" y="3253996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Create, edit &amp; delete </a:t>
            </a: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comments</a:t>
            </a:r>
            <a:endParaRPr sz="1000"/>
          </a:p>
        </p:txBody>
      </p:sp>
      <p:sp>
        <p:nvSpPr>
          <p:cNvPr id="235156541" name="Shape 14"/>
          <p:cNvSpPr/>
          <p:nvPr/>
        </p:nvSpPr>
        <p:spPr bwMode="auto">
          <a:xfrm>
            <a:off x="457200" y="3660904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269331725" name="Text 15"/>
          <p:cNvSpPr/>
          <p:nvPr/>
        </p:nvSpPr>
        <p:spPr bwMode="auto">
          <a:xfrm>
            <a:off x="603504" y="3555748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Epic management</a:t>
            </a:r>
            <a:endParaRPr lang="en-US" sz="1000"/>
          </a:p>
        </p:txBody>
      </p:sp>
      <p:sp>
        <p:nvSpPr>
          <p:cNvPr id="811895043" name="Shape 16"/>
          <p:cNvSpPr/>
          <p:nvPr/>
        </p:nvSpPr>
        <p:spPr bwMode="auto">
          <a:xfrm>
            <a:off x="457200" y="3962656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309116935" name="Text 17"/>
          <p:cNvSpPr/>
          <p:nvPr/>
        </p:nvSpPr>
        <p:spPr bwMode="auto">
          <a:xfrm>
            <a:off x="603504" y="3857500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Open dashboard</a:t>
            </a:r>
            <a:endParaRPr lang="en-US" sz="1000"/>
          </a:p>
        </p:txBody>
      </p:sp>
      <p:sp>
        <p:nvSpPr>
          <p:cNvPr id="1519710710" name="Shape 18"/>
          <p:cNvSpPr/>
          <p:nvPr/>
        </p:nvSpPr>
        <p:spPr bwMode="auto">
          <a:xfrm>
            <a:off x="457200" y="4264408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13378917" name="Text 19"/>
          <p:cNvSpPr/>
          <p:nvPr/>
        </p:nvSpPr>
        <p:spPr bwMode="auto">
          <a:xfrm>
            <a:off x="603504" y="415925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Login &amp; sign up</a:t>
            </a:r>
            <a:endParaRPr lang="en-US" sz="1000"/>
          </a:p>
        </p:txBody>
      </p:sp>
      <p:sp>
        <p:nvSpPr>
          <p:cNvPr id="396068197" name="Shape 20"/>
          <p:cNvSpPr/>
          <p:nvPr/>
        </p:nvSpPr>
        <p:spPr bwMode="auto">
          <a:xfrm>
            <a:off x="32461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242411567" name="Shape 21"/>
          <p:cNvSpPr/>
          <p:nvPr/>
        </p:nvSpPr>
        <p:spPr bwMode="auto">
          <a:xfrm>
            <a:off x="3246120" y="822960"/>
            <a:ext cx="2834639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789935851" name="Shape 22"/>
          <p:cNvSpPr/>
          <p:nvPr/>
        </p:nvSpPr>
        <p:spPr bwMode="auto">
          <a:xfrm>
            <a:off x="43708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F97316"/>
            </a:solidFill>
            <a:prstDash val="solid"/>
          </a:ln>
        </p:spPr>
      </p:sp>
      <p:pic>
        <p:nvPicPr>
          <p:cNvPr id="797655607" name="Image 1" descr="preencoded.png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>
            <a:off x="4462272" y="1115568"/>
            <a:ext cx="402336" cy="402336"/>
          </a:xfrm>
          <a:prstGeom prst="rect">
            <a:avLst/>
          </a:prstGeom>
        </p:spPr>
      </p:pic>
      <p:sp>
        <p:nvSpPr>
          <p:cNvPr id="210583851" name="Text 23"/>
          <p:cNvSpPr/>
          <p:nvPr/>
        </p:nvSpPr>
        <p:spPr bwMode="auto">
          <a:xfrm>
            <a:off x="32461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Project Manager</a:t>
            </a:r>
            <a:endParaRPr lang="en-US" sz="1400"/>
          </a:p>
        </p:txBody>
      </p:sp>
      <p:sp>
        <p:nvSpPr>
          <p:cNvPr id="311790057" name="Text 24"/>
          <p:cNvSpPr/>
          <p:nvPr/>
        </p:nvSpPr>
        <p:spPr bwMode="auto">
          <a:xfrm>
            <a:off x="33832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Extended permissions. Manages projects and assigns members.</a:t>
            </a:r>
            <a:endParaRPr lang="en-US" sz="1000"/>
          </a:p>
        </p:txBody>
      </p:sp>
      <p:sp>
        <p:nvSpPr>
          <p:cNvPr id="241321205" name="Shape 25"/>
          <p:cNvSpPr/>
          <p:nvPr/>
        </p:nvSpPr>
        <p:spPr bwMode="auto">
          <a:xfrm>
            <a:off x="36118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622355933" name="Shape 26"/>
          <p:cNvSpPr/>
          <p:nvPr/>
        </p:nvSpPr>
        <p:spPr bwMode="auto">
          <a:xfrm>
            <a:off x="3429000" y="2755648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173502568" name="Text 27"/>
          <p:cNvSpPr/>
          <p:nvPr/>
        </p:nvSpPr>
        <p:spPr bwMode="auto">
          <a:xfrm>
            <a:off x="3575302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Create &amp; delete projects</a:t>
            </a:r>
            <a:endParaRPr sz="1000"/>
          </a:p>
        </p:txBody>
      </p:sp>
      <p:sp>
        <p:nvSpPr>
          <p:cNvPr id="1027500873" name="Shape 28"/>
          <p:cNvSpPr/>
          <p:nvPr/>
        </p:nvSpPr>
        <p:spPr bwMode="auto">
          <a:xfrm>
            <a:off x="3429000" y="3057400"/>
            <a:ext cx="91440" cy="9144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28084125" name="Text 29"/>
          <p:cNvSpPr/>
          <p:nvPr/>
        </p:nvSpPr>
        <p:spPr bwMode="auto">
          <a:xfrm>
            <a:off x="3575302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Remove &amp; assign project management</a:t>
            </a:r>
            <a:endParaRPr sz="1000"/>
          </a:p>
        </p:txBody>
      </p:sp>
      <p:sp>
        <p:nvSpPr>
          <p:cNvPr id="1528424712" name="Shape 36"/>
          <p:cNvSpPr/>
          <p:nvPr/>
        </p:nvSpPr>
        <p:spPr bwMode="auto">
          <a:xfrm>
            <a:off x="6217920" y="822960"/>
            <a:ext cx="2834639" cy="41148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101600" dist="25400" dir="8100000" sx="100000" sy="100000" kx="0" ky="0" algn="bl" rotWithShape="0">
              <a:srgbClr val="000000">
                <a:alpha val="10000"/>
              </a:srgbClr>
            </a:outerShdw>
          </a:effectLst>
        </p:spPr>
      </p:sp>
      <p:sp>
        <p:nvSpPr>
          <p:cNvPr id="1855132235" name="Shape 37"/>
          <p:cNvSpPr/>
          <p:nvPr/>
        </p:nvSpPr>
        <p:spPr bwMode="auto">
          <a:xfrm>
            <a:off x="6217920" y="822960"/>
            <a:ext cx="2834639" cy="50292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206856816" name="Shape 38"/>
          <p:cNvSpPr/>
          <p:nvPr/>
        </p:nvSpPr>
        <p:spPr bwMode="auto">
          <a:xfrm>
            <a:off x="7342632" y="1024128"/>
            <a:ext cx="585216" cy="585216"/>
          </a:xfrm>
          <a:prstGeom prst="ellipse">
            <a:avLst/>
          </a:prstGeom>
          <a:solidFill>
            <a:srgbClr val="FFFFFF"/>
          </a:solidFill>
          <a:ln w="25400">
            <a:solidFill>
              <a:srgbClr val="9333EA"/>
            </a:solidFill>
            <a:prstDash val="solid"/>
          </a:ln>
        </p:spPr>
      </p:sp>
      <p:pic>
        <p:nvPicPr>
          <p:cNvPr id="1770707744" name="Image 2" descr="preencoded.png"/>
          <p:cNvPicPr>
            <a:picLocks noChangeAspect="1"/>
          </p:cNvPicPr>
          <p:nvPr/>
        </p:nvPicPr>
        <p:blipFill rotWithShape="1">
          <a:blip r:embed="rId5"/>
          <a:stretch/>
        </p:blipFill>
        <p:spPr bwMode="auto">
          <a:xfrm>
            <a:off x="7434072" y="1115568"/>
            <a:ext cx="402336" cy="402336"/>
          </a:xfrm>
          <a:prstGeom prst="rect">
            <a:avLst/>
          </a:prstGeom>
        </p:spPr>
      </p:pic>
      <p:sp>
        <p:nvSpPr>
          <p:cNvPr id="496690762" name="Text 39"/>
          <p:cNvSpPr/>
          <p:nvPr/>
        </p:nvSpPr>
        <p:spPr bwMode="auto">
          <a:xfrm>
            <a:off x="6217920" y="1691640"/>
            <a:ext cx="2834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4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Admin</a:t>
            </a:r>
            <a:endParaRPr lang="en-US" sz="1400"/>
          </a:p>
        </p:txBody>
      </p:sp>
      <p:sp>
        <p:nvSpPr>
          <p:cNvPr id="579602599" name="Text 40"/>
          <p:cNvSpPr/>
          <p:nvPr/>
        </p:nvSpPr>
        <p:spPr bwMode="auto">
          <a:xfrm>
            <a:off x="6355080" y="1966360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  <a:defRPr/>
            </a:pPr>
            <a:r>
              <a:rPr lang="en-US" sz="100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Highest permission level. Full access including role management.</a:t>
            </a:r>
            <a:endParaRPr lang="en-US" sz="1000"/>
          </a:p>
        </p:txBody>
      </p:sp>
      <p:sp>
        <p:nvSpPr>
          <p:cNvPr id="1444879556" name="Shape 41"/>
          <p:cNvSpPr/>
          <p:nvPr/>
        </p:nvSpPr>
        <p:spPr bwMode="auto">
          <a:xfrm>
            <a:off x="6583680" y="2517069"/>
            <a:ext cx="2103120" cy="18288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</p:sp>
      <p:sp>
        <p:nvSpPr>
          <p:cNvPr id="1485808050" name="Shape 42"/>
          <p:cNvSpPr/>
          <p:nvPr/>
        </p:nvSpPr>
        <p:spPr bwMode="auto">
          <a:xfrm>
            <a:off x="6400800" y="2755648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1526286699" name="Text 43"/>
          <p:cNvSpPr/>
          <p:nvPr/>
        </p:nvSpPr>
        <p:spPr bwMode="auto">
          <a:xfrm>
            <a:off x="6547104" y="2650492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Role management</a:t>
            </a:r>
            <a:endParaRPr lang="en-US" sz="1000"/>
          </a:p>
        </p:txBody>
      </p:sp>
      <p:grpSp>
        <p:nvGrpSpPr>
          <p:cNvPr id="1810874068" name=""/>
          <p:cNvGrpSpPr/>
          <p:nvPr/>
        </p:nvGrpSpPr>
        <p:grpSpPr bwMode="auto">
          <a:xfrm>
            <a:off x="457198" y="2650492"/>
            <a:ext cx="2523744" cy="301752"/>
            <a:chOff x="0" y="0"/>
            <a:chExt cx="2523744" cy="301752"/>
          </a:xfrm>
        </p:grpSpPr>
        <p:sp>
          <p:nvSpPr>
            <p:cNvPr id="1582493543" name="Shape 8"/>
            <p:cNvSpPr/>
            <p:nvPr/>
          </p:nvSpPr>
          <p:spPr bwMode="auto">
            <a:xfrm>
              <a:off x="0" y="105154"/>
              <a:ext cx="91440" cy="91440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033496982" name="Text 9"/>
            <p:cNvSpPr/>
            <p:nvPr/>
          </p:nvSpPr>
          <p:spPr bwMode="auto">
            <a:xfrm>
              <a:off x="146304" y="0"/>
              <a:ext cx="2377440" cy="30175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0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Task management</a:t>
              </a:r>
              <a:endParaRPr lang="en-US" sz="1000"/>
            </a:p>
          </p:txBody>
        </p:sp>
      </p:grpSp>
      <p:sp>
        <p:nvSpPr>
          <p:cNvPr id="1530407485" name="Shape 18"/>
          <p:cNvSpPr/>
          <p:nvPr/>
        </p:nvSpPr>
        <p:spPr bwMode="auto">
          <a:xfrm>
            <a:off x="457200" y="4566160"/>
            <a:ext cx="91440" cy="9144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983218102" name="Text 19"/>
          <p:cNvSpPr/>
          <p:nvPr/>
        </p:nvSpPr>
        <p:spPr bwMode="auto">
          <a:xfrm>
            <a:off x="603504" y="446100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Task assignment</a:t>
            </a:r>
            <a:endParaRPr lang="en-US" sz="1000"/>
          </a:p>
        </p:txBody>
      </p:sp>
      <p:sp>
        <p:nvSpPr>
          <p:cNvPr id="195418996" name="Text 29"/>
          <p:cNvSpPr/>
          <p:nvPr/>
        </p:nvSpPr>
        <p:spPr bwMode="auto">
          <a:xfrm>
            <a:off x="6547104" y="2952244"/>
            <a:ext cx="237744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000" b="0" i="0" u="none" strike="noStrike" cap="none" spc="0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User management</a:t>
            </a:r>
            <a:endParaRPr sz="1000"/>
          </a:p>
        </p:txBody>
      </p:sp>
      <p:sp>
        <p:nvSpPr>
          <p:cNvPr id="1087350516" name="Shape 28"/>
          <p:cNvSpPr/>
          <p:nvPr/>
        </p:nvSpPr>
        <p:spPr bwMode="auto">
          <a:xfrm>
            <a:off x="6400800" y="3057400"/>
            <a:ext cx="91440" cy="91440"/>
          </a:xfrm>
          <a:prstGeom prst="ellipse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3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37452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905596500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Member</a:t>
            </a:r>
            <a:endParaRPr lang="en-US" sz="2200"/>
          </a:p>
        </p:txBody>
      </p:sp>
      <p:sp>
        <p:nvSpPr>
          <p:cNvPr id="753153369" name="Shape 4"/>
          <p:cNvSpPr/>
          <p:nvPr/>
        </p:nvSpPr>
        <p:spPr bwMode="auto">
          <a:xfrm flipH="0" flipV="0">
            <a:off x="201167" y="1112223"/>
            <a:ext cx="2194560" cy="338767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76200" dist="25400" dir="8100000" sx="100000" sy="100000" kx="0" ky="0" algn="bl" rotWithShape="0">
              <a:srgbClr val="000000">
                <a:alpha val="9000"/>
              </a:srgbClr>
            </a:outerShdw>
          </a:effectLst>
        </p:spPr>
      </p:sp>
      <p:sp>
        <p:nvSpPr>
          <p:cNvPr id="1120677527" name="Shape 5"/>
          <p:cNvSpPr/>
          <p:nvPr/>
        </p:nvSpPr>
        <p:spPr bwMode="auto">
          <a:xfrm>
            <a:off x="201167" y="1112223"/>
            <a:ext cx="2194560" cy="347472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</p:sp>
      <p:sp>
        <p:nvSpPr>
          <p:cNvPr id="1057612885" name="Text 6"/>
          <p:cNvSpPr/>
          <p:nvPr/>
        </p:nvSpPr>
        <p:spPr bwMode="auto">
          <a:xfrm>
            <a:off x="320766" y="1112223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de-DE" sz="1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Task Management</a:t>
            </a:r>
            <a:endParaRPr lang="en-US" sz="1100"/>
          </a:p>
        </p:txBody>
      </p:sp>
      <p:grpSp>
        <p:nvGrpSpPr>
          <p:cNvPr id="2028416445" name=""/>
          <p:cNvGrpSpPr/>
          <p:nvPr/>
        </p:nvGrpSpPr>
        <p:grpSpPr bwMode="auto">
          <a:xfrm>
            <a:off x="4198316" y="3953377"/>
            <a:ext cx="1051560" cy="896112"/>
            <a:chOff x="0" y="0"/>
            <a:chExt cx="1051560" cy="896112"/>
          </a:xfrm>
        </p:grpSpPr>
        <p:sp>
          <p:nvSpPr>
            <p:cNvPr id="333009385" name="Shape 2"/>
            <p:cNvSpPr/>
            <p:nvPr/>
          </p:nvSpPr>
          <p:spPr bwMode="auto">
            <a:xfrm>
              <a:off x="228600" y="0"/>
              <a:ext cx="594360" cy="594360"/>
            </a:xfrm>
            <a:prstGeom prst="ellipse">
              <a:avLst/>
            </a:prstGeom>
            <a:solidFill>
              <a:srgbClr val="EFF6FF"/>
            </a:solidFill>
            <a:ln w="25400">
              <a:solidFill>
                <a:srgbClr val="3B82F6"/>
              </a:solidFill>
              <a:prstDash val="solid"/>
            </a:ln>
          </p:spPr>
        </p:sp>
        <p:pic>
          <p:nvPicPr>
            <p:cNvPr id="1278296530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320039" y="91439"/>
              <a:ext cx="411480" cy="411480"/>
            </a:xfrm>
            <a:prstGeom prst="rect">
              <a:avLst/>
            </a:prstGeom>
          </p:spPr>
        </p:pic>
        <p:sp>
          <p:nvSpPr>
            <p:cNvPr id="1950202597" name="Text 3"/>
            <p:cNvSpPr/>
            <p:nvPr/>
          </p:nvSpPr>
          <p:spPr bwMode="auto">
            <a:xfrm>
              <a:off x="0" y="621792"/>
              <a:ext cx="105156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3B82F6"/>
                  </a:solidFill>
                  <a:latin typeface="Calibri"/>
                  <a:ea typeface="Calibri"/>
                  <a:cs typeface="Calibri"/>
                </a:rPr>
                <a:t>Project Member</a:t>
              </a:r>
              <a:endParaRPr lang="en-US" sz="900"/>
            </a:p>
          </p:txBody>
        </p:sp>
      </p:grpSp>
      <p:grpSp>
        <p:nvGrpSpPr>
          <p:cNvPr id="1043956862" name=""/>
          <p:cNvGrpSpPr/>
          <p:nvPr/>
        </p:nvGrpSpPr>
        <p:grpSpPr bwMode="auto">
          <a:xfrm>
            <a:off x="6712089" y="3855900"/>
            <a:ext cx="2194560" cy="1033272"/>
            <a:chOff x="0" y="0"/>
            <a:chExt cx="2194560" cy="1033272"/>
          </a:xfrm>
        </p:grpSpPr>
        <p:sp>
          <p:nvSpPr>
            <p:cNvPr id="1325356072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8574776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54796387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Authentication</a:t>
              </a:r>
              <a:endParaRPr lang="en-US" sz="1100"/>
            </a:p>
          </p:txBody>
        </p:sp>
        <p:sp>
          <p:nvSpPr>
            <p:cNvPr id="598242526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95696213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Login</a:t>
              </a:r>
              <a:endParaRPr lang="en-US" sz="1100"/>
            </a:p>
          </p:txBody>
        </p:sp>
        <p:sp>
          <p:nvSpPr>
            <p:cNvPr id="2095771585" name="Shape 19"/>
            <p:cNvSpPr/>
            <p:nvPr/>
          </p:nvSpPr>
          <p:spPr bwMode="auto">
            <a:xfrm>
              <a:off x="165857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597641910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Sign Up</a:t>
              </a:r>
              <a:endParaRPr lang="en-US" sz="1100"/>
            </a:p>
          </p:txBody>
        </p:sp>
      </p:grpSp>
      <p:grpSp>
        <p:nvGrpSpPr>
          <p:cNvPr id="1766865330" name=""/>
          <p:cNvGrpSpPr/>
          <p:nvPr/>
        </p:nvGrpSpPr>
        <p:grpSpPr bwMode="auto">
          <a:xfrm>
            <a:off x="6711695" y="2715718"/>
            <a:ext cx="2194560" cy="845818"/>
            <a:chOff x="0" y="0"/>
            <a:chExt cx="2194560" cy="845818"/>
          </a:xfrm>
        </p:grpSpPr>
        <p:sp>
          <p:nvSpPr>
            <p:cNvPr id="119642444" name="Shape 14"/>
            <p:cNvSpPr/>
            <p:nvPr/>
          </p:nvSpPr>
          <p:spPr bwMode="auto">
            <a:xfrm flipH="0" flipV="0">
              <a:off x="0" y="0"/>
              <a:ext cx="2194560" cy="84581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26173900" name="Shape 15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88732234" name="Text 16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Dashboard</a:t>
              </a:r>
              <a:endParaRPr lang="en-US" sz="1100"/>
            </a:p>
          </p:txBody>
        </p:sp>
        <p:sp>
          <p:nvSpPr>
            <p:cNvPr id="564849534" name="Shape 17"/>
            <p:cNvSpPr/>
            <p:nvPr/>
          </p:nvSpPr>
          <p:spPr bwMode="auto">
            <a:xfrm>
              <a:off x="165857" y="498346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31079656" name="Text 18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Open dashboard</a:t>
              </a:r>
              <a:endParaRPr lang="en-US" sz="1100"/>
            </a:p>
          </p:txBody>
        </p:sp>
      </p:grpSp>
      <p:grpSp>
        <p:nvGrpSpPr>
          <p:cNvPr id="602103311" name=""/>
          <p:cNvGrpSpPr/>
          <p:nvPr/>
        </p:nvGrpSpPr>
        <p:grpSpPr bwMode="auto">
          <a:xfrm>
            <a:off x="6713940" y="1031467"/>
            <a:ext cx="2194560" cy="1389887"/>
            <a:chOff x="0" y="0"/>
            <a:chExt cx="2194560" cy="1389887"/>
          </a:xfrm>
        </p:grpSpPr>
        <p:sp>
          <p:nvSpPr>
            <p:cNvPr id="1291783675" name="Shape 18"/>
            <p:cNvSpPr/>
            <p:nvPr/>
          </p:nvSpPr>
          <p:spPr bwMode="auto">
            <a:xfrm>
              <a:off x="0" y="0"/>
              <a:ext cx="2194560" cy="1389888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280942065" name="Shape 19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418197628" name="Text 20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Comments</a:t>
              </a:r>
              <a:endParaRPr lang="en-US" sz="1100"/>
            </a:p>
          </p:txBody>
        </p:sp>
        <p:sp>
          <p:nvSpPr>
            <p:cNvPr id="850082460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656508617" name="Text 22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03370260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36570075" name="Text 24"/>
            <p:cNvSpPr/>
            <p:nvPr/>
          </p:nvSpPr>
          <p:spPr bwMode="auto">
            <a:xfrm>
              <a:off x="301752" y="67665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093327027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61639373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1664359303" name=""/>
          <p:cNvGrpSpPr/>
          <p:nvPr/>
        </p:nvGrpSpPr>
        <p:grpSpPr bwMode="auto">
          <a:xfrm>
            <a:off x="3474720" y="1032224"/>
            <a:ext cx="2194560" cy="1389887"/>
            <a:chOff x="0" y="0"/>
            <a:chExt cx="2194560" cy="1389887"/>
          </a:xfrm>
        </p:grpSpPr>
        <p:sp>
          <p:nvSpPr>
            <p:cNvPr id="387107994" name="Shape 18"/>
            <p:cNvSpPr/>
            <p:nvPr/>
          </p:nvSpPr>
          <p:spPr bwMode="auto">
            <a:xfrm>
              <a:off x="0" y="0"/>
              <a:ext cx="2194560" cy="1389887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30993653" name="Shape 19"/>
            <p:cNvSpPr/>
            <p:nvPr/>
          </p:nvSpPr>
          <p:spPr bwMode="auto">
            <a:xfrm>
              <a:off x="0" y="0"/>
              <a:ext cx="2194560" cy="347471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373092046" name="Text 20"/>
            <p:cNvSpPr/>
            <p:nvPr/>
          </p:nvSpPr>
          <p:spPr bwMode="auto">
            <a:xfrm>
              <a:off x="118469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Epics</a:t>
              </a:r>
              <a:endParaRPr lang="en-US" sz="1100"/>
            </a:p>
          </p:txBody>
        </p:sp>
        <p:sp>
          <p:nvSpPr>
            <p:cNvPr id="1714006904" name="Shape 21"/>
            <p:cNvSpPr/>
            <p:nvPr/>
          </p:nvSpPr>
          <p:spPr bwMode="auto">
            <a:xfrm>
              <a:off x="164592" y="49834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35987731" name="Text 22"/>
            <p:cNvSpPr/>
            <p:nvPr/>
          </p:nvSpPr>
          <p:spPr bwMode="auto">
            <a:xfrm>
              <a:off x="301752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  <p:sp>
          <p:nvSpPr>
            <p:cNvPr id="1454558902" name="Shape 23"/>
            <p:cNvSpPr/>
            <p:nvPr/>
          </p:nvSpPr>
          <p:spPr bwMode="auto">
            <a:xfrm>
              <a:off x="164592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166237871" name="Text 24"/>
            <p:cNvSpPr/>
            <p:nvPr/>
          </p:nvSpPr>
          <p:spPr bwMode="auto">
            <a:xfrm>
              <a:off x="301752" y="67665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  <p:sp>
          <p:nvSpPr>
            <p:cNvPr id="1347959490" name="Shape 25"/>
            <p:cNvSpPr/>
            <p:nvPr/>
          </p:nvSpPr>
          <p:spPr bwMode="auto">
            <a:xfrm>
              <a:off x="164592" y="104698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63994561" name="Text 26"/>
            <p:cNvSpPr/>
            <p:nvPr/>
          </p:nvSpPr>
          <p:spPr bwMode="auto">
            <a:xfrm>
              <a:off x="301752" y="95097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sp>
        <p:nvSpPr>
          <p:cNvPr id="60019720" name="Text 16"/>
          <p:cNvSpPr/>
          <p:nvPr/>
        </p:nvSpPr>
        <p:spPr bwMode="auto">
          <a:xfrm>
            <a:off x="502920" y="3792007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endParaRPr lang="en-US" sz="1100"/>
          </a:p>
        </p:txBody>
      </p:sp>
      <p:grpSp>
        <p:nvGrpSpPr>
          <p:cNvPr id="382523036" name=""/>
          <p:cNvGrpSpPr/>
          <p:nvPr/>
        </p:nvGrpSpPr>
        <p:grpSpPr bwMode="auto">
          <a:xfrm>
            <a:off x="365759" y="1514559"/>
            <a:ext cx="1965960" cy="274319"/>
            <a:chOff x="0" y="0"/>
            <a:chExt cx="1965960" cy="274319"/>
          </a:xfrm>
        </p:grpSpPr>
        <p:sp>
          <p:nvSpPr>
            <p:cNvPr id="1930660542" name="Shape 7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47081096" name="Text 8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</a:t>
              </a:r>
              <a:endParaRPr lang="en-US" sz="1100"/>
            </a:p>
          </p:txBody>
        </p:sp>
      </p:grpSp>
      <p:grpSp>
        <p:nvGrpSpPr>
          <p:cNvPr id="1095896344" name=""/>
          <p:cNvGrpSpPr/>
          <p:nvPr/>
        </p:nvGrpSpPr>
        <p:grpSpPr bwMode="auto">
          <a:xfrm>
            <a:off x="366453" y="1802648"/>
            <a:ext cx="1965960" cy="274319"/>
            <a:chOff x="0" y="0"/>
            <a:chExt cx="1965960" cy="274319"/>
          </a:xfrm>
        </p:grpSpPr>
        <p:sp>
          <p:nvSpPr>
            <p:cNvPr id="549664658" name="Shape 9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800017141" name="Text 10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Edit</a:t>
              </a:r>
              <a:endParaRPr lang="en-US" sz="1100"/>
            </a:p>
          </p:txBody>
        </p:sp>
      </p:grpSp>
      <p:grpSp>
        <p:nvGrpSpPr>
          <p:cNvPr id="2076596407" name=""/>
          <p:cNvGrpSpPr/>
          <p:nvPr/>
        </p:nvGrpSpPr>
        <p:grpSpPr bwMode="auto">
          <a:xfrm>
            <a:off x="367146" y="2090736"/>
            <a:ext cx="1965960" cy="274320"/>
            <a:chOff x="0" y="0"/>
            <a:chExt cx="1965960" cy="274320"/>
          </a:xfrm>
        </p:grpSpPr>
        <p:sp>
          <p:nvSpPr>
            <p:cNvPr id="1510410736" name="Shape 11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851490425" name="Text 12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</a:t>
              </a:r>
              <a:endParaRPr lang="en-US" sz="1100"/>
            </a:p>
          </p:txBody>
        </p:sp>
      </p:grpSp>
      <p:grpSp>
        <p:nvGrpSpPr>
          <p:cNvPr id="713209664" name=""/>
          <p:cNvGrpSpPr/>
          <p:nvPr/>
        </p:nvGrpSpPr>
        <p:grpSpPr bwMode="auto">
          <a:xfrm>
            <a:off x="367839" y="2378826"/>
            <a:ext cx="1965960" cy="274320"/>
            <a:chOff x="0" y="0"/>
            <a:chExt cx="1965960" cy="274320"/>
          </a:xfrm>
        </p:grpSpPr>
        <p:sp>
          <p:nvSpPr>
            <p:cNvPr id="530412973" name="Shape 13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32197281" name="Text 14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status</a:t>
              </a:r>
              <a:endParaRPr lang="en-US" sz="1100"/>
            </a:p>
          </p:txBody>
        </p:sp>
      </p:grpSp>
      <p:grpSp>
        <p:nvGrpSpPr>
          <p:cNvPr id="130355326" name=""/>
          <p:cNvGrpSpPr/>
          <p:nvPr/>
        </p:nvGrpSpPr>
        <p:grpSpPr bwMode="auto">
          <a:xfrm>
            <a:off x="368533" y="2666915"/>
            <a:ext cx="1965960" cy="274320"/>
            <a:chOff x="0" y="0"/>
            <a:chExt cx="1965960" cy="274320"/>
          </a:xfrm>
        </p:grpSpPr>
        <p:sp>
          <p:nvSpPr>
            <p:cNvPr id="468185029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04951449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priority</a:t>
              </a:r>
              <a:endParaRPr lang="en-US" sz="1100"/>
            </a:p>
          </p:txBody>
        </p:sp>
      </p:grpSp>
      <p:grpSp>
        <p:nvGrpSpPr>
          <p:cNvPr id="404431465" name=""/>
          <p:cNvGrpSpPr/>
          <p:nvPr/>
        </p:nvGrpSpPr>
        <p:grpSpPr bwMode="auto">
          <a:xfrm>
            <a:off x="369226" y="2955004"/>
            <a:ext cx="1965960" cy="274320"/>
            <a:chOff x="0" y="0"/>
            <a:chExt cx="1965960" cy="274320"/>
          </a:xfrm>
        </p:grpSpPr>
        <p:sp>
          <p:nvSpPr>
            <p:cNvPr id="1273286600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445505804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project member</a:t>
              </a:r>
              <a:endParaRPr lang="en-US" sz="1100"/>
            </a:p>
          </p:txBody>
        </p:sp>
      </p:grpSp>
      <p:grpSp>
        <p:nvGrpSpPr>
          <p:cNvPr id="728931045" name=""/>
          <p:cNvGrpSpPr/>
          <p:nvPr/>
        </p:nvGrpSpPr>
        <p:grpSpPr bwMode="auto">
          <a:xfrm>
            <a:off x="369919" y="3243093"/>
            <a:ext cx="1965960" cy="274320"/>
            <a:chOff x="0" y="0"/>
            <a:chExt cx="1965960" cy="274320"/>
          </a:xfrm>
        </p:grpSpPr>
        <p:sp>
          <p:nvSpPr>
            <p:cNvPr id="1682840374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2121127150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epic</a:t>
              </a:r>
              <a:endParaRPr lang="en-US" sz="1100"/>
            </a:p>
          </p:txBody>
        </p:sp>
      </p:grpSp>
      <p:grpSp>
        <p:nvGrpSpPr>
          <p:cNvPr id="192485265" name=""/>
          <p:cNvGrpSpPr/>
          <p:nvPr/>
        </p:nvGrpSpPr>
        <p:grpSpPr bwMode="auto">
          <a:xfrm>
            <a:off x="370613" y="3531182"/>
            <a:ext cx="1965960" cy="274320"/>
            <a:chOff x="0" y="0"/>
            <a:chExt cx="1965960" cy="274320"/>
          </a:xfrm>
        </p:grpSpPr>
        <p:sp>
          <p:nvSpPr>
            <p:cNvPr id="1302567565" name="Text 16"/>
            <p:cNvSpPr/>
            <p:nvPr/>
          </p:nvSpPr>
          <p:spPr bwMode="auto">
            <a:xfrm>
              <a:off x="137160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Manage comments</a:t>
              </a:r>
              <a:endParaRPr lang="en-US" sz="1100"/>
            </a:p>
          </p:txBody>
        </p:sp>
        <p:sp>
          <p:nvSpPr>
            <p:cNvPr id="2072570595" name="Shape 15"/>
            <p:cNvSpPr/>
            <p:nvPr/>
          </p:nvSpPr>
          <p:spPr bwMode="auto">
            <a:xfrm>
              <a:off x="0" y="96012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101512939" name=""/>
          <p:cNvGrpSpPr/>
          <p:nvPr/>
        </p:nvGrpSpPr>
        <p:grpSpPr bwMode="auto">
          <a:xfrm>
            <a:off x="371306" y="3819271"/>
            <a:ext cx="1965960" cy="274320"/>
            <a:chOff x="0" y="0"/>
            <a:chExt cx="1965960" cy="274320"/>
          </a:xfrm>
        </p:grpSpPr>
        <p:sp>
          <p:nvSpPr>
            <p:cNvPr id="1214984347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Search tasks</a:t>
              </a:r>
              <a:endParaRPr lang="en-US" sz="1100"/>
            </a:p>
          </p:txBody>
        </p:sp>
        <p:sp>
          <p:nvSpPr>
            <p:cNvPr id="662735520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grpSp>
        <p:nvGrpSpPr>
          <p:cNvPr id="389953627" name=""/>
          <p:cNvGrpSpPr/>
          <p:nvPr/>
        </p:nvGrpSpPr>
        <p:grpSpPr bwMode="auto">
          <a:xfrm>
            <a:off x="371999" y="4107360"/>
            <a:ext cx="1965960" cy="274319"/>
            <a:chOff x="0" y="0"/>
            <a:chExt cx="1965960" cy="274319"/>
          </a:xfrm>
        </p:grpSpPr>
        <p:sp>
          <p:nvSpPr>
            <p:cNvPr id="1875110692" name="Text 16"/>
            <p:cNvSpPr/>
            <p:nvPr/>
          </p:nvSpPr>
          <p:spPr bwMode="auto">
            <a:xfrm>
              <a:off x="137159" y="0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Filter tasks</a:t>
              </a:r>
              <a:endParaRPr lang="en-US" sz="1100"/>
            </a:p>
          </p:txBody>
        </p:sp>
        <p:sp>
          <p:nvSpPr>
            <p:cNvPr id="2041602587" name="Shape 15"/>
            <p:cNvSpPr/>
            <p:nvPr/>
          </p:nvSpPr>
          <p:spPr bwMode="auto">
            <a:xfrm>
              <a:off x="0" y="96011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</p:grpSp>
      <p:sp>
        <p:nvSpPr>
          <p:cNvPr id="1274897343" name="Shape 29"/>
          <p:cNvSpPr/>
          <p:nvPr/>
        </p:nvSpPr>
        <p:spPr bwMode="auto">
          <a:xfrm flipH="0" flipV="0">
            <a:off x="5057276" y="4285668"/>
            <a:ext cx="1654419" cy="1508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970153979" name="Shape 29"/>
          <p:cNvSpPr/>
          <p:nvPr/>
        </p:nvSpPr>
        <p:spPr bwMode="auto">
          <a:xfrm flipH="0" flipV="1">
            <a:off x="4915111" y="1804891"/>
            <a:ext cx="1796977" cy="21242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924895091" name="Shape 29"/>
          <p:cNvSpPr/>
          <p:nvPr/>
        </p:nvSpPr>
        <p:spPr bwMode="auto">
          <a:xfrm flipH="0" flipV="0">
            <a:off x="2395728" y="2879168"/>
            <a:ext cx="2036025" cy="1150468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295250131" name="Shape 29"/>
          <p:cNvSpPr/>
          <p:nvPr/>
        </p:nvSpPr>
        <p:spPr bwMode="auto">
          <a:xfrm flipH="1" flipV="0">
            <a:off x="5057276" y="3139006"/>
            <a:ext cx="1654813" cy="890629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sp>
        <p:nvSpPr>
          <p:cNvPr id="1425310887" name="Shape 29"/>
          <p:cNvSpPr/>
          <p:nvPr/>
        </p:nvSpPr>
        <p:spPr bwMode="auto">
          <a:xfrm flipH="0" flipV="0">
            <a:off x="4722875" y="2422112"/>
            <a:ext cx="0" cy="1433787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4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2398206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413069466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Project Manager</a:t>
            </a:r>
            <a:endParaRPr lang="en-US" sz="2200"/>
          </a:p>
        </p:txBody>
      </p:sp>
      <p:sp>
        <p:nvSpPr>
          <p:cNvPr id="986132724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FF7ED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622339369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F97316"/>
                </a:solidFill>
                <a:latin typeface="Calibri"/>
                <a:ea typeface="Calibri"/>
                <a:cs typeface="Calibri"/>
              </a:rPr>
              <a:t>⬆  Includes all Project Member use cases</a:t>
            </a:r>
            <a:endParaRPr lang="en-US" sz="1000"/>
          </a:p>
        </p:txBody>
      </p:sp>
      <p:sp>
        <p:nvSpPr>
          <p:cNvPr id="2067364522" name="Shape 29"/>
          <p:cNvSpPr/>
          <p:nvPr/>
        </p:nvSpPr>
        <p:spPr bwMode="auto">
          <a:xfrm flipH="0" flipV="1">
            <a:off x="4867723" y="2699034"/>
            <a:ext cx="2313068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1272209418" name=""/>
          <p:cNvGrpSpPr/>
          <p:nvPr/>
        </p:nvGrpSpPr>
        <p:grpSpPr bwMode="auto">
          <a:xfrm>
            <a:off x="4091940" y="3573768"/>
            <a:ext cx="960120" cy="896111"/>
            <a:chOff x="0" y="0"/>
            <a:chExt cx="960120" cy="896111"/>
          </a:xfrm>
        </p:grpSpPr>
        <p:sp>
          <p:nvSpPr>
            <p:cNvPr id="1338645073" name="Shape 4"/>
            <p:cNvSpPr/>
            <p:nvPr/>
          </p:nvSpPr>
          <p:spPr bwMode="auto">
            <a:xfrm>
              <a:off x="182880" y="0"/>
              <a:ext cx="594360" cy="594360"/>
            </a:xfrm>
            <a:prstGeom prst="ellipse">
              <a:avLst/>
            </a:prstGeom>
            <a:solidFill>
              <a:srgbClr val="FFF7ED"/>
            </a:solidFill>
            <a:ln w="25400">
              <a:solidFill>
                <a:srgbClr val="F97316"/>
              </a:solidFill>
              <a:prstDash val="solid"/>
            </a:ln>
          </p:spPr>
        </p:sp>
        <p:pic>
          <p:nvPicPr>
            <p:cNvPr id="889206525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274320" y="91439"/>
              <a:ext cx="411480" cy="411480"/>
            </a:xfrm>
            <a:prstGeom prst="rect">
              <a:avLst/>
            </a:prstGeom>
          </p:spPr>
        </p:pic>
        <p:sp>
          <p:nvSpPr>
            <p:cNvPr id="372029419" name="Text 5"/>
            <p:cNvSpPr/>
            <p:nvPr/>
          </p:nvSpPr>
          <p:spPr bwMode="auto">
            <a:xfrm>
              <a:off x="0" y="621791"/>
              <a:ext cx="96012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F97316"/>
                  </a:solidFill>
                  <a:latin typeface="Calibri"/>
                  <a:ea typeface="Calibri"/>
                  <a:cs typeface="Calibri"/>
                </a:rPr>
                <a:t>Project Manager</a:t>
              </a:r>
              <a:endParaRPr lang="en-US" sz="900"/>
            </a:p>
          </p:txBody>
        </p:sp>
      </p:grpSp>
      <p:grpSp>
        <p:nvGrpSpPr>
          <p:cNvPr id="966734658" name=""/>
          <p:cNvGrpSpPr/>
          <p:nvPr/>
        </p:nvGrpSpPr>
        <p:grpSpPr bwMode="auto">
          <a:xfrm>
            <a:off x="6005583" y="1653388"/>
            <a:ext cx="2194559" cy="1033272"/>
            <a:chOff x="0" y="0"/>
            <a:chExt cx="2194559" cy="1033272"/>
          </a:xfrm>
        </p:grpSpPr>
        <p:sp>
          <p:nvSpPr>
            <p:cNvPr id="1125833184" name="Shape 14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862933267" name="Shape 15"/>
            <p:cNvSpPr/>
            <p:nvPr/>
          </p:nvSpPr>
          <p:spPr bwMode="auto">
            <a:xfrm>
              <a:off x="0" y="0"/>
              <a:ext cx="2194560" cy="347472"/>
            </a:xfrm>
            <a:prstGeom prst="rect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080850083" name="Text 16"/>
            <p:cNvSpPr/>
            <p:nvPr/>
          </p:nvSpPr>
          <p:spPr bwMode="auto">
            <a:xfrm>
              <a:off x="118469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 </a:t>
              </a: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Members</a:t>
              </a:r>
              <a:endParaRPr lang="en-US" sz="1100"/>
            </a:p>
          </p:txBody>
        </p:sp>
        <p:sp>
          <p:nvSpPr>
            <p:cNvPr id="1034649681" name="Shape 17"/>
            <p:cNvSpPr/>
            <p:nvPr/>
          </p:nvSpPr>
          <p:spPr bwMode="auto">
            <a:xfrm>
              <a:off x="165858" y="498347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730646817" name="Text 18"/>
            <p:cNvSpPr/>
            <p:nvPr/>
          </p:nvSpPr>
          <p:spPr bwMode="auto">
            <a:xfrm>
              <a:off x="301752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Assign member</a:t>
              </a:r>
              <a:endParaRPr lang="en-US" sz="1100"/>
            </a:p>
          </p:txBody>
        </p:sp>
        <p:sp>
          <p:nvSpPr>
            <p:cNvPr id="1812917473" name="Shape 19"/>
            <p:cNvSpPr/>
            <p:nvPr/>
          </p:nvSpPr>
          <p:spPr bwMode="auto">
            <a:xfrm>
              <a:off x="165858" y="772668"/>
              <a:ext cx="82296" cy="82296"/>
            </a:xfrm>
            <a:prstGeom prst="ellipse">
              <a:avLst/>
            </a:prstGeom>
            <a:solidFill>
              <a:srgbClr val="3B82F6"/>
            </a:solidFill>
            <a:ln w="12700">
              <a:solidFill>
                <a:srgbClr val="3B82F6"/>
              </a:solidFill>
              <a:prstDash val="solid"/>
            </a:ln>
          </p:spPr>
        </p:sp>
        <p:sp>
          <p:nvSpPr>
            <p:cNvPr id="171075944" name="Text 20"/>
            <p:cNvSpPr/>
            <p:nvPr/>
          </p:nvSpPr>
          <p:spPr bwMode="auto">
            <a:xfrm>
              <a:off x="301752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Remove member</a:t>
              </a:r>
              <a:endParaRPr lang="en-US" sz="1100"/>
            </a:p>
          </p:txBody>
        </p:sp>
      </p:grpSp>
      <p:sp>
        <p:nvSpPr>
          <p:cNvPr id="840761609" name="Shape 29"/>
          <p:cNvSpPr/>
          <p:nvPr/>
        </p:nvSpPr>
        <p:spPr bwMode="auto">
          <a:xfrm flipH="0" flipV="0">
            <a:off x="1868059" y="2699034"/>
            <a:ext cx="2416790" cy="1066151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2083964868" name=""/>
          <p:cNvGrpSpPr/>
          <p:nvPr/>
        </p:nvGrpSpPr>
        <p:grpSpPr bwMode="auto">
          <a:xfrm>
            <a:off x="838920" y="1648649"/>
            <a:ext cx="2199298" cy="1033272"/>
            <a:chOff x="0" y="0"/>
            <a:chExt cx="2199298" cy="1033272"/>
          </a:xfrm>
        </p:grpSpPr>
        <p:sp>
          <p:nvSpPr>
            <p:cNvPr id="126102909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765204893" name="Shape 7"/>
            <p:cNvSpPr/>
            <p:nvPr/>
          </p:nvSpPr>
          <p:spPr bwMode="auto">
            <a:xfrm>
              <a:off x="4738" y="0"/>
              <a:ext cx="2194560" cy="347472"/>
            </a:xfrm>
            <a:prstGeom prst="rect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83158466" name="Text 8"/>
            <p:cNvSpPr/>
            <p:nvPr/>
          </p:nvSpPr>
          <p:spPr bwMode="auto">
            <a:xfrm>
              <a:off x="123208" y="0"/>
              <a:ext cx="1783080" cy="347472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Projects</a:t>
              </a:r>
              <a:endParaRPr lang="en-US" sz="1100"/>
            </a:p>
          </p:txBody>
        </p:sp>
        <p:sp>
          <p:nvSpPr>
            <p:cNvPr id="454399619" name="Shape 9"/>
            <p:cNvSpPr/>
            <p:nvPr/>
          </p:nvSpPr>
          <p:spPr bwMode="auto">
            <a:xfrm>
              <a:off x="170596" y="498347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606694358" name="Text 10"/>
            <p:cNvSpPr/>
            <p:nvPr/>
          </p:nvSpPr>
          <p:spPr bwMode="auto">
            <a:xfrm>
              <a:off x="306490" y="402335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project</a:t>
              </a:r>
              <a:endParaRPr lang="en-US" sz="1100"/>
            </a:p>
          </p:txBody>
        </p:sp>
        <p:sp>
          <p:nvSpPr>
            <p:cNvPr id="1628612922" name="Shape 11"/>
            <p:cNvSpPr/>
            <p:nvPr/>
          </p:nvSpPr>
          <p:spPr bwMode="auto">
            <a:xfrm>
              <a:off x="169330" y="772668"/>
              <a:ext cx="82296" cy="82296"/>
            </a:xfrm>
            <a:prstGeom prst="ellipse">
              <a:avLst/>
            </a:prstGeom>
            <a:solidFill>
              <a:srgbClr val="F97316"/>
            </a:solidFill>
            <a:ln w="12700">
              <a:solidFill>
                <a:srgbClr val="F97316"/>
              </a:solidFill>
              <a:prstDash val="solid"/>
            </a:ln>
          </p:spPr>
        </p:sp>
        <p:sp>
          <p:nvSpPr>
            <p:cNvPr id="32523337" name="Text 12"/>
            <p:cNvSpPr/>
            <p:nvPr/>
          </p:nvSpPr>
          <p:spPr bwMode="auto">
            <a:xfrm>
              <a:off x="306490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project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Slide 5">
    <p:bg>
      <p:bgPr shadeToTitle="0">
        <a:solidFill>
          <a:srgbClr val="F8FAFC"/>
        </a:solid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8650791" name="Shape 0"/>
          <p:cNvSpPr/>
          <p:nvPr/>
        </p:nvSpPr>
        <p:spPr bwMode="auto">
          <a:xfrm>
            <a:off x="0" y="0"/>
            <a:ext cx="9144000" cy="685800"/>
          </a:xfrm>
          <a:prstGeom prst="rect">
            <a:avLst/>
          </a:prstGeom>
          <a:solidFill>
            <a:srgbClr val="9333EA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621428687" name="Text 1"/>
          <p:cNvSpPr/>
          <p:nvPr/>
        </p:nvSpPr>
        <p:spPr bwMode="auto">
          <a:xfrm>
            <a:off x="365760" y="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2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Use Case – Admin</a:t>
            </a:r>
            <a:endParaRPr lang="en-US" sz="2200"/>
          </a:p>
        </p:txBody>
      </p:sp>
      <p:sp>
        <p:nvSpPr>
          <p:cNvPr id="713825178" name="Shape 2"/>
          <p:cNvSpPr/>
          <p:nvPr/>
        </p:nvSpPr>
        <p:spPr bwMode="auto">
          <a:xfrm>
            <a:off x="274320" y="749808"/>
            <a:ext cx="8595360" cy="246888"/>
          </a:xfrm>
          <a:prstGeom prst="rect">
            <a:avLst/>
          </a:prstGeom>
          <a:solidFill>
            <a:srgbClr val="FAF5FF"/>
          </a:solidFill>
          <a:ln w="12700">
            <a:solidFill>
              <a:srgbClr val="9333EA"/>
            </a:solidFill>
            <a:prstDash val="solid"/>
          </a:ln>
        </p:spPr>
      </p:sp>
      <p:sp>
        <p:nvSpPr>
          <p:cNvPr id="2140194647" name="Text 3"/>
          <p:cNvSpPr/>
          <p:nvPr/>
        </p:nvSpPr>
        <p:spPr bwMode="auto">
          <a:xfrm>
            <a:off x="411480" y="749808"/>
            <a:ext cx="84124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  <a:defRPr/>
            </a:pPr>
            <a:r>
              <a:rPr lang="en-US" sz="1000" b="1">
                <a:solidFill>
                  <a:srgbClr val="9333EA"/>
                </a:solidFill>
                <a:latin typeface="Calibri"/>
                <a:ea typeface="Calibri"/>
                <a:cs typeface="Calibri"/>
              </a:rPr>
              <a:t>⬆  Includes all Project Manager &amp; Member use cases</a:t>
            </a:r>
            <a:endParaRPr lang="en-US" sz="1000"/>
          </a:p>
        </p:txBody>
      </p:sp>
      <p:grpSp>
        <p:nvGrpSpPr>
          <p:cNvPr id="514072402" name=""/>
          <p:cNvGrpSpPr/>
          <p:nvPr/>
        </p:nvGrpSpPr>
        <p:grpSpPr bwMode="auto">
          <a:xfrm>
            <a:off x="4229100" y="3474253"/>
            <a:ext cx="685800" cy="896111"/>
            <a:chOff x="0" y="0"/>
            <a:chExt cx="685800" cy="896111"/>
          </a:xfrm>
        </p:grpSpPr>
        <p:sp>
          <p:nvSpPr>
            <p:cNvPr id="2131607583" name="Shape 4"/>
            <p:cNvSpPr/>
            <p:nvPr/>
          </p:nvSpPr>
          <p:spPr bwMode="auto">
            <a:xfrm>
              <a:off x="45719" y="0"/>
              <a:ext cx="594360" cy="594360"/>
            </a:xfrm>
            <a:prstGeom prst="ellipse">
              <a:avLst/>
            </a:prstGeom>
            <a:solidFill>
              <a:srgbClr val="FAF5FF"/>
            </a:solidFill>
            <a:ln w="25400">
              <a:solidFill>
                <a:srgbClr val="9333EA"/>
              </a:solidFill>
              <a:prstDash val="solid"/>
            </a:ln>
          </p:spPr>
        </p:sp>
        <p:pic>
          <p:nvPicPr>
            <p:cNvPr id="617636203" name="Image 0" descr="preencoded.png"/>
            <p:cNvPicPr>
              <a:picLocks noChangeAspect="1"/>
            </p:cNvPicPr>
            <p:nvPr/>
          </p:nvPicPr>
          <p:blipFill rotWithShape="1">
            <a:blip r:embed="rId3"/>
            <a:stretch/>
          </p:blipFill>
          <p:spPr bwMode="auto">
            <a:xfrm>
              <a:off x="137160" y="91439"/>
              <a:ext cx="411480" cy="411480"/>
            </a:xfrm>
            <a:prstGeom prst="rect">
              <a:avLst/>
            </a:prstGeom>
          </p:spPr>
        </p:pic>
        <p:sp>
          <p:nvSpPr>
            <p:cNvPr id="289418284" name="Text 5"/>
            <p:cNvSpPr/>
            <p:nvPr/>
          </p:nvSpPr>
          <p:spPr bwMode="auto">
            <a:xfrm>
              <a:off x="0" y="621791"/>
              <a:ext cx="685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 algn="ctr">
                <a:buNone/>
                <a:defRPr/>
              </a:pPr>
              <a:r>
                <a:rPr lang="en-US" sz="900" b="1">
                  <a:solidFill>
                    <a:srgbClr val="9333EA"/>
                  </a:solidFill>
                  <a:latin typeface="Calibri"/>
                  <a:ea typeface="Calibri"/>
                  <a:cs typeface="Calibri"/>
                </a:rPr>
                <a:t>Admin</a:t>
              </a:r>
              <a:endParaRPr lang="en-US" sz="900"/>
            </a:p>
          </p:txBody>
        </p:sp>
      </p:grpSp>
      <p:sp>
        <p:nvSpPr>
          <p:cNvPr id="974258352" name="Shape 29"/>
          <p:cNvSpPr/>
          <p:nvPr/>
        </p:nvSpPr>
        <p:spPr bwMode="auto">
          <a:xfrm flipH="0" flipV="0">
            <a:off x="2370372" y="2419365"/>
            <a:ext cx="1914475" cy="1222610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1826834349" name=""/>
          <p:cNvGrpSpPr/>
          <p:nvPr/>
        </p:nvGrpSpPr>
        <p:grpSpPr bwMode="auto">
          <a:xfrm>
            <a:off x="5693883" y="1448359"/>
            <a:ext cx="2199297" cy="733042"/>
            <a:chOff x="0" y="0"/>
            <a:chExt cx="2199297" cy="733042"/>
          </a:xfrm>
        </p:grpSpPr>
        <p:sp>
          <p:nvSpPr>
            <p:cNvPr id="1096689932" name="Shape 6"/>
            <p:cNvSpPr/>
            <p:nvPr/>
          </p:nvSpPr>
          <p:spPr bwMode="auto">
            <a:xfrm flipH="0" flipV="0">
              <a:off x="0" y="0"/>
              <a:ext cx="2194560" cy="73304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1528544736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124568451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Role Management</a:t>
              </a:r>
              <a:endParaRPr lang="en-US" sz="1100"/>
            </a:p>
          </p:txBody>
        </p:sp>
        <p:sp>
          <p:nvSpPr>
            <p:cNvPr id="1672318149" name="Shape 9"/>
            <p:cNvSpPr/>
            <p:nvPr/>
          </p:nvSpPr>
          <p:spPr bwMode="auto">
            <a:xfrm>
              <a:off x="170596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681172184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0" i="0" u="none" strike="noStrike" cap="none" spc="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Change user role</a:t>
              </a:r>
              <a:endParaRPr sz="1100"/>
            </a:p>
          </p:txBody>
        </p:sp>
      </p:grpSp>
      <p:sp>
        <p:nvSpPr>
          <p:cNvPr id="85493455" name="Shape 29"/>
          <p:cNvSpPr/>
          <p:nvPr/>
        </p:nvSpPr>
        <p:spPr bwMode="auto">
          <a:xfrm flipH="1" flipV="0">
            <a:off x="4872462" y="2181402"/>
            <a:ext cx="1955040" cy="1460574"/>
          </a:xfrm>
          <a:prstGeom prst="line">
            <a:avLst/>
          </a:prstGeom>
          <a:noFill/>
          <a:ln w="15240">
            <a:solidFill>
              <a:srgbClr val="7F7F7F"/>
            </a:solidFill>
            <a:prstDash val="solid"/>
          </a:ln>
        </p:spPr>
      </p:sp>
      <p:grpSp>
        <p:nvGrpSpPr>
          <p:cNvPr id="1907407505" name=""/>
          <p:cNvGrpSpPr/>
          <p:nvPr/>
        </p:nvGrpSpPr>
        <p:grpSpPr bwMode="auto">
          <a:xfrm>
            <a:off x="1258080" y="1385315"/>
            <a:ext cx="2199297" cy="1033272"/>
            <a:chOff x="0" y="0"/>
            <a:chExt cx="2199297" cy="1033272"/>
          </a:xfrm>
        </p:grpSpPr>
        <p:sp>
          <p:nvSpPr>
            <p:cNvPr id="666264661" name="Shape 6"/>
            <p:cNvSpPr/>
            <p:nvPr/>
          </p:nvSpPr>
          <p:spPr bwMode="auto">
            <a:xfrm>
              <a:off x="0" y="0"/>
              <a:ext cx="2194560" cy="1033272"/>
            </a:xfrm>
            <a:prstGeom prst="rect">
              <a:avLst/>
            </a:prstGeom>
            <a:solidFill>
              <a:srgbClr val="FFFFFF"/>
            </a:solidFill>
            <a:ln w="12700">
              <a:solidFill>
                <a:srgbClr val="CBD5E1"/>
              </a:solidFill>
              <a:prstDash val="solid"/>
            </a:ln>
            <a:effectLst>
              <a:outerShdw blurRad="76200" dist="25400" dir="8100000" sx="100000" sy="100000" kx="0" ky="0" algn="bl" rotWithShape="0">
                <a:srgbClr val="000000">
                  <a:alpha val="9000"/>
                </a:srgbClr>
              </a:outerShdw>
            </a:effectLst>
          </p:spPr>
        </p:sp>
        <p:sp>
          <p:nvSpPr>
            <p:cNvPr id="663022233" name="Shape 7"/>
            <p:cNvSpPr/>
            <p:nvPr/>
          </p:nvSpPr>
          <p:spPr bwMode="auto">
            <a:xfrm>
              <a:off x="4737" y="0"/>
              <a:ext cx="2194560" cy="347471"/>
            </a:xfrm>
            <a:prstGeom prst="rect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592914500" name="Text 8"/>
            <p:cNvSpPr/>
            <p:nvPr/>
          </p:nvSpPr>
          <p:spPr bwMode="auto">
            <a:xfrm>
              <a:off x="123207" y="0"/>
              <a:ext cx="1783080" cy="347471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de-DE" sz="1100" b="1">
                  <a:solidFill>
                    <a:srgbClr val="FFFFFF"/>
                  </a:solidFill>
                  <a:latin typeface="Calibri"/>
                  <a:ea typeface="Calibri"/>
                  <a:cs typeface="Calibri"/>
                </a:rPr>
                <a:t>User Management</a:t>
              </a:r>
              <a:endParaRPr lang="en-US" sz="1100"/>
            </a:p>
          </p:txBody>
        </p:sp>
        <p:sp>
          <p:nvSpPr>
            <p:cNvPr id="932413197" name="Shape 9"/>
            <p:cNvSpPr/>
            <p:nvPr/>
          </p:nvSpPr>
          <p:spPr bwMode="auto">
            <a:xfrm>
              <a:off x="170595" y="498346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637812101" name="Text 10"/>
            <p:cNvSpPr/>
            <p:nvPr/>
          </p:nvSpPr>
          <p:spPr bwMode="auto">
            <a:xfrm>
              <a:off x="306489" y="402334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Create </a:t>
              </a: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user</a:t>
              </a:r>
              <a:endParaRPr lang="en-US" sz="1100"/>
            </a:p>
          </p:txBody>
        </p:sp>
        <p:sp>
          <p:nvSpPr>
            <p:cNvPr id="498651531" name="Shape 11"/>
            <p:cNvSpPr/>
            <p:nvPr/>
          </p:nvSpPr>
          <p:spPr bwMode="auto">
            <a:xfrm>
              <a:off x="169329" y="772668"/>
              <a:ext cx="82296" cy="82296"/>
            </a:xfrm>
            <a:prstGeom prst="ellipse">
              <a:avLst/>
            </a:prstGeom>
            <a:solidFill>
              <a:srgbClr val="9333EA"/>
            </a:solidFill>
            <a:ln w="12700">
              <a:solidFill>
                <a:srgbClr val="9333EA"/>
              </a:solidFill>
              <a:prstDash val="solid"/>
            </a:ln>
          </p:spPr>
        </p:sp>
        <p:sp>
          <p:nvSpPr>
            <p:cNvPr id="1639240353" name="Text 12"/>
            <p:cNvSpPr/>
            <p:nvPr/>
          </p:nvSpPr>
          <p:spPr bwMode="auto">
            <a:xfrm>
              <a:off x="306489" y="676656"/>
              <a:ext cx="1828800" cy="274320"/>
            </a:xfrm>
            <a:prstGeom prst="rect">
              <a:avLst/>
            </a:prstGeom>
            <a:noFill/>
            <a:ln/>
          </p:spPr>
          <p:txBody>
            <a:bodyPr wrap="square" lIns="0" tIns="0" rIns="0" bIns="0" rtlCol="0" anchor="ctr"/>
            <a:lstStyle/>
            <a:p>
              <a:pPr marL="0" indent="0">
                <a:buNone/>
                <a:defRPr/>
              </a:pPr>
              <a:r>
                <a:rPr lang="en-US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Delete </a:t>
              </a:r>
              <a:r>
                <a:rPr lang="de-DE" sz="1100">
                  <a:solidFill>
                    <a:srgbClr val="0F172A"/>
                  </a:solidFill>
                  <a:latin typeface="Calibri"/>
                  <a:ea typeface="Calibri"/>
                  <a:cs typeface="Calibri"/>
                </a:rPr>
                <a:t>user</a:t>
              </a:r>
              <a:endParaRPr lang="en-US" sz="11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ONLYOFFICE/9.3.1.8</Application>
  <PresentationFormat>On-screen Show (4:3)</PresentationFormat>
  <Paragraphs>0</Paragraphs>
  <Slides>6</Slides>
  <Notes>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7" baseType="lpstr">
      <vt:lpstr>Theme 1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 Jira – Use Cases &amp; Roles</dc:title>
  <dc:subject>PptxGenJS Presentation</dc:subject>
  <dc:creator>PptxGenJS</dc:creator>
  <cp:lastModifiedBy/>
  <cp:revision>4</cp:revision>
  <dcterms:created xsi:type="dcterms:W3CDTF">2026-04-06T11:44:17Z</dcterms:created>
  <dcterms:modified xsi:type="dcterms:W3CDTF">2026-04-11T17:47:04Z</dcterms:modified>
</cp:coreProperties>
</file>