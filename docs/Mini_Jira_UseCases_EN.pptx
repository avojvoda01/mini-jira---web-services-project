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35353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9958060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65887856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594119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3156802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437287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351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03910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9608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5829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1595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2211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1618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4598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52989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F08F0D-7539-486C-00E3-B9F98861758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2240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78334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0869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08E325-F849-A203-B3CC-E685AAE7F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2658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7626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48321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2442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3112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1298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02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6319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28515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361877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46817239" name="Shape 1"/>
          <p:cNvSpPr/>
          <p:nvPr/>
        </p:nvSpPr>
        <p:spPr bwMode="auto">
          <a:xfrm>
            <a:off x="365760" y="274320"/>
            <a:ext cx="109728" cy="109728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171658607" name="Shape 2"/>
          <p:cNvSpPr/>
          <p:nvPr/>
        </p:nvSpPr>
        <p:spPr bwMode="auto">
          <a:xfrm>
            <a:off x="685800" y="274320"/>
            <a:ext cx="109728" cy="109728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2130318316" name="Shape 3"/>
          <p:cNvSpPr/>
          <p:nvPr/>
        </p:nvSpPr>
        <p:spPr bwMode="auto">
          <a:xfrm>
            <a:off x="1005840" y="274320"/>
            <a:ext cx="109728" cy="109728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064263494" name="Shape 4"/>
          <p:cNvSpPr/>
          <p:nvPr/>
        </p:nvSpPr>
        <p:spPr bwMode="auto">
          <a:xfrm>
            <a:off x="1325880" y="274320"/>
            <a:ext cx="109728" cy="109728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61086871" name="Shape 5"/>
          <p:cNvSpPr/>
          <p:nvPr/>
        </p:nvSpPr>
        <p:spPr bwMode="auto">
          <a:xfrm>
            <a:off x="1645920" y="274320"/>
            <a:ext cx="109728" cy="109728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940712605" name="Text 6"/>
          <p:cNvSpPr/>
          <p:nvPr/>
        </p:nvSpPr>
        <p:spPr bwMode="auto"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5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Mini Jira</a:t>
            </a:r>
            <a:endParaRPr sz="5200">
              <a:solidFill>
                <a:schemeClr val="tx1"/>
              </a:solidFill>
            </a:endParaRPr>
          </a:p>
        </p:txBody>
      </p:sp>
      <p:sp>
        <p:nvSpPr>
          <p:cNvPr id="1210472871" name="Text 7"/>
          <p:cNvSpPr/>
          <p:nvPr/>
        </p:nvSpPr>
        <p:spPr bwMode="auto"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8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Use Cases &amp; Roles</a:t>
            </a:r>
            <a:endParaRPr lang="en-US" sz="2800"/>
          </a:p>
        </p:txBody>
      </p:sp>
      <p:sp>
        <p:nvSpPr>
          <p:cNvPr id="1036911702" name="Shape 8"/>
          <p:cNvSpPr/>
          <p:nvPr/>
        </p:nvSpPr>
        <p:spPr bwMode="auto">
          <a:xfrm>
            <a:off x="457200" y="2788920"/>
            <a:ext cx="2926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3645498" name="Text 9"/>
          <p:cNvSpPr/>
          <p:nvPr/>
        </p:nvSpPr>
        <p:spPr bwMode="auto">
          <a:xfrm>
            <a:off x="457200" y="3017519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Task, Project &amp; Team Management</a:t>
            </a:r>
            <a:endParaRPr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878718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46338364" name="Text 1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Team</a:t>
            </a:r>
            <a:endParaRPr lang="en-US" sz="2200"/>
          </a:p>
        </p:txBody>
      </p:sp>
      <p:sp>
        <p:nvSpPr>
          <p:cNvPr id="2015799492" name=""/>
          <p:cNvSpPr txBox="1"/>
          <p:nvPr/>
        </p:nvSpPr>
        <p:spPr bwMode="auto">
          <a:xfrm rot="0" flipH="0" flipV="0">
            <a:off x="3294519" y="2388689"/>
            <a:ext cx="255496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/>
              <a:t>Add Picture of Team here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3654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01849693" name="Text 1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 Idea</a:t>
            </a:r>
            <a:endParaRPr lang="en-US" sz="2200"/>
          </a:p>
        </p:txBody>
      </p:sp>
      <p:sp>
        <p:nvSpPr>
          <p:cNvPr id="1376518645" name="Shape 2"/>
          <p:cNvSpPr/>
          <p:nvPr/>
        </p:nvSpPr>
        <p:spPr bwMode="auto">
          <a:xfrm flipH="0" flipV="0">
            <a:off x="206301" y="995773"/>
            <a:ext cx="8731393" cy="770699"/>
          </a:xfrm>
          <a:prstGeom prst="flowChartAlternateProcess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736576367" name="Shape 2"/>
          <p:cNvSpPr/>
          <p:nvPr/>
        </p:nvSpPr>
        <p:spPr bwMode="auto">
          <a:xfrm flipH="0" flipV="0">
            <a:off x="206301" y="1901716"/>
            <a:ext cx="8731393" cy="770699"/>
          </a:xfrm>
          <a:prstGeom prst="flowChartAlternateProcess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419068424" name="Shape 2"/>
          <p:cNvSpPr/>
          <p:nvPr/>
        </p:nvSpPr>
        <p:spPr bwMode="auto">
          <a:xfrm flipH="0" flipV="0">
            <a:off x="206301" y="2807660"/>
            <a:ext cx="8731393" cy="770699"/>
          </a:xfrm>
          <a:prstGeom prst="flowChartAlternateProcess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406374053" name="Shape 2"/>
          <p:cNvSpPr/>
          <p:nvPr/>
        </p:nvSpPr>
        <p:spPr bwMode="auto">
          <a:xfrm flipH="0" flipV="0">
            <a:off x="206301" y="3713603"/>
            <a:ext cx="8731393" cy="770699"/>
          </a:xfrm>
          <a:prstGeom prst="flowChartAlternateProcess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 modelId="{A8BC8CD6-8738-41EA-9E71-3CD4C9AF2582}">
        <p:nvSpPr>
          <p:cNvPr id="1983877742" name=""/>
          <p:cNvSpPr/>
          <p:nvPr/>
        </p:nvSpPr>
        <p:spPr bwMode="auto">
          <a:xfrm>
            <a:off x="345746" y="1039316"/>
            <a:ext cx="683612" cy="683612"/>
          </a:xfrm>
          <a:prstGeom prst="rect">
            <a:avLst/>
          </a:prstGeom>
          <a:blipFill rotWithShape="1">
            <a:blip r:embed="rId3"/>
            <a:stretch/>
          </a:blipFill>
          <a:ln w="19050" cap="flat" cmpd="sng" algn="ctr">
            <a:solidFill>
              <a:schemeClr val="lt1">
                <a:hueOff val="0"/>
                <a:satOff val="0"/>
                <a:lumOff val="0"/>
                <a:alphaOff val="0"/>
              </a:schemeClr>
            </a:solidFill>
            <a:prstDash val="solid"/>
            <a:miter lim="800000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</p:sp>
      <p:sp modelId="{B63312C8-A8E7-471C-BDC7-E288FC589C93}">
        <p:nvSpPr>
          <p:cNvPr id="56121892" name=""/>
          <p:cNvSpPr/>
          <p:nvPr/>
        </p:nvSpPr>
        <p:spPr bwMode="auto">
          <a:xfrm>
            <a:off x="345746" y="1945260"/>
            <a:ext cx="683612" cy="683612"/>
          </a:xfrm>
          <a:prstGeom prst="rect">
            <a:avLst/>
          </a:prstGeom>
          <a:blipFill rotWithShape="1">
            <a:blip r:embed="rId4"/>
            <a:stretch/>
          </a:blipFill>
          <a:ln w="19050" cap="flat" cmpd="sng" algn="ctr">
            <a:solidFill>
              <a:schemeClr val="lt1">
                <a:hueOff val="0"/>
                <a:satOff val="0"/>
                <a:lumOff val="0"/>
                <a:alphaOff val="0"/>
              </a:schemeClr>
            </a:solidFill>
            <a:prstDash val="solid"/>
            <a:miter lim="800000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</p:sp>
      <p:sp modelId="{CA7E8371-02DB-4E6B-BDD4-4E6725844AB0}">
        <p:nvSpPr>
          <p:cNvPr id="1228927024" name=""/>
          <p:cNvSpPr/>
          <p:nvPr/>
        </p:nvSpPr>
        <p:spPr bwMode="auto">
          <a:xfrm>
            <a:off x="345746" y="2851203"/>
            <a:ext cx="683612" cy="683612"/>
          </a:xfrm>
          <a:prstGeom prst="rect">
            <a:avLst/>
          </a:prstGeom>
          <a:blipFill rotWithShape="1">
            <a:blip r:embed="rId5"/>
            <a:stretch/>
          </a:blipFill>
          <a:ln w="19050" cap="flat" cmpd="sng" algn="ctr">
            <a:solidFill>
              <a:schemeClr val="lt1">
                <a:hueOff val="0"/>
                <a:satOff val="0"/>
                <a:lumOff val="0"/>
                <a:alphaOff val="0"/>
              </a:schemeClr>
            </a:solidFill>
            <a:prstDash val="solid"/>
            <a:miter lim="800000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</p:sp>
      <p:sp modelId="{CA7E8371-02DB-4E6B-BDD4-4E6725844AB0}">
        <p:nvSpPr>
          <p:cNvPr id="432296538" name=""/>
          <p:cNvSpPr/>
          <p:nvPr/>
        </p:nvSpPr>
        <p:spPr bwMode="auto">
          <a:xfrm>
            <a:off x="345746" y="3757146"/>
            <a:ext cx="683612" cy="683612"/>
          </a:xfrm>
          <a:prstGeom prst="rect">
            <a:avLst/>
          </a:prstGeom>
          <a:blipFill rotWithShape="1">
            <a:blip r:embed="rId6"/>
            <a:stretch/>
          </a:blip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428342454" name=""/>
          <p:cNvSpPr txBox="1"/>
          <p:nvPr/>
        </p:nvSpPr>
        <p:spPr bwMode="auto">
          <a:xfrm rot="0" flipH="0" flipV="0">
            <a:off x="1029360" y="1198243"/>
            <a:ext cx="7567076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lvl="0" indent="0" algn="l" defTabSz="11112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Task Management Web Service</a:t>
            </a:r>
            <a:endParaRPr sz="1800"/>
          </a:p>
        </p:txBody>
      </p:sp>
      <p:sp>
        <p:nvSpPr>
          <p:cNvPr id="1555854711" name=""/>
          <p:cNvSpPr txBox="1"/>
          <p:nvPr/>
        </p:nvSpPr>
        <p:spPr bwMode="auto">
          <a:xfrm rot="0" flipH="0" flipV="0">
            <a:off x="1029360" y="2104007"/>
            <a:ext cx="7567076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lvl="0" indent="0" algn="l" defTabSz="11112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Simple, scalable, role-based system</a:t>
            </a:r>
            <a:endParaRPr sz="1800"/>
          </a:p>
        </p:txBody>
      </p:sp>
      <p:sp>
        <p:nvSpPr>
          <p:cNvPr id="196038368" name=""/>
          <p:cNvSpPr txBox="1"/>
          <p:nvPr/>
        </p:nvSpPr>
        <p:spPr bwMode="auto">
          <a:xfrm rot="0" flipH="0" flipV="0">
            <a:off x="1029360" y="3009951"/>
            <a:ext cx="7567076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lvl="0" indent="0" algn="l" defTabSz="11112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Designed for teams &amp; project collaboration</a:t>
            </a:r>
            <a:endParaRPr sz="1800"/>
          </a:p>
        </p:txBody>
      </p:sp>
      <p:sp>
        <p:nvSpPr>
          <p:cNvPr id="2125783183" name=""/>
          <p:cNvSpPr txBox="1"/>
          <p:nvPr/>
        </p:nvSpPr>
        <p:spPr bwMode="auto">
          <a:xfrm rot="0" flipH="0" flipV="0">
            <a:off x="1028281" y="3915893"/>
            <a:ext cx="7568875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l">
              <a:buNone/>
              <a:defRPr/>
            </a:pPr>
            <a:r>
              <a:rPr lang="de-D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AI Assistant for task organization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858799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85941082" name="Text 1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 Roles</a:t>
            </a:r>
            <a:endParaRPr lang="en-US" sz="2200"/>
          </a:p>
        </p:txBody>
      </p:sp>
      <p:sp>
        <p:nvSpPr>
          <p:cNvPr id="1597755350" name="Shape 2"/>
          <p:cNvSpPr/>
          <p:nvPr/>
        </p:nvSpPr>
        <p:spPr bwMode="auto">
          <a:xfrm>
            <a:off x="274320" y="822960"/>
            <a:ext cx="2834639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651482133" name="Shape 3"/>
          <p:cNvSpPr/>
          <p:nvPr/>
        </p:nvSpPr>
        <p:spPr bwMode="auto">
          <a:xfrm>
            <a:off x="274320" y="822960"/>
            <a:ext cx="2834639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0226564" name="Shape 4"/>
          <p:cNvSpPr/>
          <p:nvPr/>
        </p:nvSpPr>
        <p:spPr bwMode="auto">
          <a:xfrm>
            <a:off x="1399032" y="1024128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121621335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90472" y="1115568"/>
            <a:ext cx="402336" cy="402336"/>
          </a:xfrm>
          <a:prstGeom prst="rect">
            <a:avLst/>
          </a:prstGeom>
        </p:spPr>
      </p:pic>
      <p:sp>
        <p:nvSpPr>
          <p:cNvPr id="2047590101" name="Text 5"/>
          <p:cNvSpPr/>
          <p:nvPr/>
        </p:nvSpPr>
        <p:spPr bwMode="auto">
          <a:xfrm>
            <a:off x="274320" y="1691640"/>
            <a:ext cx="2834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3B82F6"/>
                </a:solidFill>
                <a:latin typeface="Calibri"/>
                <a:ea typeface="Calibri"/>
                <a:cs typeface="Calibri"/>
              </a:rPr>
              <a:t>Project Member</a:t>
            </a:r>
            <a:endParaRPr lang="en-US" sz="1400"/>
          </a:p>
        </p:txBody>
      </p:sp>
      <p:sp>
        <p:nvSpPr>
          <p:cNvPr id="1103509186" name="Text 6"/>
          <p:cNvSpPr/>
          <p:nvPr/>
        </p:nvSpPr>
        <p:spPr bwMode="auto">
          <a:xfrm>
            <a:off x="411480" y="1966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Default role for all team members. </a:t>
            </a:r>
            <a:r>
              <a:rPr lang="de-DE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Works in projects on different tasks.</a:t>
            </a:r>
            <a:endParaRPr lang="en-US" sz="1000"/>
          </a:p>
        </p:txBody>
      </p:sp>
      <p:sp>
        <p:nvSpPr>
          <p:cNvPr id="469325892" name="Shape 7"/>
          <p:cNvSpPr/>
          <p:nvPr/>
        </p:nvSpPr>
        <p:spPr bwMode="auto">
          <a:xfrm>
            <a:off x="640080" y="2517069"/>
            <a:ext cx="21031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6375762" name="Shape 10"/>
          <p:cNvSpPr/>
          <p:nvPr/>
        </p:nvSpPr>
        <p:spPr bwMode="auto">
          <a:xfrm>
            <a:off x="457200" y="30574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9832696" name="Text 11"/>
          <p:cNvSpPr/>
          <p:nvPr/>
        </p:nvSpPr>
        <p:spPr bwMode="auto">
          <a:xfrm>
            <a:off x="603504" y="295224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Change </a:t>
            </a:r>
            <a:r>
              <a:rPr lang="de-DE" sz="10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task </a:t>
            </a:r>
            <a:r>
              <a:rPr lang="en-US" sz="10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status &amp; priority</a:t>
            </a:r>
            <a:endParaRPr lang="en-US" sz="1000"/>
          </a:p>
        </p:txBody>
      </p:sp>
      <p:sp>
        <p:nvSpPr>
          <p:cNvPr id="1925255951" name="Shape 12"/>
          <p:cNvSpPr/>
          <p:nvPr/>
        </p:nvSpPr>
        <p:spPr bwMode="auto">
          <a:xfrm>
            <a:off x="457200" y="335915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5018589" name="Text 13"/>
          <p:cNvSpPr/>
          <p:nvPr/>
        </p:nvSpPr>
        <p:spPr bwMode="auto">
          <a:xfrm>
            <a:off x="603504" y="3253996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0" i="0" u="none" strike="noStrike" cap="none" spc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Create, edit &amp; delete </a:t>
            </a:r>
            <a:r>
              <a:rPr lang="de-DE" sz="1000" b="0" i="0" u="none" strike="noStrike" cap="none" spc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comments</a:t>
            </a:r>
            <a:endParaRPr sz="1000"/>
          </a:p>
        </p:txBody>
      </p:sp>
      <p:sp>
        <p:nvSpPr>
          <p:cNvPr id="1451280852" name="Shape 14"/>
          <p:cNvSpPr/>
          <p:nvPr/>
        </p:nvSpPr>
        <p:spPr bwMode="auto">
          <a:xfrm>
            <a:off x="457200" y="366090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7278547" name="Text 15"/>
          <p:cNvSpPr/>
          <p:nvPr/>
        </p:nvSpPr>
        <p:spPr bwMode="auto">
          <a:xfrm>
            <a:off x="603504" y="355574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10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Epic management</a:t>
            </a:r>
            <a:endParaRPr lang="en-US" sz="1000"/>
          </a:p>
        </p:txBody>
      </p:sp>
      <p:sp>
        <p:nvSpPr>
          <p:cNvPr id="1668212936" name="Shape 16"/>
          <p:cNvSpPr/>
          <p:nvPr/>
        </p:nvSpPr>
        <p:spPr bwMode="auto">
          <a:xfrm>
            <a:off x="457200" y="396265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05845518" name="Text 17"/>
          <p:cNvSpPr/>
          <p:nvPr/>
        </p:nvSpPr>
        <p:spPr bwMode="auto">
          <a:xfrm>
            <a:off x="603504" y="385750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Open dashboard</a:t>
            </a:r>
            <a:endParaRPr lang="en-US" sz="1000"/>
          </a:p>
        </p:txBody>
      </p:sp>
      <p:sp>
        <p:nvSpPr>
          <p:cNvPr id="275320966" name="Shape 18"/>
          <p:cNvSpPr/>
          <p:nvPr/>
        </p:nvSpPr>
        <p:spPr bwMode="auto">
          <a:xfrm>
            <a:off x="457200" y="426440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29958858" name="Text 19"/>
          <p:cNvSpPr/>
          <p:nvPr/>
        </p:nvSpPr>
        <p:spPr bwMode="auto">
          <a:xfrm>
            <a:off x="603504" y="415925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Login &amp; sign up</a:t>
            </a:r>
            <a:endParaRPr lang="en-US" sz="1000"/>
          </a:p>
        </p:txBody>
      </p:sp>
      <p:sp>
        <p:nvSpPr>
          <p:cNvPr id="1198403496" name="Shape 20"/>
          <p:cNvSpPr/>
          <p:nvPr/>
        </p:nvSpPr>
        <p:spPr bwMode="auto">
          <a:xfrm>
            <a:off x="3246120" y="822960"/>
            <a:ext cx="2834639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9435001" name="Shape 21"/>
          <p:cNvSpPr/>
          <p:nvPr/>
        </p:nvSpPr>
        <p:spPr bwMode="auto">
          <a:xfrm>
            <a:off x="3246120" y="822960"/>
            <a:ext cx="2834639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8900819" name="Shape 22"/>
          <p:cNvSpPr/>
          <p:nvPr/>
        </p:nvSpPr>
        <p:spPr bwMode="auto">
          <a:xfrm>
            <a:off x="4370832" y="1024128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pic>
        <p:nvPicPr>
          <p:cNvPr id="102460238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462272" y="1115568"/>
            <a:ext cx="402336" cy="402336"/>
          </a:xfrm>
          <a:prstGeom prst="rect">
            <a:avLst/>
          </a:prstGeom>
        </p:spPr>
      </p:pic>
      <p:sp>
        <p:nvSpPr>
          <p:cNvPr id="810599601" name="Text 23"/>
          <p:cNvSpPr/>
          <p:nvPr/>
        </p:nvSpPr>
        <p:spPr bwMode="auto">
          <a:xfrm>
            <a:off x="3246120" y="1691640"/>
            <a:ext cx="2834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Project Manager</a:t>
            </a:r>
            <a:endParaRPr lang="en-US" sz="1400"/>
          </a:p>
        </p:txBody>
      </p:sp>
      <p:sp>
        <p:nvSpPr>
          <p:cNvPr id="980817398" name="Text 24"/>
          <p:cNvSpPr/>
          <p:nvPr/>
        </p:nvSpPr>
        <p:spPr bwMode="auto">
          <a:xfrm>
            <a:off x="3383280" y="1966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Extended permissions. Manages projects and assigns members.</a:t>
            </a:r>
            <a:endParaRPr lang="en-US" sz="1000"/>
          </a:p>
        </p:txBody>
      </p:sp>
      <p:sp>
        <p:nvSpPr>
          <p:cNvPr id="2075255531" name="Shape 25"/>
          <p:cNvSpPr/>
          <p:nvPr/>
        </p:nvSpPr>
        <p:spPr bwMode="auto">
          <a:xfrm>
            <a:off x="3611880" y="2517069"/>
            <a:ext cx="21031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61601603" name="Shape 26"/>
          <p:cNvSpPr/>
          <p:nvPr/>
        </p:nvSpPr>
        <p:spPr bwMode="auto">
          <a:xfrm>
            <a:off x="3429000" y="2755648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6249643" name="Text 27"/>
          <p:cNvSpPr/>
          <p:nvPr/>
        </p:nvSpPr>
        <p:spPr bwMode="auto">
          <a:xfrm>
            <a:off x="3575302" y="265049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0" i="0" u="none" strike="noStrike" cap="none" spc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Create &amp; delete projects</a:t>
            </a:r>
            <a:endParaRPr sz="1000"/>
          </a:p>
        </p:txBody>
      </p:sp>
      <p:sp>
        <p:nvSpPr>
          <p:cNvPr id="1703301339" name="Shape 28"/>
          <p:cNvSpPr/>
          <p:nvPr/>
        </p:nvSpPr>
        <p:spPr bwMode="auto">
          <a:xfrm>
            <a:off x="3429000" y="3057400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4988075" name="Text 29"/>
          <p:cNvSpPr/>
          <p:nvPr/>
        </p:nvSpPr>
        <p:spPr bwMode="auto">
          <a:xfrm>
            <a:off x="3575302" y="295224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1000" b="0" i="0" u="none" strike="noStrike" cap="none" spc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Remove &amp; assign project management</a:t>
            </a:r>
            <a:endParaRPr sz="1000"/>
          </a:p>
        </p:txBody>
      </p:sp>
      <p:sp>
        <p:nvSpPr>
          <p:cNvPr id="1745510608" name="Shape 36"/>
          <p:cNvSpPr/>
          <p:nvPr/>
        </p:nvSpPr>
        <p:spPr bwMode="auto">
          <a:xfrm>
            <a:off x="6217920" y="822960"/>
            <a:ext cx="2834639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532956667" name="Shape 37"/>
          <p:cNvSpPr/>
          <p:nvPr/>
        </p:nvSpPr>
        <p:spPr bwMode="auto">
          <a:xfrm>
            <a:off x="6217920" y="822960"/>
            <a:ext cx="2834639" cy="5029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980422390" name="Shape 38"/>
          <p:cNvSpPr/>
          <p:nvPr/>
        </p:nvSpPr>
        <p:spPr bwMode="auto">
          <a:xfrm>
            <a:off x="7342632" y="1024128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</p:sp>
      <p:pic>
        <p:nvPicPr>
          <p:cNvPr id="2111435805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434072" y="1115568"/>
            <a:ext cx="402336" cy="402336"/>
          </a:xfrm>
          <a:prstGeom prst="rect">
            <a:avLst/>
          </a:prstGeom>
        </p:spPr>
      </p:pic>
      <p:sp>
        <p:nvSpPr>
          <p:cNvPr id="229508100" name="Text 39"/>
          <p:cNvSpPr/>
          <p:nvPr/>
        </p:nvSpPr>
        <p:spPr bwMode="auto">
          <a:xfrm>
            <a:off x="6217920" y="1691640"/>
            <a:ext cx="2834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9333EA"/>
                </a:solidFill>
                <a:latin typeface="Calibri"/>
                <a:ea typeface="Calibri"/>
                <a:cs typeface="Calibri"/>
              </a:rPr>
              <a:t>Admin</a:t>
            </a:r>
            <a:endParaRPr lang="en-US" sz="1400"/>
          </a:p>
        </p:txBody>
      </p:sp>
      <p:sp>
        <p:nvSpPr>
          <p:cNvPr id="2086234781" name="Text 40"/>
          <p:cNvSpPr/>
          <p:nvPr/>
        </p:nvSpPr>
        <p:spPr bwMode="auto">
          <a:xfrm>
            <a:off x="6355080" y="1966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Highest permission level. Full access including role management.</a:t>
            </a:r>
            <a:endParaRPr lang="en-US" sz="1000"/>
          </a:p>
        </p:txBody>
      </p:sp>
      <p:sp>
        <p:nvSpPr>
          <p:cNvPr id="1624408864" name="Shape 41"/>
          <p:cNvSpPr/>
          <p:nvPr/>
        </p:nvSpPr>
        <p:spPr bwMode="auto">
          <a:xfrm>
            <a:off x="6583680" y="2517069"/>
            <a:ext cx="21031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75720886" name="Shape 42"/>
          <p:cNvSpPr/>
          <p:nvPr/>
        </p:nvSpPr>
        <p:spPr bwMode="auto">
          <a:xfrm>
            <a:off x="6400800" y="2755648"/>
            <a:ext cx="91440" cy="9144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974160814" name="Text 43"/>
          <p:cNvSpPr/>
          <p:nvPr/>
        </p:nvSpPr>
        <p:spPr bwMode="auto">
          <a:xfrm>
            <a:off x="6547104" y="265049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10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Role management</a:t>
            </a:r>
            <a:endParaRPr lang="en-US" sz="1000"/>
          </a:p>
        </p:txBody>
      </p:sp>
      <p:grpSp>
        <p:nvGrpSpPr>
          <p:cNvPr id="1876734150" name=""/>
          <p:cNvGrpSpPr/>
          <p:nvPr/>
        </p:nvGrpSpPr>
        <p:grpSpPr bwMode="auto">
          <a:xfrm>
            <a:off x="457198" y="2650492"/>
            <a:ext cx="2523744" cy="301752"/>
            <a:chOff x="0" y="0"/>
            <a:chExt cx="2523744" cy="301752"/>
          </a:xfrm>
        </p:grpSpPr>
        <p:sp>
          <p:nvSpPr>
            <p:cNvPr id="1582493543" name="Shape 8"/>
            <p:cNvSpPr/>
            <p:nvPr/>
          </p:nvSpPr>
          <p:spPr bwMode="auto">
            <a:xfrm>
              <a:off x="0" y="105154"/>
              <a:ext cx="91440" cy="914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2033496982" name="Text 9"/>
            <p:cNvSpPr/>
            <p:nvPr/>
          </p:nvSpPr>
          <p:spPr bwMode="auto">
            <a:xfrm>
              <a:off x="146304" y="0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0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Task management</a:t>
              </a:r>
              <a:endParaRPr lang="en-US" sz="1000"/>
            </a:p>
          </p:txBody>
        </p:sp>
      </p:grpSp>
      <p:sp>
        <p:nvSpPr>
          <p:cNvPr id="1595146504" name="Shape 18"/>
          <p:cNvSpPr/>
          <p:nvPr/>
        </p:nvSpPr>
        <p:spPr bwMode="auto">
          <a:xfrm>
            <a:off x="457200" y="45661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188084" name="Text 19"/>
          <p:cNvSpPr/>
          <p:nvPr/>
        </p:nvSpPr>
        <p:spPr bwMode="auto">
          <a:xfrm>
            <a:off x="603504" y="446100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10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Task assignment</a:t>
            </a:r>
            <a:endParaRPr lang="en-US" sz="1000"/>
          </a:p>
        </p:txBody>
      </p:sp>
      <p:sp>
        <p:nvSpPr>
          <p:cNvPr id="924717081" name="Text 29"/>
          <p:cNvSpPr/>
          <p:nvPr/>
        </p:nvSpPr>
        <p:spPr bwMode="auto">
          <a:xfrm>
            <a:off x="6547104" y="295224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1000" b="0" i="0" u="none" strike="noStrike" cap="none" spc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User management</a:t>
            </a:r>
            <a:endParaRPr sz="1000"/>
          </a:p>
        </p:txBody>
      </p:sp>
      <p:sp>
        <p:nvSpPr>
          <p:cNvPr id="102171071" name="Shape 28"/>
          <p:cNvSpPr/>
          <p:nvPr/>
        </p:nvSpPr>
        <p:spPr bwMode="auto">
          <a:xfrm>
            <a:off x="6400800" y="3057400"/>
            <a:ext cx="91440" cy="9144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854383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25387654" name="Text 1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Case – Project Member</a:t>
            </a:r>
            <a:endParaRPr lang="en-US" sz="2200"/>
          </a:p>
        </p:txBody>
      </p:sp>
      <p:sp>
        <p:nvSpPr>
          <p:cNvPr id="1063995969" name="Shape 4"/>
          <p:cNvSpPr/>
          <p:nvPr/>
        </p:nvSpPr>
        <p:spPr bwMode="auto">
          <a:xfrm flipH="0" flipV="0">
            <a:off x="201167" y="1112223"/>
            <a:ext cx="2194560" cy="338767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9000"/>
              </a:srgbClr>
            </a:outerShdw>
          </a:effectLst>
        </p:spPr>
      </p:sp>
      <p:sp>
        <p:nvSpPr>
          <p:cNvPr id="702341640" name="Shape 5"/>
          <p:cNvSpPr/>
          <p:nvPr/>
        </p:nvSpPr>
        <p:spPr bwMode="auto">
          <a:xfrm>
            <a:off x="201167" y="1112223"/>
            <a:ext cx="21945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25364187" name="Text 6"/>
          <p:cNvSpPr/>
          <p:nvPr/>
        </p:nvSpPr>
        <p:spPr bwMode="auto">
          <a:xfrm>
            <a:off x="320766" y="1112223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Task Management</a:t>
            </a:r>
            <a:endParaRPr lang="en-US" sz="1100"/>
          </a:p>
        </p:txBody>
      </p:sp>
      <p:grpSp>
        <p:nvGrpSpPr>
          <p:cNvPr id="1901520704" name=""/>
          <p:cNvGrpSpPr/>
          <p:nvPr/>
        </p:nvGrpSpPr>
        <p:grpSpPr bwMode="auto">
          <a:xfrm>
            <a:off x="4198316" y="3953377"/>
            <a:ext cx="1051560" cy="896112"/>
            <a:chOff x="0" y="0"/>
            <a:chExt cx="1051560" cy="896112"/>
          </a:xfrm>
        </p:grpSpPr>
        <p:sp>
          <p:nvSpPr>
            <p:cNvPr id="333009385" name="Shape 2"/>
            <p:cNvSpPr/>
            <p:nvPr/>
          </p:nvSpPr>
          <p:spPr bwMode="auto">
            <a:xfrm>
              <a:off x="228600" y="0"/>
              <a:ext cx="594360" cy="594360"/>
            </a:xfrm>
            <a:prstGeom prst="ellipse">
              <a:avLst/>
            </a:prstGeom>
            <a:solidFill>
              <a:srgbClr val="EFF6FF"/>
            </a:solidFill>
            <a:ln w="25400">
              <a:solidFill>
                <a:srgbClr val="3B82F6"/>
              </a:solidFill>
              <a:prstDash val="solid"/>
            </a:ln>
          </p:spPr>
        </p:sp>
        <p:pic>
          <p:nvPicPr>
            <p:cNvPr id="1278296530" name="Image 0" descr="preencoded.png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320039" y="91439"/>
              <a:ext cx="411480" cy="411480"/>
            </a:xfrm>
            <a:prstGeom prst="rect">
              <a:avLst/>
            </a:prstGeom>
          </p:spPr>
        </p:pic>
        <p:sp>
          <p:nvSpPr>
            <p:cNvPr id="1950202597" name="Text 3"/>
            <p:cNvSpPr/>
            <p:nvPr/>
          </p:nvSpPr>
          <p:spPr bwMode="auto">
            <a:xfrm>
              <a:off x="0" y="621792"/>
              <a:ext cx="1051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900" b="1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Project Member</a:t>
              </a:r>
              <a:endParaRPr lang="en-US" sz="900"/>
            </a:p>
          </p:txBody>
        </p:sp>
      </p:grpSp>
      <p:grpSp>
        <p:nvGrpSpPr>
          <p:cNvPr id="550493900" name=""/>
          <p:cNvGrpSpPr/>
          <p:nvPr/>
        </p:nvGrpSpPr>
        <p:grpSpPr bwMode="auto">
          <a:xfrm>
            <a:off x="6712089" y="3855900"/>
            <a:ext cx="2194560" cy="1033272"/>
            <a:chOff x="0" y="0"/>
            <a:chExt cx="2194560" cy="1033272"/>
          </a:xfrm>
        </p:grpSpPr>
        <p:sp>
          <p:nvSpPr>
            <p:cNvPr id="1325356072" name="Shape 14"/>
            <p:cNvSpPr/>
            <p:nvPr/>
          </p:nvSpPr>
          <p:spPr bwMode="auto">
            <a:xfrm>
              <a:off x="0" y="0"/>
              <a:ext cx="2194560" cy="10332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68574776" name="Shape 15"/>
            <p:cNvSpPr/>
            <p:nvPr/>
          </p:nvSpPr>
          <p:spPr bwMode="auto">
            <a:xfrm>
              <a:off x="0" y="0"/>
              <a:ext cx="2194560" cy="347471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454796387" name="Text 16"/>
            <p:cNvSpPr/>
            <p:nvPr/>
          </p:nvSpPr>
          <p:spPr bwMode="auto">
            <a:xfrm>
              <a:off x="118469" y="0"/>
              <a:ext cx="1783080" cy="3474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Authentication</a:t>
              </a:r>
              <a:endParaRPr lang="en-US" sz="1100"/>
            </a:p>
          </p:txBody>
        </p:sp>
        <p:sp>
          <p:nvSpPr>
            <p:cNvPr id="598242526" name="Shape 17"/>
            <p:cNvSpPr/>
            <p:nvPr/>
          </p:nvSpPr>
          <p:spPr bwMode="auto">
            <a:xfrm>
              <a:off x="165857" y="498346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795696213" name="Text 18"/>
            <p:cNvSpPr/>
            <p:nvPr/>
          </p:nvSpPr>
          <p:spPr bwMode="auto">
            <a:xfrm>
              <a:off x="301752" y="40233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Login</a:t>
              </a:r>
              <a:endParaRPr lang="en-US" sz="1100"/>
            </a:p>
          </p:txBody>
        </p:sp>
        <p:sp>
          <p:nvSpPr>
            <p:cNvPr id="2095771585" name="Shape 19"/>
            <p:cNvSpPr/>
            <p:nvPr/>
          </p:nvSpPr>
          <p:spPr bwMode="auto">
            <a:xfrm>
              <a:off x="165857" y="772668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597641910" name="Text 20"/>
            <p:cNvSpPr/>
            <p:nvPr/>
          </p:nvSpPr>
          <p:spPr bwMode="auto">
            <a:xfrm>
              <a:off x="301752" y="676656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Sign Up</a:t>
              </a:r>
              <a:endParaRPr lang="en-US" sz="1100"/>
            </a:p>
          </p:txBody>
        </p:sp>
      </p:grpSp>
      <p:grpSp>
        <p:nvGrpSpPr>
          <p:cNvPr id="72862429" name=""/>
          <p:cNvGrpSpPr/>
          <p:nvPr/>
        </p:nvGrpSpPr>
        <p:grpSpPr bwMode="auto">
          <a:xfrm>
            <a:off x="6711695" y="2715718"/>
            <a:ext cx="2194560" cy="845818"/>
            <a:chOff x="0" y="0"/>
            <a:chExt cx="2194560" cy="845818"/>
          </a:xfrm>
        </p:grpSpPr>
        <p:sp>
          <p:nvSpPr>
            <p:cNvPr id="119642444" name="Shape 14"/>
            <p:cNvSpPr/>
            <p:nvPr/>
          </p:nvSpPr>
          <p:spPr bwMode="auto">
            <a:xfrm flipH="0" flipV="0">
              <a:off x="0" y="0"/>
              <a:ext cx="2194560" cy="84581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626173900" name="Shape 15"/>
            <p:cNvSpPr/>
            <p:nvPr/>
          </p:nvSpPr>
          <p:spPr bwMode="auto">
            <a:xfrm>
              <a:off x="0" y="0"/>
              <a:ext cx="2194560" cy="347471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288732234" name="Text 16"/>
            <p:cNvSpPr/>
            <p:nvPr/>
          </p:nvSpPr>
          <p:spPr bwMode="auto">
            <a:xfrm>
              <a:off x="118469" y="0"/>
              <a:ext cx="1783080" cy="3474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Dashboard</a:t>
              </a:r>
              <a:endParaRPr lang="en-US" sz="1100"/>
            </a:p>
          </p:txBody>
        </p:sp>
        <p:sp>
          <p:nvSpPr>
            <p:cNvPr id="564849534" name="Shape 17"/>
            <p:cNvSpPr/>
            <p:nvPr/>
          </p:nvSpPr>
          <p:spPr bwMode="auto">
            <a:xfrm>
              <a:off x="165857" y="498346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831079656" name="Text 18"/>
            <p:cNvSpPr/>
            <p:nvPr/>
          </p:nvSpPr>
          <p:spPr bwMode="auto">
            <a:xfrm>
              <a:off x="301752" y="40233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Open dashboard</a:t>
              </a:r>
              <a:endParaRPr lang="en-US" sz="1100"/>
            </a:p>
          </p:txBody>
        </p:sp>
      </p:grpSp>
      <p:grpSp>
        <p:nvGrpSpPr>
          <p:cNvPr id="456160677" name=""/>
          <p:cNvGrpSpPr/>
          <p:nvPr/>
        </p:nvGrpSpPr>
        <p:grpSpPr bwMode="auto">
          <a:xfrm>
            <a:off x="6713940" y="1031467"/>
            <a:ext cx="2194560" cy="1389887"/>
            <a:chOff x="0" y="0"/>
            <a:chExt cx="2194560" cy="1389887"/>
          </a:xfrm>
        </p:grpSpPr>
        <p:sp>
          <p:nvSpPr>
            <p:cNvPr id="1291783675" name="Shape 18"/>
            <p:cNvSpPr/>
            <p:nvPr/>
          </p:nvSpPr>
          <p:spPr bwMode="auto">
            <a:xfrm>
              <a:off x="0" y="0"/>
              <a:ext cx="2194560" cy="1389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280942065" name="Shape 19"/>
            <p:cNvSpPr/>
            <p:nvPr/>
          </p:nvSpPr>
          <p:spPr bwMode="auto">
            <a:xfrm>
              <a:off x="0" y="0"/>
              <a:ext cx="2194560" cy="347472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418197628" name="Text 20"/>
            <p:cNvSpPr/>
            <p:nvPr/>
          </p:nvSpPr>
          <p:spPr bwMode="auto">
            <a:xfrm>
              <a:off x="118469" y="0"/>
              <a:ext cx="1783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Comments</a:t>
              </a:r>
              <a:endParaRPr lang="en-US" sz="1100"/>
            </a:p>
          </p:txBody>
        </p:sp>
        <p:sp>
          <p:nvSpPr>
            <p:cNvPr id="850082460" name="Shape 21"/>
            <p:cNvSpPr/>
            <p:nvPr/>
          </p:nvSpPr>
          <p:spPr bwMode="auto">
            <a:xfrm>
              <a:off x="164592" y="498348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656508617" name="Text 22"/>
            <p:cNvSpPr/>
            <p:nvPr/>
          </p:nvSpPr>
          <p:spPr bwMode="auto">
            <a:xfrm>
              <a:off x="301752" y="402335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Create</a:t>
              </a:r>
              <a:endParaRPr lang="en-US" sz="1100"/>
            </a:p>
          </p:txBody>
        </p:sp>
        <p:sp>
          <p:nvSpPr>
            <p:cNvPr id="1403370260" name="Shape 23"/>
            <p:cNvSpPr/>
            <p:nvPr/>
          </p:nvSpPr>
          <p:spPr bwMode="auto">
            <a:xfrm>
              <a:off x="164592" y="772668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236570075" name="Text 24"/>
            <p:cNvSpPr/>
            <p:nvPr/>
          </p:nvSpPr>
          <p:spPr bwMode="auto">
            <a:xfrm>
              <a:off x="301752" y="676655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Edit</a:t>
              </a:r>
              <a:endParaRPr lang="en-US" sz="1100"/>
            </a:p>
          </p:txBody>
        </p:sp>
        <p:sp>
          <p:nvSpPr>
            <p:cNvPr id="1093327027" name="Shape 25"/>
            <p:cNvSpPr/>
            <p:nvPr/>
          </p:nvSpPr>
          <p:spPr bwMode="auto">
            <a:xfrm>
              <a:off x="164592" y="1046988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361639373" name="Text 26"/>
            <p:cNvSpPr/>
            <p:nvPr/>
          </p:nvSpPr>
          <p:spPr bwMode="auto">
            <a:xfrm>
              <a:off x="301752" y="950976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Delete</a:t>
              </a:r>
              <a:endParaRPr lang="en-US" sz="1100"/>
            </a:p>
          </p:txBody>
        </p:sp>
      </p:grpSp>
      <p:grpSp>
        <p:nvGrpSpPr>
          <p:cNvPr id="1166411386" name=""/>
          <p:cNvGrpSpPr/>
          <p:nvPr/>
        </p:nvGrpSpPr>
        <p:grpSpPr bwMode="auto">
          <a:xfrm>
            <a:off x="3474720" y="1032224"/>
            <a:ext cx="2194560" cy="1389887"/>
            <a:chOff x="0" y="0"/>
            <a:chExt cx="2194560" cy="1389887"/>
          </a:xfrm>
        </p:grpSpPr>
        <p:sp>
          <p:nvSpPr>
            <p:cNvPr id="387107994" name="Shape 18"/>
            <p:cNvSpPr/>
            <p:nvPr/>
          </p:nvSpPr>
          <p:spPr bwMode="auto">
            <a:xfrm>
              <a:off x="0" y="0"/>
              <a:ext cx="2194560" cy="138988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30993653" name="Shape 19"/>
            <p:cNvSpPr/>
            <p:nvPr/>
          </p:nvSpPr>
          <p:spPr bwMode="auto">
            <a:xfrm>
              <a:off x="0" y="0"/>
              <a:ext cx="2194560" cy="347471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373092046" name="Text 20"/>
            <p:cNvSpPr/>
            <p:nvPr/>
          </p:nvSpPr>
          <p:spPr bwMode="auto">
            <a:xfrm>
              <a:off x="118469" y="0"/>
              <a:ext cx="1783080" cy="3474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Epics</a:t>
              </a:r>
              <a:endParaRPr lang="en-US" sz="1100"/>
            </a:p>
          </p:txBody>
        </p:sp>
        <p:sp>
          <p:nvSpPr>
            <p:cNvPr id="1714006904" name="Shape 21"/>
            <p:cNvSpPr/>
            <p:nvPr/>
          </p:nvSpPr>
          <p:spPr bwMode="auto">
            <a:xfrm>
              <a:off x="164592" y="498348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2135987731" name="Text 22"/>
            <p:cNvSpPr/>
            <p:nvPr/>
          </p:nvSpPr>
          <p:spPr bwMode="auto">
            <a:xfrm>
              <a:off x="301752" y="40233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Create</a:t>
              </a:r>
              <a:endParaRPr lang="en-US" sz="1100"/>
            </a:p>
          </p:txBody>
        </p:sp>
        <p:sp>
          <p:nvSpPr>
            <p:cNvPr id="1454558902" name="Shape 23"/>
            <p:cNvSpPr/>
            <p:nvPr/>
          </p:nvSpPr>
          <p:spPr bwMode="auto">
            <a:xfrm>
              <a:off x="164592" y="772668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166237871" name="Text 24"/>
            <p:cNvSpPr/>
            <p:nvPr/>
          </p:nvSpPr>
          <p:spPr bwMode="auto">
            <a:xfrm>
              <a:off x="301752" y="67665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Edit</a:t>
              </a:r>
              <a:endParaRPr lang="en-US" sz="1100"/>
            </a:p>
          </p:txBody>
        </p:sp>
        <p:sp>
          <p:nvSpPr>
            <p:cNvPr id="1347959490" name="Shape 25"/>
            <p:cNvSpPr/>
            <p:nvPr/>
          </p:nvSpPr>
          <p:spPr bwMode="auto">
            <a:xfrm>
              <a:off x="164592" y="1046988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63994561" name="Text 26"/>
            <p:cNvSpPr/>
            <p:nvPr/>
          </p:nvSpPr>
          <p:spPr bwMode="auto">
            <a:xfrm>
              <a:off x="301752" y="950976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Delete</a:t>
              </a:r>
              <a:endParaRPr lang="en-US" sz="1100"/>
            </a:p>
          </p:txBody>
        </p:sp>
      </p:grpSp>
      <p:sp>
        <p:nvSpPr>
          <p:cNvPr id="162057119" name="Text 16"/>
          <p:cNvSpPr/>
          <p:nvPr/>
        </p:nvSpPr>
        <p:spPr bwMode="auto">
          <a:xfrm>
            <a:off x="502920" y="379200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endParaRPr lang="en-US" sz="1100"/>
          </a:p>
        </p:txBody>
      </p:sp>
      <p:grpSp>
        <p:nvGrpSpPr>
          <p:cNvPr id="1663097440" name=""/>
          <p:cNvGrpSpPr/>
          <p:nvPr/>
        </p:nvGrpSpPr>
        <p:grpSpPr bwMode="auto">
          <a:xfrm>
            <a:off x="365759" y="1514559"/>
            <a:ext cx="1965960" cy="274319"/>
            <a:chOff x="0" y="0"/>
            <a:chExt cx="1965960" cy="274319"/>
          </a:xfrm>
        </p:grpSpPr>
        <p:sp>
          <p:nvSpPr>
            <p:cNvPr id="1930660542" name="Shape 7"/>
            <p:cNvSpPr/>
            <p:nvPr/>
          </p:nvSpPr>
          <p:spPr bwMode="auto">
            <a:xfrm>
              <a:off x="0" y="96012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2147081096" name="Text 8"/>
            <p:cNvSpPr/>
            <p:nvPr/>
          </p:nvSpPr>
          <p:spPr bwMode="auto">
            <a:xfrm>
              <a:off x="137160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Create</a:t>
              </a:r>
              <a:endParaRPr lang="en-US" sz="1100"/>
            </a:p>
          </p:txBody>
        </p:sp>
      </p:grpSp>
      <p:grpSp>
        <p:nvGrpSpPr>
          <p:cNvPr id="630773313" name=""/>
          <p:cNvGrpSpPr/>
          <p:nvPr/>
        </p:nvGrpSpPr>
        <p:grpSpPr bwMode="auto">
          <a:xfrm>
            <a:off x="366453" y="1802648"/>
            <a:ext cx="1965960" cy="274319"/>
            <a:chOff x="0" y="0"/>
            <a:chExt cx="1965960" cy="274319"/>
          </a:xfrm>
        </p:grpSpPr>
        <p:sp>
          <p:nvSpPr>
            <p:cNvPr id="549664658" name="Shape 9"/>
            <p:cNvSpPr/>
            <p:nvPr/>
          </p:nvSpPr>
          <p:spPr bwMode="auto">
            <a:xfrm>
              <a:off x="0" y="96012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800017141" name="Text 10"/>
            <p:cNvSpPr/>
            <p:nvPr/>
          </p:nvSpPr>
          <p:spPr bwMode="auto">
            <a:xfrm>
              <a:off x="137160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Edit</a:t>
              </a:r>
              <a:endParaRPr lang="en-US" sz="1100"/>
            </a:p>
          </p:txBody>
        </p:sp>
      </p:grpSp>
      <p:grpSp>
        <p:nvGrpSpPr>
          <p:cNvPr id="2125615672" name=""/>
          <p:cNvGrpSpPr/>
          <p:nvPr/>
        </p:nvGrpSpPr>
        <p:grpSpPr bwMode="auto">
          <a:xfrm>
            <a:off x="367146" y="2090736"/>
            <a:ext cx="1965960" cy="274320"/>
            <a:chOff x="0" y="0"/>
            <a:chExt cx="1965960" cy="274320"/>
          </a:xfrm>
        </p:grpSpPr>
        <p:sp>
          <p:nvSpPr>
            <p:cNvPr id="1510410736" name="Shape 11"/>
            <p:cNvSpPr/>
            <p:nvPr/>
          </p:nvSpPr>
          <p:spPr bwMode="auto">
            <a:xfrm>
              <a:off x="0" y="96012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851490425" name="Text 12"/>
            <p:cNvSpPr/>
            <p:nvPr/>
          </p:nvSpPr>
          <p:spPr bwMode="auto">
            <a:xfrm>
              <a:off x="137160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Delete</a:t>
              </a:r>
              <a:endParaRPr lang="en-US" sz="1100"/>
            </a:p>
          </p:txBody>
        </p:sp>
      </p:grpSp>
      <p:grpSp>
        <p:nvGrpSpPr>
          <p:cNvPr id="21980623" name=""/>
          <p:cNvGrpSpPr/>
          <p:nvPr/>
        </p:nvGrpSpPr>
        <p:grpSpPr bwMode="auto">
          <a:xfrm>
            <a:off x="367839" y="2378826"/>
            <a:ext cx="1965960" cy="274320"/>
            <a:chOff x="0" y="0"/>
            <a:chExt cx="1965960" cy="274320"/>
          </a:xfrm>
        </p:grpSpPr>
        <p:sp>
          <p:nvSpPr>
            <p:cNvPr id="530412973" name="Shape 13"/>
            <p:cNvSpPr/>
            <p:nvPr/>
          </p:nvSpPr>
          <p:spPr bwMode="auto">
            <a:xfrm>
              <a:off x="0" y="96012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432197281" name="Text 14"/>
            <p:cNvSpPr/>
            <p:nvPr/>
          </p:nvSpPr>
          <p:spPr bwMode="auto">
            <a:xfrm>
              <a:off x="137160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Change status</a:t>
              </a:r>
              <a:endParaRPr lang="en-US" sz="1100"/>
            </a:p>
          </p:txBody>
        </p:sp>
      </p:grpSp>
      <p:grpSp>
        <p:nvGrpSpPr>
          <p:cNvPr id="1611543351" name=""/>
          <p:cNvGrpSpPr/>
          <p:nvPr/>
        </p:nvGrpSpPr>
        <p:grpSpPr bwMode="auto">
          <a:xfrm>
            <a:off x="368533" y="2666915"/>
            <a:ext cx="1965960" cy="274320"/>
            <a:chOff x="0" y="0"/>
            <a:chExt cx="1965960" cy="274320"/>
          </a:xfrm>
        </p:grpSpPr>
        <p:sp>
          <p:nvSpPr>
            <p:cNvPr id="468185029" name="Shape 15"/>
            <p:cNvSpPr/>
            <p:nvPr/>
          </p:nvSpPr>
          <p:spPr bwMode="auto">
            <a:xfrm>
              <a:off x="0" y="96012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004951449" name="Text 16"/>
            <p:cNvSpPr/>
            <p:nvPr/>
          </p:nvSpPr>
          <p:spPr bwMode="auto">
            <a:xfrm>
              <a:off x="137160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Change priority</a:t>
              </a:r>
              <a:endParaRPr lang="en-US" sz="1100"/>
            </a:p>
          </p:txBody>
        </p:sp>
      </p:grpSp>
      <p:grpSp>
        <p:nvGrpSpPr>
          <p:cNvPr id="818181742" name=""/>
          <p:cNvGrpSpPr/>
          <p:nvPr/>
        </p:nvGrpSpPr>
        <p:grpSpPr bwMode="auto">
          <a:xfrm>
            <a:off x="369226" y="2955004"/>
            <a:ext cx="1965960" cy="274320"/>
            <a:chOff x="0" y="0"/>
            <a:chExt cx="1965960" cy="274320"/>
          </a:xfrm>
        </p:grpSpPr>
        <p:sp>
          <p:nvSpPr>
            <p:cNvPr id="1273286600" name="Shape 15"/>
            <p:cNvSpPr/>
            <p:nvPr/>
          </p:nvSpPr>
          <p:spPr bwMode="auto">
            <a:xfrm>
              <a:off x="0" y="96012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445505804" name="Text 16"/>
            <p:cNvSpPr/>
            <p:nvPr/>
          </p:nvSpPr>
          <p:spPr bwMode="auto">
            <a:xfrm>
              <a:off x="137160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Assign project member</a:t>
              </a:r>
              <a:endParaRPr lang="en-US" sz="1100"/>
            </a:p>
          </p:txBody>
        </p:sp>
      </p:grpSp>
      <p:grpSp>
        <p:nvGrpSpPr>
          <p:cNvPr id="1883486366" name=""/>
          <p:cNvGrpSpPr/>
          <p:nvPr/>
        </p:nvGrpSpPr>
        <p:grpSpPr bwMode="auto">
          <a:xfrm>
            <a:off x="369919" y="3243093"/>
            <a:ext cx="1965960" cy="274320"/>
            <a:chOff x="0" y="0"/>
            <a:chExt cx="1965960" cy="274320"/>
          </a:xfrm>
        </p:grpSpPr>
        <p:sp>
          <p:nvSpPr>
            <p:cNvPr id="1682840374" name="Shape 15"/>
            <p:cNvSpPr/>
            <p:nvPr/>
          </p:nvSpPr>
          <p:spPr bwMode="auto">
            <a:xfrm>
              <a:off x="0" y="96012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2121127150" name="Text 16"/>
            <p:cNvSpPr/>
            <p:nvPr/>
          </p:nvSpPr>
          <p:spPr bwMode="auto">
            <a:xfrm>
              <a:off x="137160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Assign epic</a:t>
              </a:r>
              <a:endParaRPr lang="en-US" sz="1100"/>
            </a:p>
          </p:txBody>
        </p:sp>
      </p:grpSp>
      <p:grpSp>
        <p:nvGrpSpPr>
          <p:cNvPr id="1089236089" name=""/>
          <p:cNvGrpSpPr/>
          <p:nvPr/>
        </p:nvGrpSpPr>
        <p:grpSpPr bwMode="auto">
          <a:xfrm>
            <a:off x="370613" y="3531182"/>
            <a:ext cx="1965960" cy="274320"/>
            <a:chOff x="0" y="0"/>
            <a:chExt cx="1965960" cy="274320"/>
          </a:xfrm>
        </p:grpSpPr>
        <p:sp>
          <p:nvSpPr>
            <p:cNvPr id="1302567565" name="Text 16"/>
            <p:cNvSpPr/>
            <p:nvPr/>
          </p:nvSpPr>
          <p:spPr bwMode="auto">
            <a:xfrm>
              <a:off x="137160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Manage comments</a:t>
              </a:r>
              <a:endParaRPr lang="en-US" sz="1100"/>
            </a:p>
          </p:txBody>
        </p:sp>
        <p:sp>
          <p:nvSpPr>
            <p:cNvPr id="2072570595" name="Shape 15"/>
            <p:cNvSpPr/>
            <p:nvPr/>
          </p:nvSpPr>
          <p:spPr bwMode="auto">
            <a:xfrm>
              <a:off x="0" y="96012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</p:grpSp>
      <p:grpSp>
        <p:nvGrpSpPr>
          <p:cNvPr id="459840996" name=""/>
          <p:cNvGrpSpPr/>
          <p:nvPr/>
        </p:nvGrpSpPr>
        <p:grpSpPr bwMode="auto">
          <a:xfrm>
            <a:off x="371306" y="3819271"/>
            <a:ext cx="1965960" cy="274320"/>
            <a:chOff x="0" y="0"/>
            <a:chExt cx="1965960" cy="274320"/>
          </a:xfrm>
        </p:grpSpPr>
        <p:sp>
          <p:nvSpPr>
            <p:cNvPr id="1214984347" name="Text 16"/>
            <p:cNvSpPr/>
            <p:nvPr/>
          </p:nvSpPr>
          <p:spPr bwMode="auto">
            <a:xfrm>
              <a:off x="137159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Search tasks</a:t>
              </a:r>
              <a:endParaRPr lang="en-US" sz="1100"/>
            </a:p>
          </p:txBody>
        </p:sp>
        <p:sp>
          <p:nvSpPr>
            <p:cNvPr id="662735520" name="Shape 15"/>
            <p:cNvSpPr/>
            <p:nvPr/>
          </p:nvSpPr>
          <p:spPr bwMode="auto">
            <a:xfrm>
              <a:off x="0" y="96011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</p:grpSp>
      <p:grpSp>
        <p:nvGrpSpPr>
          <p:cNvPr id="1091002730" name=""/>
          <p:cNvGrpSpPr/>
          <p:nvPr/>
        </p:nvGrpSpPr>
        <p:grpSpPr bwMode="auto">
          <a:xfrm>
            <a:off x="371999" y="4107360"/>
            <a:ext cx="1965960" cy="274319"/>
            <a:chOff x="0" y="0"/>
            <a:chExt cx="1965960" cy="274319"/>
          </a:xfrm>
        </p:grpSpPr>
        <p:sp>
          <p:nvSpPr>
            <p:cNvPr id="1875110692" name="Text 16"/>
            <p:cNvSpPr/>
            <p:nvPr/>
          </p:nvSpPr>
          <p:spPr bwMode="auto">
            <a:xfrm>
              <a:off x="137159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Filter tasks</a:t>
              </a:r>
              <a:endParaRPr lang="en-US" sz="1100"/>
            </a:p>
          </p:txBody>
        </p:sp>
        <p:sp>
          <p:nvSpPr>
            <p:cNvPr id="2041602587" name="Shape 15"/>
            <p:cNvSpPr/>
            <p:nvPr/>
          </p:nvSpPr>
          <p:spPr bwMode="auto">
            <a:xfrm>
              <a:off x="0" y="96011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</p:grpSp>
      <p:sp>
        <p:nvSpPr>
          <p:cNvPr id="1652948366" name="Shape 29"/>
          <p:cNvSpPr/>
          <p:nvPr/>
        </p:nvSpPr>
        <p:spPr bwMode="auto">
          <a:xfrm flipH="0" flipV="0">
            <a:off x="5057276" y="4285668"/>
            <a:ext cx="1654419" cy="150874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sp>
        <p:nvSpPr>
          <p:cNvPr id="890895917" name="Shape 29"/>
          <p:cNvSpPr/>
          <p:nvPr/>
        </p:nvSpPr>
        <p:spPr bwMode="auto">
          <a:xfrm flipH="0" flipV="1">
            <a:off x="4915111" y="1804891"/>
            <a:ext cx="1796977" cy="2124274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sp>
        <p:nvSpPr>
          <p:cNvPr id="1901167722" name="Shape 29"/>
          <p:cNvSpPr/>
          <p:nvPr/>
        </p:nvSpPr>
        <p:spPr bwMode="auto">
          <a:xfrm flipH="0" flipV="0">
            <a:off x="2395728" y="2879168"/>
            <a:ext cx="2036025" cy="1150468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sp>
        <p:nvSpPr>
          <p:cNvPr id="1204083780" name="Shape 29"/>
          <p:cNvSpPr/>
          <p:nvPr/>
        </p:nvSpPr>
        <p:spPr bwMode="auto">
          <a:xfrm flipH="1" flipV="0">
            <a:off x="5057276" y="3139006"/>
            <a:ext cx="1654813" cy="890629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sp>
        <p:nvSpPr>
          <p:cNvPr id="1336086657" name="Shape 29"/>
          <p:cNvSpPr/>
          <p:nvPr/>
        </p:nvSpPr>
        <p:spPr bwMode="auto">
          <a:xfrm flipH="0" flipV="0">
            <a:off x="4722875" y="2422112"/>
            <a:ext cx="0" cy="1433787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270757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98578875" name="Text 1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Case – Project Manager</a:t>
            </a:r>
            <a:endParaRPr lang="en-US" sz="2200"/>
          </a:p>
        </p:txBody>
      </p:sp>
      <p:sp>
        <p:nvSpPr>
          <p:cNvPr id="146864079" name="Shape 2"/>
          <p:cNvSpPr/>
          <p:nvPr/>
        </p:nvSpPr>
        <p:spPr bwMode="auto">
          <a:xfrm>
            <a:off x="274320" y="749808"/>
            <a:ext cx="8595360" cy="246888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67321058" name="Text 3"/>
          <p:cNvSpPr/>
          <p:nvPr/>
        </p:nvSpPr>
        <p:spPr bwMode="auto">
          <a:xfrm>
            <a:off x="411480" y="74980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⬆  Includes all Project Member use cases</a:t>
            </a:r>
            <a:endParaRPr lang="en-US" sz="1000"/>
          </a:p>
        </p:txBody>
      </p:sp>
      <p:sp>
        <p:nvSpPr>
          <p:cNvPr id="1024274937" name="Shape 29"/>
          <p:cNvSpPr/>
          <p:nvPr/>
        </p:nvSpPr>
        <p:spPr bwMode="auto">
          <a:xfrm flipH="0" flipV="1">
            <a:off x="4867723" y="2699034"/>
            <a:ext cx="2313068" cy="1066151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grpSp>
        <p:nvGrpSpPr>
          <p:cNvPr id="564140426" name=""/>
          <p:cNvGrpSpPr/>
          <p:nvPr/>
        </p:nvGrpSpPr>
        <p:grpSpPr bwMode="auto">
          <a:xfrm>
            <a:off x="4091940" y="3573768"/>
            <a:ext cx="960120" cy="896111"/>
            <a:chOff x="0" y="0"/>
            <a:chExt cx="960120" cy="896111"/>
          </a:xfrm>
        </p:grpSpPr>
        <p:sp>
          <p:nvSpPr>
            <p:cNvPr id="1338645073" name="Shape 4"/>
            <p:cNvSpPr/>
            <p:nvPr/>
          </p:nvSpPr>
          <p:spPr bwMode="auto">
            <a:xfrm>
              <a:off x="182880" y="0"/>
              <a:ext cx="594360" cy="594360"/>
            </a:xfrm>
            <a:prstGeom prst="ellipse">
              <a:avLst/>
            </a:prstGeom>
            <a:solidFill>
              <a:srgbClr val="FFF7ED"/>
            </a:solidFill>
            <a:ln w="25400">
              <a:solidFill>
                <a:srgbClr val="F97316"/>
              </a:solidFill>
              <a:prstDash val="solid"/>
            </a:ln>
          </p:spPr>
        </p:sp>
        <p:pic>
          <p:nvPicPr>
            <p:cNvPr id="889206525" name="Image 0" descr="preencoded.png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274320" y="91439"/>
              <a:ext cx="411480" cy="411480"/>
            </a:xfrm>
            <a:prstGeom prst="rect">
              <a:avLst/>
            </a:prstGeom>
          </p:spPr>
        </p:pic>
        <p:sp>
          <p:nvSpPr>
            <p:cNvPr id="372029419" name="Text 5"/>
            <p:cNvSpPr/>
            <p:nvPr/>
          </p:nvSpPr>
          <p:spPr bwMode="auto">
            <a:xfrm>
              <a:off x="0" y="621791"/>
              <a:ext cx="960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900" b="1">
                  <a:solidFill>
                    <a:srgbClr val="F97316"/>
                  </a:solidFill>
                  <a:latin typeface="Calibri"/>
                  <a:ea typeface="Calibri"/>
                  <a:cs typeface="Calibri"/>
                </a:rPr>
                <a:t>Project Manager</a:t>
              </a:r>
              <a:endParaRPr lang="en-US" sz="900"/>
            </a:p>
          </p:txBody>
        </p:sp>
      </p:grpSp>
      <p:grpSp>
        <p:nvGrpSpPr>
          <p:cNvPr id="1658739631" name=""/>
          <p:cNvGrpSpPr/>
          <p:nvPr/>
        </p:nvGrpSpPr>
        <p:grpSpPr bwMode="auto">
          <a:xfrm>
            <a:off x="6005583" y="1653388"/>
            <a:ext cx="2194559" cy="1033272"/>
            <a:chOff x="0" y="0"/>
            <a:chExt cx="2194559" cy="1033272"/>
          </a:xfrm>
        </p:grpSpPr>
        <p:sp>
          <p:nvSpPr>
            <p:cNvPr id="1125833184" name="Shape 14"/>
            <p:cNvSpPr/>
            <p:nvPr/>
          </p:nvSpPr>
          <p:spPr bwMode="auto">
            <a:xfrm>
              <a:off x="0" y="0"/>
              <a:ext cx="2194560" cy="10332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862933267" name="Shape 15"/>
            <p:cNvSpPr/>
            <p:nvPr/>
          </p:nvSpPr>
          <p:spPr bwMode="auto">
            <a:xfrm>
              <a:off x="0" y="0"/>
              <a:ext cx="2194560" cy="347472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080850083" name="Text 16"/>
            <p:cNvSpPr/>
            <p:nvPr/>
          </p:nvSpPr>
          <p:spPr bwMode="auto">
            <a:xfrm>
              <a:off x="118469" y="0"/>
              <a:ext cx="1783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Project </a:t>
              </a:r>
              <a:r>
                <a:rPr lang="en-US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Members</a:t>
              </a:r>
              <a:endParaRPr lang="en-US" sz="1100"/>
            </a:p>
          </p:txBody>
        </p:sp>
        <p:sp>
          <p:nvSpPr>
            <p:cNvPr id="1034649681" name="Shape 17"/>
            <p:cNvSpPr/>
            <p:nvPr/>
          </p:nvSpPr>
          <p:spPr bwMode="auto">
            <a:xfrm>
              <a:off x="165858" y="498347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730646817" name="Text 18"/>
            <p:cNvSpPr/>
            <p:nvPr/>
          </p:nvSpPr>
          <p:spPr bwMode="auto">
            <a:xfrm>
              <a:off x="301752" y="402335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Assign member</a:t>
              </a:r>
              <a:endParaRPr lang="en-US" sz="1100"/>
            </a:p>
          </p:txBody>
        </p:sp>
        <p:sp>
          <p:nvSpPr>
            <p:cNvPr id="1812917473" name="Shape 19"/>
            <p:cNvSpPr/>
            <p:nvPr/>
          </p:nvSpPr>
          <p:spPr bwMode="auto">
            <a:xfrm>
              <a:off x="165858" y="772668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71075944" name="Text 20"/>
            <p:cNvSpPr/>
            <p:nvPr/>
          </p:nvSpPr>
          <p:spPr bwMode="auto">
            <a:xfrm>
              <a:off x="301752" y="676656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Remove member</a:t>
              </a:r>
              <a:endParaRPr lang="en-US" sz="1100"/>
            </a:p>
          </p:txBody>
        </p:sp>
      </p:grpSp>
      <p:sp>
        <p:nvSpPr>
          <p:cNvPr id="791151807" name="Shape 29"/>
          <p:cNvSpPr/>
          <p:nvPr/>
        </p:nvSpPr>
        <p:spPr bwMode="auto">
          <a:xfrm flipH="0" flipV="0">
            <a:off x="1868059" y="2699034"/>
            <a:ext cx="2416790" cy="1066151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grpSp>
        <p:nvGrpSpPr>
          <p:cNvPr id="1022503775" name=""/>
          <p:cNvGrpSpPr/>
          <p:nvPr/>
        </p:nvGrpSpPr>
        <p:grpSpPr bwMode="auto">
          <a:xfrm>
            <a:off x="838920" y="1648649"/>
            <a:ext cx="2199298" cy="1033272"/>
            <a:chOff x="0" y="0"/>
            <a:chExt cx="2199298" cy="1033272"/>
          </a:xfrm>
        </p:grpSpPr>
        <p:sp>
          <p:nvSpPr>
            <p:cNvPr id="1261029091" name="Shape 6"/>
            <p:cNvSpPr/>
            <p:nvPr/>
          </p:nvSpPr>
          <p:spPr bwMode="auto">
            <a:xfrm>
              <a:off x="0" y="0"/>
              <a:ext cx="2194560" cy="10332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765204893" name="Shape 7"/>
            <p:cNvSpPr/>
            <p:nvPr/>
          </p:nvSpPr>
          <p:spPr bwMode="auto">
            <a:xfrm>
              <a:off x="4738" y="0"/>
              <a:ext cx="2194560" cy="347472"/>
            </a:xfrm>
            <a:prstGeom prst="rect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83158466" name="Text 8"/>
            <p:cNvSpPr/>
            <p:nvPr/>
          </p:nvSpPr>
          <p:spPr bwMode="auto">
            <a:xfrm>
              <a:off x="123208" y="0"/>
              <a:ext cx="1783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Projects</a:t>
              </a:r>
              <a:endParaRPr lang="en-US" sz="1100"/>
            </a:p>
          </p:txBody>
        </p:sp>
        <p:sp>
          <p:nvSpPr>
            <p:cNvPr id="454399619" name="Shape 9"/>
            <p:cNvSpPr/>
            <p:nvPr/>
          </p:nvSpPr>
          <p:spPr bwMode="auto">
            <a:xfrm>
              <a:off x="170596" y="498347"/>
              <a:ext cx="82296" cy="82296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606694358" name="Text 10"/>
            <p:cNvSpPr/>
            <p:nvPr/>
          </p:nvSpPr>
          <p:spPr bwMode="auto">
            <a:xfrm>
              <a:off x="306490" y="402335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Create project</a:t>
              </a:r>
              <a:endParaRPr lang="en-US" sz="1100"/>
            </a:p>
          </p:txBody>
        </p:sp>
        <p:sp>
          <p:nvSpPr>
            <p:cNvPr id="1628612922" name="Shape 11"/>
            <p:cNvSpPr/>
            <p:nvPr/>
          </p:nvSpPr>
          <p:spPr bwMode="auto">
            <a:xfrm>
              <a:off x="169330" y="772668"/>
              <a:ext cx="82296" cy="82296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32523337" name="Text 12"/>
            <p:cNvSpPr/>
            <p:nvPr/>
          </p:nvSpPr>
          <p:spPr bwMode="auto">
            <a:xfrm>
              <a:off x="306490" y="676656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Delete project</a:t>
              </a:r>
              <a:endParaRPr lang="en-US"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551554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827621038" name="Text 1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Case – Admin</a:t>
            </a:r>
            <a:endParaRPr lang="en-US" sz="2200"/>
          </a:p>
        </p:txBody>
      </p:sp>
      <p:sp>
        <p:nvSpPr>
          <p:cNvPr id="1594154094" name="Shape 2"/>
          <p:cNvSpPr/>
          <p:nvPr/>
        </p:nvSpPr>
        <p:spPr bwMode="auto">
          <a:xfrm>
            <a:off x="274320" y="749808"/>
            <a:ext cx="8595360" cy="246888"/>
          </a:xfrm>
          <a:prstGeom prst="rect">
            <a:avLst/>
          </a:prstGeom>
          <a:solidFill>
            <a:srgbClr val="FAF5FF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7607525" name="Text 3"/>
          <p:cNvSpPr/>
          <p:nvPr/>
        </p:nvSpPr>
        <p:spPr bwMode="auto">
          <a:xfrm>
            <a:off x="411480" y="74980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9333EA"/>
                </a:solidFill>
                <a:latin typeface="Calibri"/>
                <a:ea typeface="Calibri"/>
                <a:cs typeface="Calibri"/>
              </a:rPr>
              <a:t>⬆  Includes all Project Manager &amp; Member use cases</a:t>
            </a:r>
            <a:endParaRPr lang="en-US" sz="1000"/>
          </a:p>
        </p:txBody>
      </p:sp>
      <p:grpSp>
        <p:nvGrpSpPr>
          <p:cNvPr id="707970611" name=""/>
          <p:cNvGrpSpPr/>
          <p:nvPr/>
        </p:nvGrpSpPr>
        <p:grpSpPr bwMode="auto">
          <a:xfrm>
            <a:off x="4229100" y="3474253"/>
            <a:ext cx="685800" cy="896111"/>
            <a:chOff x="0" y="0"/>
            <a:chExt cx="685800" cy="896111"/>
          </a:xfrm>
        </p:grpSpPr>
        <p:sp>
          <p:nvSpPr>
            <p:cNvPr id="2131607583" name="Shape 4"/>
            <p:cNvSpPr/>
            <p:nvPr/>
          </p:nvSpPr>
          <p:spPr bwMode="auto">
            <a:xfrm>
              <a:off x="45719" y="0"/>
              <a:ext cx="594360" cy="594360"/>
            </a:xfrm>
            <a:prstGeom prst="ellipse">
              <a:avLst/>
            </a:prstGeom>
            <a:solidFill>
              <a:srgbClr val="FAF5FF"/>
            </a:solidFill>
            <a:ln w="25400">
              <a:solidFill>
                <a:srgbClr val="9333EA"/>
              </a:solidFill>
              <a:prstDash val="solid"/>
            </a:ln>
          </p:spPr>
        </p:sp>
        <p:pic>
          <p:nvPicPr>
            <p:cNvPr id="617636203" name="Image 0" descr="preencoded.png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137160" y="91439"/>
              <a:ext cx="411480" cy="411480"/>
            </a:xfrm>
            <a:prstGeom prst="rect">
              <a:avLst/>
            </a:prstGeom>
          </p:spPr>
        </p:pic>
        <p:sp>
          <p:nvSpPr>
            <p:cNvPr id="289418284" name="Text 5"/>
            <p:cNvSpPr/>
            <p:nvPr/>
          </p:nvSpPr>
          <p:spPr bwMode="auto">
            <a:xfrm>
              <a:off x="0" y="621791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900" b="1">
                  <a:solidFill>
                    <a:srgbClr val="9333EA"/>
                  </a:solidFill>
                  <a:latin typeface="Calibri"/>
                  <a:ea typeface="Calibri"/>
                  <a:cs typeface="Calibri"/>
                </a:rPr>
                <a:t>Admin</a:t>
              </a:r>
              <a:endParaRPr lang="en-US" sz="900"/>
            </a:p>
          </p:txBody>
        </p:sp>
      </p:grpSp>
      <p:sp>
        <p:nvSpPr>
          <p:cNvPr id="938224161" name="Shape 29"/>
          <p:cNvSpPr/>
          <p:nvPr/>
        </p:nvSpPr>
        <p:spPr bwMode="auto">
          <a:xfrm flipH="0" flipV="0">
            <a:off x="2370372" y="2419365"/>
            <a:ext cx="1914475" cy="1222610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grpSp>
        <p:nvGrpSpPr>
          <p:cNvPr id="1395350226" name=""/>
          <p:cNvGrpSpPr/>
          <p:nvPr/>
        </p:nvGrpSpPr>
        <p:grpSpPr bwMode="auto">
          <a:xfrm>
            <a:off x="5693883" y="1448359"/>
            <a:ext cx="2199297" cy="733042"/>
            <a:chOff x="0" y="0"/>
            <a:chExt cx="2199297" cy="733042"/>
          </a:xfrm>
        </p:grpSpPr>
        <p:sp>
          <p:nvSpPr>
            <p:cNvPr id="1096689932" name="Shape 6"/>
            <p:cNvSpPr/>
            <p:nvPr/>
          </p:nvSpPr>
          <p:spPr bwMode="auto">
            <a:xfrm flipH="0" flipV="0">
              <a:off x="0" y="0"/>
              <a:ext cx="2194560" cy="73304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1528544736" name="Shape 7"/>
            <p:cNvSpPr/>
            <p:nvPr/>
          </p:nvSpPr>
          <p:spPr bwMode="auto">
            <a:xfrm>
              <a:off x="4737" y="0"/>
              <a:ext cx="2194560" cy="347471"/>
            </a:xfrm>
            <a:prstGeom prst="rect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1124568451" name="Text 8"/>
            <p:cNvSpPr/>
            <p:nvPr/>
          </p:nvSpPr>
          <p:spPr bwMode="auto">
            <a:xfrm>
              <a:off x="123207" y="0"/>
              <a:ext cx="1783080" cy="3474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Role Management</a:t>
              </a:r>
              <a:endParaRPr lang="en-US" sz="1100"/>
            </a:p>
          </p:txBody>
        </p:sp>
        <p:sp>
          <p:nvSpPr>
            <p:cNvPr id="1672318149" name="Shape 9"/>
            <p:cNvSpPr/>
            <p:nvPr/>
          </p:nvSpPr>
          <p:spPr bwMode="auto">
            <a:xfrm>
              <a:off x="170596" y="498346"/>
              <a:ext cx="82296" cy="8229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681172184" name="Text 10"/>
            <p:cNvSpPr/>
            <p:nvPr/>
          </p:nvSpPr>
          <p:spPr bwMode="auto">
            <a:xfrm>
              <a:off x="306489" y="40233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 b="0" i="0" u="none" strike="noStrike" cap="none" spc="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Change user role</a:t>
              </a:r>
              <a:endParaRPr sz="1100"/>
            </a:p>
          </p:txBody>
        </p:sp>
      </p:grpSp>
      <p:sp>
        <p:nvSpPr>
          <p:cNvPr id="2044140067" name="Shape 29"/>
          <p:cNvSpPr/>
          <p:nvPr/>
        </p:nvSpPr>
        <p:spPr bwMode="auto">
          <a:xfrm flipH="1" flipV="0">
            <a:off x="4872462" y="2181402"/>
            <a:ext cx="1955040" cy="1460574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grpSp>
        <p:nvGrpSpPr>
          <p:cNvPr id="1907407505" name=""/>
          <p:cNvGrpSpPr/>
          <p:nvPr/>
        </p:nvGrpSpPr>
        <p:grpSpPr bwMode="auto">
          <a:xfrm>
            <a:off x="1258080" y="1385315"/>
            <a:ext cx="2199297" cy="1033272"/>
            <a:chOff x="0" y="0"/>
            <a:chExt cx="2199297" cy="1033272"/>
          </a:xfrm>
        </p:grpSpPr>
        <p:sp>
          <p:nvSpPr>
            <p:cNvPr id="666264661" name="Shape 6"/>
            <p:cNvSpPr/>
            <p:nvPr/>
          </p:nvSpPr>
          <p:spPr bwMode="auto">
            <a:xfrm>
              <a:off x="0" y="0"/>
              <a:ext cx="2194560" cy="10332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663022233" name="Shape 7"/>
            <p:cNvSpPr/>
            <p:nvPr/>
          </p:nvSpPr>
          <p:spPr bwMode="auto">
            <a:xfrm>
              <a:off x="4737" y="0"/>
              <a:ext cx="2194560" cy="347471"/>
            </a:xfrm>
            <a:prstGeom prst="rect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1592914500" name="Text 8"/>
            <p:cNvSpPr/>
            <p:nvPr/>
          </p:nvSpPr>
          <p:spPr bwMode="auto">
            <a:xfrm>
              <a:off x="123207" y="0"/>
              <a:ext cx="1783080" cy="3474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User Management</a:t>
              </a:r>
              <a:endParaRPr lang="en-US" sz="1100"/>
            </a:p>
          </p:txBody>
        </p:sp>
        <p:sp>
          <p:nvSpPr>
            <p:cNvPr id="932413197" name="Shape 9"/>
            <p:cNvSpPr/>
            <p:nvPr/>
          </p:nvSpPr>
          <p:spPr bwMode="auto">
            <a:xfrm>
              <a:off x="170595" y="498346"/>
              <a:ext cx="82296" cy="8229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1637812101" name="Text 10"/>
            <p:cNvSpPr/>
            <p:nvPr/>
          </p:nvSpPr>
          <p:spPr bwMode="auto">
            <a:xfrm>
              <a:off x="306489" y="40233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Create </a:t>
              </a: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user</a:t>
              </a:r>
              <a:endParaRPr lang="en-US" sz="1100"/>
            </a:p>
          </p:txBody>
        </p:sp>
        <p:sp>
          <p:nvSpPr>
            <p:cNvPr id="498651531" name="Shape 11"/>
            <p:cNvSpPr/>
            <p:nvPr/>
          </p:nvSpPr>
          <p:spPr bwMode="auto">
            <a:xfrm>
              <a:off x="169329" y="772668"/>
              <a:ext cx="82296" cy="8229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1639240353" name="Text 12"/>
            <p:cNvSpPr/>
            <p:nvPr/>
          </p:nvSpPr>
          <p:spPr bwMode="auto">
            <a:xfrm>
              <a:off x="306489" y="676656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Delete </a:t>
              </a: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user</a:t>
              </a:r>
              <a:endParaRPr lang="en-US"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Jira – Use Cases &amp; Roles</dc:title>
  <dc:subject>PptxGenJS Presentation</dc:subject>
  <dc:creator>PptxGenJS</dc:creator>
  <cp:lastModifiedBy/>
  <cp:revision>4</cp:revision>
  <dcterms:created xsi:type="dcterms:W3CDTF">2026-04-06T11:44:17Z</dcterms:created>
  <dcterms:modified xsi:type="dcterms:W3CDTF">2026-04-11T17:50:28Z</dcterms:modified>
</cp:coreProperties>
</file>