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wmf" ContentType="image/x-wmf"/>
  <Default Extension="png" ContentType="image/png"/>
  <Default Extension="rels" ContentType="application/vnd.openxmlformats-package.relationships+xml"/>
  <Default Extension="bin" ContentType="application/vnd.openxmlformats-officedocument.oleObject"/>
  <Override PartName="/ppt/notesSlides/notesSlide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notesSlides/notesSlide7.xml" ContentType="application/vnd.openxmlformats-officedocument.presentationml.notesSlid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viewProps.xml" ContentType="application/vnd.openxmlformats-officedocument.presentationml.viewProps+xml"/>
  <Override PartName="/ppt/slideLayouts/slideLayout1.xml" ContentType="application/vnd.openxmlformats-officedocument.presentationml.slideLayout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ppt/slides/slide6.xml" ContentType="application/vnd.openxmlformats-officedocument.presentationml.slide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10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9144000" cy="5143500"/>
  <p:notesSz cx="5143500" cy="9144000"/>
  <p:defaultTextStyle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>
        <p:guide pos="2880"/>
        <p:guide pos="162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 /><Relationship Id="rId12" Type="http://schemas.openxmlformats.org/officeDocument/2006/relationships/tableStyles" Target="tableStyles.xml" /><Relationship Id="rId13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5280865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614068449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2096728543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327201737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8841450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6204263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1053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586010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278386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980036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835327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627602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91618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245984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952989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F08F0D-7539-486C-00E3-B9F98861758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01402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525633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153895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08E325-F849-A203-B3CC-E685AAE7F1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20028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347058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008677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73554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43248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522923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827188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368804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213872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bg>
      <p:bgPr shadeToTitle="0">
        <a:solidFill>
          <a:srgbClr val="1A2B4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5185129" name="Shape 0"/>
          <p:cNvSpPr/>
          <p:nvPr/>
        </p:nvSpPr>
        <p:spPr bwMode="auto"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23229040" name="Shape 1"/>
          <p:cNvSpPr/>
          <p:nvPr/>
        </p:nvSpPr>
        <p:spPr bwMode="auto">
          <a:xfrm>
            <a:off x="365760" y="274320"/>
            <a:ext cx="109728" cy="109728"/>
          </a:xfrm>
          <a:prstGeom prst="ellipse">
            <a:avLst/>
          </a:prstGeom>
          <a:solidFill>
            <a:srgbClr val="14B8A6">
              <a:alpha val="60000"/>
            </a:srgbClr>
          </a:solidFill>
          <a:ln w="12700">
            <a:solidFill>
              <a:srgbClr val="14B8A6">
                <a:alpha val="60000"/>
              </a:srgbClr>
            </a:solidFill>
            <a:prstDash val="solid"/>
          </a:ln>
        </p:spPr>
      </p:sp>
      <p:sp>
        <p:nvSpPr>
          <p:cNvPr id="26456648" name="Shape 2"/>
          <p:cNvSpPr/>
          <p:nvPr/>
        </p:nvSpPr>
        <p:spPr bwMode="auto">
          <a:xfrm>
            <a:off x="685800" y="274320"/>
            <a:ext cx="109728" cy="109728"/>
          </a:xfrm>
          <a:prstGeom prst="ellipse">
            <a:avLst/>
          </a:prstGeom>
          <a:solidFill>
            <a:srgbClr val="14B8A6">
              <a:alpha val="60000"/>
            </a:srgbClr>
          </a:solidFill>
          <a:ln w="12700">
            <a:solidFill>
              <a:srgbClr val="14B8A6">
                <a:alpha val="60000"/>
              </a:srgbClr>
            </a:solidFill>
            <a:prstDash val="solid"/>
          </a:ln>
        </p:spPr>
      </p:sp>
      <p:sp>
        <p:nvSpPr>
          <p:cNvPr id="1519134280" name="Shape 3"/>
          <p:cNvSpPr/>
          <p:nvPr/>
        </p:nvSpPr>
        <p:spPr bwMode="auto">
          <a:xfrm>
            <a:off x="1005840" y="274320"/>
            <a:ext cx="109728" cy="109728"/>
          </a:xfrm>
          <a:prstGeom prst="ellipse">
            <a:avLst/>
          </a:prstGeom>
          <a:solidFill>
            <a:srgbClr val="14B8A6">
              <a:alpha val="60000"/>
            </a:srgbClr>
          </a:solidFill>
          <a:ln w="12700">
            <a:solidFill>
              <a:srgbClr val="14B8A6">
                <a:alpha val="60000"/>
              </a:srgbClr>
            </a:solidFill>
            <a:prstDash val="solid"/>
          </a:ln>
        </p:spPr>
      </p:sp>
      <p:sp>
        <p:nvSpPr>
          <p:cNvPr id="1689348922" name="Shape 4"/>
          <p:cNvSpPr/>
          <p:nvPr/>
        </p:nvSpPr>
        <p:spPr bwMode="auto">
          <a:xfrm>
            <a:off x="1325880" y="274320"/>
            <a:ext cx="109728" cy="109728"/>
          </a:xfrm>
          <a:prstGeom prst="ellipse">
            <a:avLst/>
          </a:prstGeom>
          <a:solidFill>
            <a:srgbClr val="14B8A6">
              <a:alpha val="60000"/>
            </a:srgbClr>
          </a:solidFill>
          <a:ln w="12700">
            <a:solidFill>
              <a:srgbClr val="14B8A6">
                <a:alpha val="60000"/>
              </a:srgbClr>
            </a:solidFill>
            <a:prstDash val="solid"/>
          </a:ln>
        </p:spPr>
      </p:sp>
      <p:sp>
        <p:nvSpPr>
          <p:cNvPr id="87373052" name="Shape 5"/>
          <p:cNvSpPr/>
          <p:nvPr/>
        </p:nvSpPr>
        <p:spPr bwMode="auto">
          <a:xfrm>
            <a:off x="1645920" y="274320"/>
            <a:ext cx="109728" cy="109728"/>
          </a:xfrm>
          <a:prstGeom prst="ellipse">
            <a:avLst/>
          </a:prstGeom>
          <a:solidFill>
            <a:srgbClr val="14B8A6">
              <a:alpha val="60000"/>
            </a:srgbClr>
          </a:solidFill>
          <a:ln w="12700">
            <a:solidFill>
              <a:srgbClr val="14B8A6">
                <a:alpha val="60000"/>
              </a:srgbClr>
            </a:solidFill>
            <a:prstDash val="solid"/>
          </a:ln>
        </p:spPr>
      </p:sp>
      <p:sp>
        <p:nvSpPr>
          <p:cNvPr id="1885791790" name="Text 6"/>
          <p:cNvSpPr/>
          <p:nvPr/>
        </p:nvSpPr>
        <p:spPr bwMode="auto">
          <a:xfrm>
            <a:off x="457200" y="10972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Mini Jira</a:t>
            </a:r>
            <a:endParaRPr lang="en-US" sz="5200"/>
          </a:p>
        </p:txBody>
      </p:sp>
      <p:sp>
        <p:nvSpPr>
          <p:cNvPr id="73157080" name="Text 7"/>
          <p:cNvSpPr/>
          <p:nvPr/>
        </p:nvSpPr>
        <p:spPr bwMode="auto">
          <a:xfrm>
            <a:off x="457200" y="20116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28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Use Cases &amp; Roles</a:t>
            </a:r>
            <a:endParaRPr lang="en-US" sz="2800"/>
          </a:p>
        </p:txBody>
      </p:sp>
      <p:sp>
        <p:nvSpPr>
          <p:cNvPr id="149352817" name="Shape 8"/>
          <p:cNvSpPr/>
          <p:nvPr/>
        </p:nvSpPr>
        <p:spPr bwMode="auto">
          <a:xfrm>
            <a:off x="457200" y="2788920"/>
            <a:ext cx="292608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04663554" name="Text 9"/>
          <p:cNvSpPr/>
          <p:nvPr/>
        </p:nvSpPr>
        <p:spPr bwMode="auto">
          <a:xfrm>
            <a:off x="457200" y="3017519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1400">
                <a:solidFill>
                  <a:srgbClr val="CBD5E1"/>
                </a:solidFill>
                <a:latin typeface="Calibri"/>
                <a:ea typeface="Calibri"/>
                <a:cs typeface="Calibri"/>
              </a:rPr>
              <a:t>Task, Project &amp; Team Management</a:t>
            </a:r>
            <a:endParaRPr lang="en-US"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02393" name="Shape 0"/>
          <p:cNvSpPr/>
          <p:nvPr/>
        </p:nvSpPr>
        <p:spPr bwMode="auto">
          <a:xfrm>
            <a:off x="0" y="0"/>
            <a:ext cx="9144000" cy="6858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709022521" name="Text 1"/>
          <p:cNvSpPr/>
          <p:nvPr/>
        </p:nvSpPr>
        <p:spPr bwMode="auto"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Team</a:t>
            </a:r>
            <a:endParaRPr lang="en-US" sz="2200"/>
          </a:p>
        </p:txBody>
      </p:sp>
      <p:sp>
        <p:nvSpPr>
          <p:cNvPr id="2015799492" name=""/>
          <p:cNvSpPr txBox="1"/>
          <p:nvPr/>
        </p:nvSpPr>
        <p:spPr bwMode="auto">
          <a:xfrm rot="0" flipH="0" flipV="0">
            <a:off x="3294519" y="2388689"/>
            <a:ext cx="2554961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de-DE"/>
              <a:t>Add Picture of Team here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13654" name="Shape 0"/>
          <p:cNvSpPr/>
          <p:nvPr/>
        </p:nvSpPr>
        <p:spPr bwMode="auto">
          <a:xfrm>
            <a:off x="0" y="0"/>
            <a:ext cx="9144000" cy="6858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701849693" name="Text 1"/>
          <p:cNvSpPr/>
          <p:nvPr/>
        </p:nvSpPr>
        <p:spPr bwMode="auto"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Project Idea</a:t>
            </a:r>
            <a:endParaRPr lang="en-US" sz="2200"/>
          </a:p>
        </p:txBody>
      </p:sp>
      <p:sp>
        <p:nvSpPr>
          <p:cNvPr id="1376518645" name="Shape 2"/>
          <p:cNvSpPr/>
          <p:nvPr/>
        </p:nvSpPr>
        <p:spPr bwMode="auto">
          <a:xfrm flipH="0" flipV="0">
            <a:off x="206301" y="995773"/>
            <a:ext cx="8731393" cy="770699"/>
          </a:xfrm>
          <a:prstGeom prst="flowChartAlternateProcess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1736576367" name="Shape 2"/>
          <p:cNvSpPr/>
          <p:nvPr/>
        </p:nvSpPr>
        <p:spPr bwMode="auto">
          <a:xfrm flipH="0" flipV="0">
            <a:off x="206301" y="1901716"/>
            <a:ext cx="8731393" cy="770699"/>
          </a:xfrm>
          <a:prstGeom prst="flowChartAlternateProcess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419068424" name="Shape 2"/>
          <p:cNvSpPr/>
          <p:nvPr/>
        </p:nvSpPr>
        <p:spPr bwMode="auto">
          <a:xfrm flipH="0" flipV="0">
            <a:off x="206301" y="2807660"/>
            <a:ext cx="8731393" cy="770699"/>
          </a:xfrm>
          <a:prstGeom prst="flowChartAlternateProcess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406374053" name="Shape 2"/>
          <p:cNvSpPr/>
          <p:nvPr/>
        </p:nvSpPr>
        <p:spPr bwMode="auto">
          <a:xfrm flipH="0" flipV="0">
            <a:off x="206301" y="3713603"/>
            <a:ext cx="8731393" cy="770699"/>
          </a:xfrm>
          <a:prstGeom prst="flowChartAlternateProcess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sx="100000" sy="100000" kx="0" ky="0" algn="bl" rotWithShape="0">
              <a:srgbClr val="000000">
                <a:alpha val="10000"/>
              </a:srgbClr>
            </a:outerShdw>
          </a:effectLst>
        </p:spPr>
      </p:sp>
      <p:sp modelId="{A8BC8CD6-8738-41EA-9E71-3CD4C9AF2582}">
        <p:nvSpPr>
          <p:cNvPr id="1983877742" name=""/>
          <p:cNvSpPr/>
          <p:nvPr/>
        </p:nvSpPr>
        <p:spPr bwMode="auto">
          <a:xfrm>
            <a:off x="345746" y="1039316"/>
            <a:ext cx="683612" cy="683612"/>
          </a:xfrm>
          <a:prstGeom prst="rect">
            <a:avLst/>
          </a:prstGeom>
          <a:blipFill rotWithShape="1">
            <a:blip r:embed="rId3"/>
            <a:stretch/>
          </a:blipFill>
          <a:ln w="19050" cap="flat" cmpd="sng" algn="ctr">
            <a:solidFill>
              <a:schemeClr val="lt1">
                <a:hueOff val="0"/>
                <a:satOff val="0"/>
                <a:lumOff val="0"/>
                <a:alphaOff val="0"/>
              </a:schemeClr>
            </a:solidFill>
            <a:prstDash val="solid"/>
            <a:miter lim="800000"/>
          </a:ln>
          <a:effectLst/>
        </p:spPr>
        <p:style>
          <a:lnRef idx="2">
            <a:srgbClr val="000000"/>
          </a:lnRef>
          <a:fillRef idx="1">
            <a:srgbClr val="000000"/>
          </a:fillRef>
          <a:effectRef idx="0">
            <a:srgbClr val="000000"/>
          </a:effectRef>
          <a:fontRef idx="minor">
            <a:schemeClr val="lt1"/>
          </a:fontRef>
        </p:style>
      </p:sp>
      <p:sp modelId="{B63312C8-A8E7-471C-BDC7-E288FC589C93}">
        <p:nvSpPr>
          <p:cNvPr id="56121892" name=""/>
          <p:cNvSpPr/>
          <p:nvPr/>
        </p:nvSpPr>
        <p:spPr bwMode="auto">
          <a:xfrm>
            <a:off x="345746" y="1945260"/>
            <a:ext cx="683612" cy="683612"/>
          </a:xfrm>
          <a:prstGeom prst="rect">
            <a:avLst/>
          </a:prstGeom>
          <a:blipFill rotWithShape="1">
            <a:blip r:embed="rId4"/>
            <a:stretch/>
          </a:blipFill>
          <a:ln w="19050" cap="flat" cmpd="sng" algn="ctr">
            <a:solidFill>
              <a:schemeClr val="lt1">
                <a:hueOff val="0"/>
                <a:satOff val="0"/>
                <a:lumOff val="0"/>
                <a:alphaOff val="0"/>
              </a:schemeClr>
            </a:solidFill>
            <a:prstDash val="solid"/>
            <a:miter lim="800000"/>
          </a:ln>
          <a:effectLst/>
        </p:spPr>
        <p:style>
          <a:lnRef idx="2">
            <a:srgbClr val="000000"/>
          </a:lnRef>
          <a:fillRef idx="1">
            <a:srgbClr val="000000"/>
          </a:fillRef>
          <a:effectRef idx="0">
            <a:srgbClr val="000000"/>
          </a:effectRef>
          <a:fontRef idx="minor">
            <a:schemeClr val="lt1"/>
          </a:fontRef>
        </p:style>
      </p:sp>
      <p:sp modelId="{CA7E8371-02DB-4E6B-BDD4-4E6725844AB0}">
        <p:nvSpPr>
          <p:cNvPr id="1228927024" name=""/>
          <p:cNvSpPr/>
          <p:nvPr/>
        </p:nvSpPr>
        <p:spPr bwMode="auto">
          <a:xfrm>
            <a:off x="345746" y="2851203"/>
            <a:ext cx="683612" cy="683612"/>
          </a:xfrm>
          <a:prstGeom prst="rect">
            <a:avLst/>
          </a:prstGeom>
          <a:blipFill rotWithShape="1">
            <a:blip r:embed="rId5"/>
            <a:stretch/>
          </a:blipFill>
          <a:ln w="19050" cap="flat" cmpd="sng" algn="ctr">
            <a:solidFill>
              <a:schemeClr val="lt1">
                <a:hueOff val="0"/>
                <a:satOff val="0"/>
                <a:lumOff val="0"/>
                <a:alphaOff val="0"/>
              </a:schemeClr>
            </a:solidFill>
            <a:prstDash val="solid"/>
            <a:miter lim="800000"/>
          </a:ln>
          <a:effectLst/>
        </p:spPr>
        <p:style>
          <a:lnRef idx="2">
            <a:srgbClr val="000000"/>
          </a:lnRef>
          <a:fillRef idx="1">
            <a:srgbClr val="000000"/>
          </a:fillRef>
          <a:effectRef idx="0">
            <a:srgbClr val="000000"/>
          </a:effectRef>
          <a:fontRef idx="minor">
            <a:schemeClr val="lt1"/>
          </a:fontRef>
        </p:style>
      </p:sp>
      <p:sp modelId="{CA7E8371-02DB-4E6B-BDD4-4E6725844AB0}">
        <p:nvSpPr>
          <p:cNvPr id="432296538" name=""/>
          <p:cNvSpPr/>
          <p:nvPr/>
        </p:nvSpPr>
        <p:spPr bwMode="auto">
          <a:xfrm>
            <a:off x="345746" y="3757146"/>
            <a:ext cx="683612" cy="683612"/>
          </a:xfrm>
          <a:prstGeom prst="rect">
            <a:avLst/>
          </a:prstGeom>
          <a:blipFill rotWithShape="1">
            <a:blip r:embed="rId6"/>
            <a:stretch/>
          </a:blip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rgbClr val="000000"/>
          </a:lnRef>
          <a:fillRef idx="1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1428342454" name=""/>
          <p:cNvSpPr txBox="1"/>
          <p:nvPr/>
        </p:nvSpPr>
        <p:spPr bwMode="auto">
          <a:xfrm rot="0" flipH="0" flipV="0">
            <a:off x="1029360" y="1198243"/>
            <a:ext cx="7567076" cy="3661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lvl="0" indent="0" algn="l" defTabSz="111124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de-DE" sz="1800" b="0" i="0" u="none" strike="noStrike" cap="none" spc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Task Management Web Service</a:t>
            </a:r>
            <a:endParaRPr sz="1800"/>
          </a:p>
        </p:txBody>
      </p:sp>
      <p:sp>
        <p:nvSpPr>
          <p:cNvPr id="1555854711" name=""/>
          <p:cNvSpPr txBox="1"/>
          <p:nvPr/>
        </p:nvSpPr>
        <p:spPr bwMode="auto">
          <a:xfrm rot="0" flipH="0" flipV="0">
            <a:off x="1029360" y="2104007"/>
            <a:ext cx="7567076" cy="3661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lvl="0" indent="0" algn="l" defTabSz="111124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de-DE" sz="1800" b="0" i="0" u="none" strike="noStrike" cap="none" spc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Simple, scalable, role-based system</a:t>
            </a:r>
            <a:endParaRPr sz="1800"/>
          </a:p>
        </p:txBody>
      </p:sp>
      <p:sp>
        <p:nvSpPr>
          <p:cNvPr id="196038368" name=""/>
          <p:cNvSpPr txBox="1"/>
          <p:nvPr/>
        </p:nvSpPr>
        <p:spPr bwMode="auto">
          <a:xfrm rot="0" flipH="0" flipV="0">
            <a:off x="1029360" y="3009951"/>
            <a:ext cx="7567076" cy="3661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lvl="0" indent="0" algn="l" defTabSz="111124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de-DE" sz="1800" b="0" i="0" u="none" strike="noStrike" cap="none" spc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Designed for teams &amp; project collaboration</a:t>
            </a:r>
            <a:endParaRPr sz="1800"/>
          </a:p>
        </p:txBody>
      </p:sp>
      <p:sp>
        <p:nvSpPr>
          <p:cNvPr id="2125783183" name=""/>
          <p:cNvSpPr txBox="1"/>
          <p:nvPr/>
        </p:nvSpPr>
        <p:spPr bwMode="auto">
          <a:xfrm rot="0" flipH="0" flipV="0">
            <a:off x="1028281" y="3915893"/>
            <a:ext cx="7568875" cy="3661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indent="0" algn="l">
              <a:buNone/>
              <a:defRPr/>
            </a:pPr>
            <a:r>
              <a:rPr lang="de-D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AI Assistant for task organization</a:t>
            </a:r>
            <a:endParaRPr lang="en-US" sz="1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5997393" name="Shape 0"/>
          <p:cNvSpPr/>
          <p:nvPr/>
        </p:nvSpPr>
        <p:spPr bwMode="auto">
          <a:xfrm>
            <a:off x="0" y="0"/>
            <a:ext cx="9144000" cy="6858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2102479022" name="Text 1"/>
          <p:cNvSpPr/>
          <p:nvPr/>
        </p:nvSpPr>
        <p:spPr bwMode="auto"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User Roles</a:t>
            </a:r>
            <a:endParaRPr lang="en-US" sz="2200"/>
          </a:p>
        </p:txBody>
      </p:sp>
      <p:sp>
        <p:nvSpPr>
          <p:cNvPr id="279940241" name="Shape 2"/>
          <p:cNvSpPr/>
          <p:nvPr/>
        </p:nvSpPr>
        <p:spPr bwMode="auto">
          <a:xfrm>
            <a:off x="274320" y="822960"/>
            <a:ext cx="2834639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949440880" name="Shape 3"/>
          <p:cNvSpPr/>
          <p:nvPr/>
        </p:nvSpPr>
        <p:spPr bwMode="auto">
          <a:xfrm>
            <a:off x="274320" y="822960"/>
            <a:ext cx="2834639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06525165" name="Shape 4"/>
          <p:cNvSpPr/>
          <p:nvPr/>
        </p:nvSpPr>
        <p:spPr bwMode="auto">
          <a:xfrm>
            <a:off x="1399032" y="1024128"/>
            <a:ext cx="585216" cy="5852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B82F6"/>
            </a:solidFill>
            <a:prstDash val="solid"/>
          </a:ln>
        </p:spPr>
      </p:sp>
      <p:pic>
        <p:nvPicPr>
          <p:cNvPr id="1722493398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490472" y="1115568"/>
            <a:ext cx="402336" cy="402336"/>
          </a:xfrm>
          <a:prstGeom prst="rect">
            <a:avLst/>
          </a:prstGeom>
        </p:spPr>
      </p:pic>
      <p:sp>
        <p:nvSpPr>
          <p:cNvPr id="260161535" name="Text 5"/>
          <p:cNvSpPr/>
          <p:nvPr/>
        </p:nvSpPr>
        <p:spPr bwMode="auto">
          <a:xfrm>
            <a:off x="274320" y="1691640"/>
            <a:ext cx="2834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3B82F6"/>
                </a:solidFill>
                <a:latin typeface="Calibri"/>
                <a:ea typeface="Calibri"/>
                <a:cs typeface="Calibri"/>
              </a:rPr>
              <a:t>Project Member</a:t>
            </a:r>
            <a:endParaRPr lang="en-US" sz="1400"/>
          </a:p>
        </p:txBody>
      </p:sp>
      <p:sp>
        <p:nvSpPr>
          <p:cNvPr id="865027311" name="Text 6"/>
          <p:cNvSpPr/>
          <p:nvPr/>
        </p:nvSpPr>
        <p:spPr bwMode="auto">
          <a:xfrm>
            <a:off x="411480" y="196636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Default role for all team members. </a:t>
            </a:r>
            <a:r>
              <a:rPr lang="de-DE"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Works in projects on different tasks.</a:t>
            </a:r>
            <a:endParaRPr lang="en-US" sz="1000"/>
          </a:p>
        </p:txBody>
      </p:sp>
      <p:sp>
        <p:nvSpPr>
          <p:cNvPr id="2059648819" name="Shape 7"/>
          <p:cNvSpPr/>
          <p:nvPr/>
        </p:nvSpPr>
        <p:spPr bwMode="auto">
          <a:xfrm>
            <a:off x="640080" y="2517069"/>
            <a:ext cx="210312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34475478" name="Shape 10"/>
          <p:cNvSpPr/>
          <p:nvPr/>
        </p:nvSpPr>
        <p:spPr bwMode="auto">
          <a:xfrm>
            <a:off x="457200" y="3057400"/>
            <a:ext cx="91440" cy="914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42716195" name="Text 11"/>
          <p:cNvSpPr/>
          <p:nvPr/>
        </p:nvSpPr>
        <p:spPr bwMode="auto">
          <a:xfrm>
            <a:off x="603504" y="2952244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Change </a:t>
            </a:r>
            <a:r>
              <a:rPr lang="de-DE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task </a:t>
            </a:r>
            <a:r>
              <a:rPr lang="en-US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status &amp; priority</a:t>
            </a:r>
            <a:endParaRPr lang="en-US" sz="1000"/>
          </a:p>
        </p:txBody>
      </p:sp>
      <p:sp>
        <p:nvSpPr>
          <p:cNvPr id="1170045242" name="Shape 12"/>
          <p:cNvSpPr/>
          <p:nvPr/>
        </p:nvSpPr>
        <p:spPr bwMode="auto">
          <a:xfrm>
            <a:off x="457200" y="3359152"/>
            <a:ext cx="91440" cy="914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942377503" name="Text 13"/>
          <p:cNvSpPr/>
          <p:nvPr/>
        </p:nvSpPr>
        <p:spPr bwMode="auto">
          <a:xfrm>
            <a:off x="603504" y="3253996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 b="0" i="0" u="none" strike="noStrike" cap="none" spc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Create, edit &amp; delete </a:t>
            </a:r>
            <a:r>
              <a:rPr lang="de-DE" sz="1000" b="0" i="0" u="none" strike="noStrike" cap="none" spc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comments</a:t>
            </a:r>
            <a:endParaRPr sz="1000"/>
          </a:p>
        </p:txBody>
      </p:sp>
      <p:sp>
        <p:nvSpPr>
          <p:cNvPr id="1651745658" name="Shape 14"/>
          <p:cNvSpPr/>
          <p:nvPr/>
        </p:nvSpPr>
        <p:spPr bwMode="auto">
          <a:xfrm>
            <a:off x="457200" y="3660904"/>
            <a:ext cx="91440" cy="914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34580209" name="Text 15"/>
          <p:cNvSpPr/>
          <p:nvPr/>
        </p:nvSpPr>
        <p:spPr bwMode="auto">
          <a:xfrm>
            <a:off x="603504" y="3555748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Epic management</a:t>
            </a:r>
            <a:endParaRPr lang="en-US" sz="1000"/>
          </a:p>
        </p:txBody>
      </p:sp>
      <p:sp>
        <p:nvSpPr>
          <p:cNvPr id="366621515" name="Shape 16"/>
          <p:cNvSpPr/>
          <p:nvPr/>
        </p:nvSpPr>
        <p:spPr bwMode="auto">
          <a:xfrm>
            <a:off x="457200" y="3962656"/>
            <a:ext cx="91440" cy="914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087669724" name="Text 17"/>
          <p:cNvSpPr/>
          <p:nvPr/>
        </p:nvSpPr>
        <p:spPr bwMode="auto">
          <a:xfrm>
            <a:off x="603504" y="3857500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Open dashboard</a:t>
            </a:r>
            <a:endParaRPr lang="en-US" sz="1000"/>
          </a:p>
        </p:txBody>
      </p:sp>
      <p:sp>
        <p:nvSpPr>
          <p:cNvPr id="252443199" name="Shape 18"/>
          <p:cNvSpPr/>
          <p:nvPr/>
        </p:nvSpPr>
        <p:spPr bwMode="auto">
          <a:xfrm>
            <a:off x="457200" y="4264408"/>
            <a:ext cx="91440" cy="914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19694399" name="Text 19"/>
          <p:cNvSpPr/>
          <p:nvPr/>
        </p:nvSpPr>
        <p:spPr bwMode="auto">
          <a:xfrm>
            <a:off x="603504" y="4159252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Login &amp; sign up</a:t>
            </a:r>
            <a:endParaRPr lang="en-US" sz="1000"/>
          </a:p>
        </p:txBody>
      </p:sp>
      <p:sp>
        <p:nvSpPr>
          <p:cNvPr id="323600883" name="Shape 20"/>
          <p:cNvSpPr/>
          <p:nvPr/>
        </p:nvSpPr>
        <p:spPr bwMode="auto">
          <a:xfrm>
            <a:off x="3246120" y="822960"/>
            <a:ext cx="2834639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1908581719" name="Shape 21"/>
          <p:cNvSpPr/>
          <p:nvPr/>
        </p:nvSpPr>
        <p:spPr bwMode="auto">
          <a:xfrm>
            <a:off x="3246120" y="822960"/>
            <a:ext cx="2834639" cy="5029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909084096" name="Shape 22"/>
          <p:cNvSpPr/>
          <p:nvPr/>
        </p:nvSpPr>
        <p:spPr bwMode="auto">
          <a:xfrm>
            <a:off x="4370832" y="1024128"/>
            <a:ext cx="585216" cy="5852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97316"/>
            </a:solidFill>
            <a:prstDash val="solid"/>
          </a:ln>
        </p:spPr>
      </p:sp>
      <p:pic>
        <p:nvPicPr>
          <p:cNvPr id="700473001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4462272" y="1115568"/>
            <a:ext cx="402336" cy="402336"/>
          </a:xfrm>
          <a:prstGeom prst="rect">
            <a:avLst/>
          </a:prstGeom>
        </p:spPr>
      </p:pic>
      <p:sp>
        <p:nvSpPr>
          <p:cNvPr id="1457045212" name="Text 23"/>
          <p:cNvSpPr/>
          <p:nvPr/>
        </p:nvSpPr>
        <p:spPr bwMode="auto">
          <a:xfrm>
            <a:off x="3246120" y="1691640"/>
            <a:ext cx="2834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97316"/>
                </a:solidFill>
                <a:latin typeface="Calibri"/>
                <a:ea typeface="Calibri"/>
                <a:cs typeface="Calibri"/>
              </a:rPr>
              <a:t>Project Manager</a:t>
            </a:r>
            <a:endParaRPr lang="en-US" sz="1400"/>
          </a:p>
        </p:txBody>
      </p:sp>
      <p:sp>
        <p:nvSpPr>
          <p:cNvPr id="478980198" name="Text 24"/>
          <p:cNvSpPr/>
          <p:nvPr/>
        </p:nvSpPr>
        <p:spPr bwMode="auto">
          <a:xfrm>
            <a:off x="3383280" y="196636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Extended permissions. Manages projects and assigns members.</a:t>
            </a:r>
            <a:endParaRPr lang="en-US" sz="1000"/>
          </a:p>
        </p:txBody>
      </p:sp>
      <p:sp>
        <p:nvSpPr>
          <p:cNvPr id="2019453208" name="Shape 25"/>
          <p:cNvSpPr/>
          <p:nvPr/>
        </p:nvSpPr>
        <p:spPr bwMode="auto">
          <a:xfrm>
            <a:off x="3611880" y="2517069"/>
            <a:ext cx="210312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6600363" name="Shape 26"/>
          <p:cNvSpPr/>
          <p:nvPr/>
        </p:nvSpPr>
        <p:spPr bwMode="auto">
          <a:xfrm>
            <a:off x="3429000" y="2755648"/>
            <a:ext cx="91440" cy="9144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51845439" name="Text 27"/>
          <p:cNvSpPr/>
          <p:nvPr/>
        </p:nvSpPr>
        <p:spPr bwMode="auto">
          <a:xfrm>
            <a:off x="3575302" y="2650492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 b="0" i="0" u="none" strike="noStrike" cap="none" spc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Create &amp; delete projects</a:t>
            </a:r>
            <a:endParaRPr sz="1000"/>
          </a:p>
        </p:txBody>
      </p:sp>
      <p:sp>
        <p:nvSpPr>
          <p:cNvPr id="1836986978" name="Shape 28"/>
          <p:cNvSpPr/>
          <p:nvPr/>
        </p:nvSpPr>
        <p:spPr bwMode="auto">
          <a:xfrm>
            <a:off x="3429000" y="3057400"/>
            <a:ext cx="91440" cy="9144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324995932" name="Text 29"/>
          <p:cNvSpPr/>
          <p:nvPr/>
        </p:nvSpPr>
        <p:spPr bwMode="auto">
          <a:xfrm>
            <a:off x="3575302" y="2952244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1000" b="0" i="0" u="none" strike="noStrike" cap="none" spc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Remove &amp; assign project management</a:t>
            </a:r>
            <a:endParaRPr sz="1000"/>
          </a:p>
        </p:txBody>
      </p:sp>
      <p:sp>
        <p:nvSpPr>
          <p:cNvPr id="1268976981" name="Shape 36"/>
          <p:cNvSpPr/>
          <p:nvPr/>
        </p:nvSpPr>
        <p:spPr bwMode="auto">
          <a:xfrm>
            <a:off x="6217920" y="822960"/>
            <a:ext cx="2834639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2111800316" name="Shape 37"/>
          <p:cNvSpPr/>
          <p:nvPr/>
        </p:nvSpPr>
        <p:spPr bwMode="auto">
          <a:xfrm>
            <a:off x="6217920" y="822960"/>
            <a:ext cx="2834639" cy="502920"/>
          </a:xfrm>
          <a:prstGeom prst="rect">
            <a:avLst/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</p:sp>
      <p:sp>
        <p:nvSpPr>
          <p:cNvPr id="1247980996" name="Shape 38"/>
          <p:cNvSpPr/>
          <p:nvPr/>
        </p:nvSpPr>
        <p:spPr bwMode="auto">
          <a:xfrm>
            <a:off x="7342632" y="1024128"/>
            <a:ext cx="585216" cy="5852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9333EA"/>
            </a:solidFill>
            <a:prstDash val="solid"/>
          </a:ln>
        </p:spPr>
      </p:sp>
      <p:pic>
        <p:nvPicPr>
          <p:cNvPr id="269124010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7434072" y="1115568"/>
            <a:ext cx="402336" cy="402336"/>
          </a:xfrm>
          <a:prstGeom prst="rect">
            <a:avLst/>
          </a:prstGeom>
        </p:spPr>
      </p:pic>
      <p:sp>
        <p:nvSpPr>
          <p:cNvPr id="1259748514" name="Text 39"/>
          <p:cNvSpPr/>
          <p:nvPr/>
        </p:nvSpPr>
        <p:spPr bwMode="auto">
          <a:xfrm>
            <a:off x="6217920" y="1691640"/>
            <a:ext cx="2834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9333EA"/>
                </a:solidFill>
                <a:latin typeface="Calibri"/>
                <a:ea typeface="Calibri"/>
                <a:cs typeface="Calibri"/>
              </a:rPr>
              <a:t>Admin</a:t>
            </a:r>
            <a:endParaRPr lang="en-US" sz="1400"/>
          </a:p>
        </p:txBody>
      </p:sp>
      <p:sp>
        <p:nvSpPr>
          <p:cNvPr id="1483091674" name="Text 40"/>
          <p:cNvSpPr/>
          <p:nvPr/>
        </p:nvSpPr>
        <p:spPr bwMode="auto">
          <a:xfrm>
            <a:off x="6355080" y="196636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Highest permission level. Full access including role management.</a:t>
            </a:r>
            <a:endParaRPr lang="en-US" sz="1000"/>
          </a:p>
        </p:txBody>
      </p:sp>
      <p:sp>
        <p:nvSpPr>
          <p:cNvPr id="1807257056" name="Shape 41"/>
          <p:cNvSpPr/>
          <p:nvPr/>
        </p:nvSpPr>
        <p:spPr bwMode="auto">
          <a:xfrm>
            <a:off x="6583680" y="2517069"/>
            <a:ext cx="210312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40750586" name="Shape 42"/>
          <p:cNvSpPr/>
          <p:nvPr/>
        </p:nvSpPr>
        <p:spPr bwMode="auto">
          <a:xfrm>
            <a:off x="6400800" y="2755648"/>
            <a:ext cx="91440" cy="91440"/>
          </a:xfrm>
          <a:prstGeom prst="ellipse">
            <a:avLst/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</p:sp>
      <p:sp>
        <p:nvSpPr>
          <p:cNvPr id="2056562103" name="Text 43"/>
          <p:cNvSpPr/>
          <p:nvPr/>
        </p:nvSpPr>
        <p:spPr bwMode="auto">
          <a:xfrm>
            <a:off x="6547104" y="2650492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Role management</a:t>
            </a:r>
            <a:endParaRPr lang="en-US" sz="1000"/>
          </a:p>
        </p:txBody>
      </p:sp>
      <p:grpSp>
        <p:nvGrpSpPr>
          <p:cNvPr id="2023879216" name=""/>
          <p:cNvGrpSpPr/>
          <p:nvPr/>
        </p:nvGrpSpPr>
        <p:grpSpPr bwMode="auto">
          <a:xfrm>
            <a:off x="457198" y="2650492"/>
            <a:ext cx="2523744" cy="301752"/>
            <a:chOff x="0" y="0"/>
            <a:chExt cx="2523744" cy="301752"/>
          </a:xfrm>
        </p:grpSpPr>
        <p:sp>
          <p:nvSpPr>
            <p:cNvPr id="1582493543" name="Shape 8"/>
            <p:cNvSpPr/>
            <p:nvPr/>
          </p:nvSpPr>
          <p:spPr bwMode="auto">
            <a:xfrm>
              <a:off x="0" y="105154"/>
              <a:ext cx="91440" cy="91440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2033496982" name="Text 9"/>
            <p:cNvSpPr/>
            <p:nvPr/>
          </p:nvSpPr>
          <p:spPr bwMode="auto">
            <a:xfrm>
              <a:off x="146304" y="0"/>
              <a:ext cx="2377440" cy="3017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0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Task management</a:t>
              </a:r>
              <a:endParaRPr lang="en-US" sz="1000"/>
            </a:p>
          </p:txBody>
        </p:sp>
      </p:grpSp>
      <p:sp>
        <p:nvSpPr>
          <p:cNvPr id="548097460" name="Shape 18"/>
          <p:cNvSpPr/>
          <p:nvPr/>
        </p:nvSpPr>
        <p:spPr bwMode="auto">
          <a:xfrm>
            <a:off x="457200" y="4566160"/>
            <a:ext cx="91440" cy="914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14504025" name="Text 19"/>
          <p:cNvSpPr/>
          <p:nvPr/>
        </p:nvSpPr>
        <p:spPr bwMode="auto">
          <a:xfrm>
            <a:off x="603504" y="4461004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Task assignment</a:t>
            </a:r>
            <a:endParaRPr lang="en-US" sz="1000"/>
          </a:p>
        </p:txBody>
      </p:sp>
      <p:sp>
        <p:nvSpPr>
          <p:cNvPr id="512148673" name="Text 29"/>
          <p:cNvSpPr/>
          <p:nvPr/>
        </p:nvSpPr>
        <p:spPr bwMode="auto">
          <a:xfrm>
            <a:off x="6547104" y="2952244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1000" b="0" i="0" u="none" strike="noStrike" cap="none" spc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User management</a:t>
            </a:r>
            <a:endParaRPr sz="1000"/>
          </a:p>
        </p:txBody>
      </p:sp>
      <p:sp>
        <p:nvSpPr>
          <p:cNvPr id="1404560550" name="Shape 28"/>
          <p:cNvSpPr/>
          <p:nvPr/>
        </p:nvSpPr>
        <p:spPr bwMode="auto">
          <a:xfrm>
            <a:off x="6400800" y="3057400"/>
            <a:ext cx="91440" cy="91440"/>
          </a:xfrm>
          <a:prstGeom prst="ellipse">
            <a:avLst/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1626101" name="Shape 0"/>
          <p:cNvSpPr/>
          <p:nvPr/>
        </p:nvSpPr>
        <p:spPr bwMode="auto">
          <a:xfrm>
            <a:off x="0" y="0"/>
            <a:ext cx="9144000" cy="6858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33814086" name="Text 1"/>
          <p:cNvSpPr/>
          <p:nvPr/>
        </p:nvSpPr>
        <p:spPr bwMode="auto"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Use Case – Project Member</a:t>
            </a:r>
            <a:endParaRPr lang="en-US" sz="2200"/>
          </a:p>
        </p:txBody>
      </p:sp>
      <p:sp>
        <p:nvSpPr>
          <p:cNvPr id="753940476" name="Shape 4"/>
          <p:cNvSpPr/>
          <p:nvPr/>
        </p:nvSpPr>
        <p:spPr bwMode="auto">
          <a:xfrm flipH="0" flipV="0">
            <a:off x="201167" y="1112223"/>
            <a:ext cx="2194560" cy="338767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sx="100000" sy="100000" kx="0" ky="0" algn="bl" rotWithShape="0">
              <a:srgbClr val="000000">
                <a:alpha val="9000"/>
              </a:srgbClr>
            </a:outerShdw>
          </a:effectLst>
        </p:spPr>
      </p:sp>
      <p:sp>
        <p:nvSpPr>
          <p:cNvPr id="637753671" name="Shape 5"/>
          <p:cNvSpPr/>
          <p:nvPr/>
        </p:nvSpPr>
        <p:spPr bwMode="auto">
          <a:xfrm>
            <a:off x="201167" y="1112223"/>
            <a:ext cx="2194560" cy="34747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52258573" name="Text 6"/>
          <p:cNvSpPr/>
          <p:nvPr/>
        </p:nvSpPr>
        <p:spPr bwMode="auto">
          <a:xfrm>
            <a:off x="320766" y="1112223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Task Management</a:t>
            </a:r>
            <a:endParaRPr lang="en-US" sz="1100"/>
          </a:p>
        </p:txBody>
      </p:sp>
      <p:grpSp>
        <p:nvGrpSpPr>
          <p:cNvPr id="1496944718" name=""/>
          <p:cNvGrpSpPr/>
          <p:nvPr/>
        </p:nvGrpSpPr>
        <p:grpSpPr bwMode="auto">
          <a:xfrm>
            <a:off x="4198316" y="3953377"/>
            <a:ext cx="1051560" cy="896112"/>
            <a:chOff x="0" y="0"/>
            <a:chExt cx="1051560" cy="896112"/>
          </a:xfrm>
        </p:grpSpPr>
        <p:sp>
          <p:nvSpPr>
            <p:cNvPr id="333009385" name="Shape 2"/>
            <p:cNvSpPr/>
            <p:nvPr/>
          </p:nvSpPr>
          <p:spPr bwMode="auto">
            <a:xfrm>
              <a:off x="228600" y="0"/>
              <a:ext cx="594360" cy="594360"/>
            </a:xfrm>
            <a:prstGeom prst="ellipse">
              <a:avLst/>
            </a:prstGeom>
            <a:solidFill>
              <a:srgbClr val="EFF6FF"/>
            </a:solidFill>
            <a:ln w="25400">
              <a:solidFill>
                <a:srgbClr val="3B82F6"/>
              </a:solidFill>
              <a:prstDash val="solid"/>
            </a:ln>
          </p:spPr>
        </p:sp>
        <p:pic>
          <p:nvPicPr>
            <p:cNvPr id="1278296530" name="Image 0" descr="preencoded.png"/>
            <p:cNvPicPr>
              <a:picLocks noChangeAspect="1"/>
            </p:cNvPicPr>
            <p:nvPr/>
          </p:nvPicPr>
          <p:blipFill rotWithShape="1">
            <a:blip r:embed="rId3"/>
            <a:stretch/>
          </p:blipFill>
          <p:spPr bwMode="auto">
            <a:xfrm>
              <a:off x="320039" y="91439"/>
              <a:ext cx="411480" cy="411480"/>
            </a:xfrm>
            <a:prstGeom prst="rect">
              <a:avLst/>
            </a:prstGeom>
          </p:spPr>
        </p:pic>
        <p:sp>
          <p:nvSpPr>
            <p:cNvPr id="1950202597" name="Text 3"/>
            <p:cNvSpPr/>
            <p:nvPr/>
          </p:nvSpPr>
          <p:spPr bwMode="auto">
            <a:xfrm>
              <a:off x="0" y="621792"/>
              <a:ext cx="10515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900" b="1">
                  <a:solidFill>
                    <a:srgbClr val="3B82F6"/>
                  </a:solidFill>
                  <a:latin typeface="Calibri"/>
                  <a:ea typeface="Calibri"/>
                  <a:cs typeface="Calibri"/>
                </a:rPr>
                <a:t>Project Member</a:t>
              </a:r>
              <a:endParaRPr lang="en-US" sz="900"/>
            </a:p>
          </p:txBody>
        </p:sp>
      </p:grpSp>
      <p:grpSp>
        <p:nvGrpSpPr>
          <p:cNvPr id="1776818074" name=""/>
          <p:cNvGrpSpPr/>
          <p:nvPr/>
        </p:nvGrpSpPr>
        <p:grpSpPr bwMode="auto">
          <a:xfrm>
            <a:off x="6712089" y="3855900"/>
            <a:ext cx="2194560" cy="1033272"/>
            <a:chOff x="0" y="0"/>
            <a:chExt cx="2194560" cy="1033272"/>
          </a:xfrm>
        </p:grpSpPr>
        <p:sp>
          <p:nvSpPr>
            <p:cNvPr id="1325356072" name="Shape 14"/>
            <p:cNvSpPr/>
            <p:nvPr/>
          </p:nvSpPr>
          <p:spPr bwMode="auto">
            <a:xfrm>
              <a:off x="0" y="0"/>
              <a:ext cx="2194560" cy="103327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sx="100000" sy="100000" kx="0" ky="0" algn="bl" rotWithShape="0">
                <a:srgbClr val="000000">
                  <a:alpha val="9000"/>
                </a:srgbClr>
              </a:outerShdw>
            </a:effectLst>
          </p:spPr>
        </p:sp>
        <p:sp>
          <p:nvSpPr>
            <p:cNvPr id="68574776" name="Shape 15"/>
            <p:cNvSpPr/>
            <p:nvPr/>
          </p:nvSpPr>
          <p:spPr bwMode="auto">
            <a:xfrm>
              <a:off x="0" y="0"/>
              <a:ext cx="2194560" cy="347471"/>
            </a:xfrm>
            <a:prstGeom prst="rect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454796387" name="Text 16"/>
            <p:cNvSpPr/>
            <p:nvPr/>
          </p:nvSpPr>
          <p:spPr bwMode="auto">
            <a:xfrm>
              <a:off x="118469" y="0"/>
              <a:ext cx="1783080" cy="3474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Authentication</a:t>
              </a:r>
              <a:endParaRPr lang="en-US" sz="1100"/>
            </a:p>
          </p:txBody>
        </p:sp>
        <p:sp>
          <p:nvSpPr>
            <p:cNvPr id="598242526" name="Shape 17"/>
            <p:cNvSpPr/>
            <p:nvPr/>
          </p:nvSpPr>
          <p:spPr bwMode="auto">
            <a:xfrm>
              <a:off x="165857" y="498346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795696213" name="Text 18"/>
            <p:cNvSpPr/>
            <p:nvPr/>
          </p:nvSpPr>
          <p:spPr bwMode="auto">
            <a:xfrm>
              <a:off x="301752" y="40233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Login</a:t>
              </a:r>
              <a:endParaRPr lang="en-US" sz="1100"/>
            </a:p>
          </p:txBody>
        </p:sp>
        <p:sp>
          <p:nvSpPr>
            <p:cNvPr id="2095771585" name="Shape 19"/>
            <p:cNvSpPr/>
            <p:nvPr/>
          </p:nvSpPr>
          <p:spPr bwMode="auto">
            <a:xfrm>
              <a:off x="165857" y="772668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597641910" name="Text 20"/>
            <p:cNvSpPr/>
            <p:nvPr/>
          </p:nvSpPr>
          <p:spPr bwMode="auto">
            <a:xfrm>
              <a:off x="301752" y="676656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Sign Up</a:t>
              </a:r>
              <a:endParaRPr lang="en-US" sz="1100"/>
            </a:p>
          </p:txBody>
        </p:sp>
      </p:grpSp>
      <p:grpSp>
        <p:nvGrpSpPr>
          <p:cNvPr id="343176029" name=""/>
          <p:cNvGrpSpPr/>
          <p:nvPr/>
        </p:nvGrpSpPr>
        <p:grpSpPr bwMode="auto">
          <a:xfrm>
            <a:off x="6711695" y="2715718"/>
            <a:ext cx="2194560" cy="845818"/>
            <a:chOff x="0" y="0"/>
            <a:chExt cx="2194560" cy="845818"/>
          </a:xfrm>
        </p:grpSpPr>
        <p:sp>
          <p:nvSpPr>
            <p:cNvPr id="119642444" name="Shape 14"/>
            <p:cNvSpPr/>
            <p:nvPr/>
          </p:nvSpPr>
          <p:spPr bwMode="auto">
            <a:xfrm flipH="0" flipV="0">
              <a:off x="0" y="0"/>
              <a:ext cx="2194560" cy="84581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sx="100000" sy="100000" kx="0" ky="0" algn="bl" rotWithShape="0">
                <a:srgbClr val="000000">
                  <a:alpha val="9000"/>
                </a:srgbClr>
              </a:outerShdw>
            </a:effectLst>
          </p:spPr>
        </p:sp>
        <p:sp>
          <p:nvSpPr>
            <p:cNvPr id="626173900" name="Shape 15"/>
            <p:cNvSpPr/>
            <p:nvPr/>
          </p:nvSpPr>
          <p:spPr bwMode="auto">
            <a:xfrm>
              <a:off x="0" y="0"/>
              <a:ext cx="2194560" cy="347471"/>
            </a:xfrm>
            <a:prstGeom prst="rect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288732234" name="Text 16"/>
            <p:cNvSpPr/>
            <p:nvPr/>
          </p:nvSpPr>
          <p:spPr bwMode="auto">
            <a:xfrm>
              <a:off x="118469" y="0"/>
              <a:ext cx="1783080" cy="3474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Dashboard</a:t>
              </a:r>
              <a:endParaRPr lang="en-US" sz="1100"/>
            </a:p>
          </p:txBody>
        </p:sp>
        <p:sp>
          <p:nvSpPr>
            <p:cNvPr id="564849534" name="Shape 17"/>
            <p:cNvSpPr/>
            <p:nvPr/>
          </p:nvSpPr>
          <p:spPr bwMode="auto">
            <a:xfrm>
              <a:off x="165857" y="498346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831079656" name="Text 18"/>
            <p:cNvSpPr/>
            <p:nvPr/>
          </p:nvSpPr>
          <p:spPr bwMode="auto">
            <a:xfrm>
              <a:off x="301752" y="40233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Open dashboard</a:t>
              </a:r>
              <a:endParaRPr lang="en-US" sz="1100"/>
            </a:p>
          </p:txBody>
        </p:sp>
      </p:grpSp>
      <p:grpSp>
        <p:nvGrpSpPr>
          <p:cNvPr id="897913427" name=""/>
          <p:cNvGrpSpPr/>
          <p:nvPr/>
        </p:nvGrpSpPr>
        <p:grpSpPr bwMode="auto">
          <a:xfrm>
            <a:off x="6713940" y="1031467"/>
            <a:ext cx="2194560" cy="1389887"/>
            <a:chOff x="0" y="0"/>
            <a:chExt cx="2194560" cy="1389887"/>
          </a:xfrm>
        </p:grpSpPr>
        <p:sp>
          <p:nvSpPr>
            <p:cNvPr id="1291783675" name="Shape 18"/>
            <p:cNvSpPr/>
            <p:nvPr/>
          </p:nvSpPr>
          <p:spPr bwMode="auto">
            <a:xfrm>
              <a:off x="0" y="0"/>
              <a:ext cx="2194560" cy="138988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sx="100000" sy="100000" kx="0" ky="0" algn="bl" rotWithShape="0">
                <a:srgbClr val="000000">
                  <a:alpha val="9000"/>
                </a:srgbClr>
              </a:outerShdw>
            </a:effectLst>
          </p:spPr>
        </p:sp>
        <p:sp>
          <p:nvSpPr>
            <p:cNvPr id="280942065" name="Shape 19"/>
            <p:cNvSpPr/>
            <p:nvPr/>
          </p:nvSpPr>
          <p:spPr bwMode="auto">
            <a:xfrm>
              <a:off x="0" y="0"/>
              <a:ext cx="2194560" cy="347472"/>
            </a:xfrm>
            <a:prstGeom prst="rect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418197628" name="Text 20"/>
            <p:cNvSpPr/>
            <p:nvPr/>
          </p:nvSpPr>
          <p:spPr bwMode="auto">
            <a:xfrm>
              <a:off x="118469" y="0"/>
              <a:ext cx="178308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Comments</a:t>
              </a:r>
              <a:endParaRPr lang="en-US" sz="1100"/>
            </a:p>
          </p:txBody>
        </p:sp>
        <p:sp>
          <p:nvSpPr>
            <p:cNvPr id="850082460" name="Shape 21"/>
            <p:cNvSpPr/>
            <p:nvPr/>
          </p:nvSpPr>
          <p:spPr bwMode="auto">
            <a:xfrm>
              <a:off x="164592" y="498348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656508617" name="Text 22"/>
            <p:cNvSpPr/>
            <p:nvPr/>
          </p:nvSpPr>
          <p:spPr bwMode="auto">
            <a:xfrm>
              <a:off x="301752" y="402335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Create</a:t>
              </a:r>
              <a:endParaRPr lang="en-US" sz="1100"/>
            </a:p>
          </p:txBody>
        </p:sp>
        <p:sp>
          <p:nvSpPr>
            <p:cNvPr id="1403370260" name="Shape 23"/>
            <p:cNvSpPr/>
            <p:nvPr/>
          </p:nvSpPr>
          <p:spPr bwMode="auto">
            <a:xfrm>
              <a:off x="164592" y="772668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236570075" name="Text 24"/>
            <p:cNvSpPr/>
            <p:nvPr/>
          </p:nvSpPr>
          <p:spPr bwMode="auto">
            <a:xfrm>
              <a:off x="301752" y="676655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Edit</a:t>
              </a:r>
              <a:endParaRPr lang="en-US" sz="1100"/>
            </a:p>
          </p:txBody>
        </p:sp>
        <p:sp>
          <p:nvSpPr>
            <p:cNvPr id="1093327027" name="Shape 25"/>
            <p:cNvSpPr/>
            <p:nvPr/>
          </p:nvSpPr>
          <p:spPr bwMode="auto">
            <a:xfrm>
              <a:off x="164592" y="1046988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361639373" name="Text 26"/>
            <p:cNvSpPr/>
            <p:nvPr/>
          </p:nvSpPr>
          <p:spPr bwMode="auto">
            <a:xfrm>
              <a:off x="301752" y="950976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Delete</a:t>
              </a:r>
              <a:endParaRPr lang="en-US" sz="1100"/>
            </a:p>
          </p:txBody>
        </p:sp>
      </p:grpSp>
      <p:grpSp>
        <p:nvGrpSpPr>
          <p:cNvPr id="1896039867" name=""/>
          <p:cNvGrpSpPr/>
          <p:nvPr/>
        </p:nvGrpSpPr>
        <p:grpSpPr bwMode="auto">
          <a:xfrm>
            <a:off x="3474720" y="1032224"/>
            <a:ext cx="2194560" cy="1389887"/>
            <a:chOff x="0" y="0"/>
            <a:chExt cx="2194560" cy="1389887"/>
          </a:xfrm>
        </p:grpSpPr>
        <p:sp>
          <p:nvSpPr>
            <p:cNvPr id="387107994" name="Shape 18"/>
            <p:cNvSpPr/>
            <p:nvPr/>
          </p:nvSpPr>
          <p:spPr bwMode="auto">
            <a:xfrm>
              <a:off x="0" y="0"/>
              <a:ext cx="2194560" cy="1389887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sx="100000" sy="100000" kx="0" ky="0" algn="bl" rotWithShape="0">
                <a:srgbClr val="000000">
                  <a:alpha val="9000"/>
                </a:srgbClr>
              </a:outerShdw>
            </a:effectLst>
          </p:spPr>
        </p:sp>
        <p:sp>
          <p:nvSpPr>
            <p:cNvPr id="30993653" name="Shape 19"/>
            <p:cNvSpPr/>
            <p:nvPr/>
          </p:nvSpPr>
          <p:spPr bwMode="auto">
            <a:xfrm>
              <a:off x="0" y="0"/>
              <a:ext cx="2194560" cy="347471"/>
            </a:xfrm>
            <a:prstGeom prst="rect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373092046" name="Text 20"/>
            <p:cNvSpPr/>
            <p:nvPr/>
          </p:nvSpPr>
          <p:spPr bwMode="auto">
            <a:xfrm>
              <a:off x="118469" y="0"/>
              <a:ext cx="1783080" cy="3474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Epics</a:t>
              </a:r>
              <a:endParaRPr lang="en-US" sz="1100"/>
            </a:p>
          </p:txBody>
        </p:sp>
        <p:sp>
          <p:nvSpPr>
            <p:cNvPr id="1714006904" name="Shape 21"/>
            <p:cNvSpPr/>
            <p:nvPr/>
          </p:nvSpPr>
          <p:spPr bwMode="auto">
            <a:xfrm>
              <a:off x="164592" y="498348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2135987731" name="Text 22"/>
            <p:cNvSpPr/>
            <p:nvPr/>
          </p:nvSpPr>
          <p:spPr bwMode="auto">
            <a:xfrm>
              <a:off x="301752" y="40233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Create</a:t>
              </a:r>
              <a:endParaRPr lang="en-US" sz="1100"/>
            </a:p>
          </p:txBody>
        </p:sp>
        <p:sp>
          <p:nvSpPr>
            <p:cNvPr id="1454558902" name="Shape 23"/>
            <p:cNvSpPr/>
            <p:nvPr/>
          </p:nvSpPr>
          <p:spPr bwMode="auto">
            <a:xfrm>
              <a:off x="164592" y="772668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166237871" name="Text 24"/>
            <p:cNvSpPr/>
            <p:nvPr/>
          </p:nvSpPr>
          <p:spPr bwMode="auto">
            <a:xfrm>
              <a:off x="301752" y="67665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Edit</a:t>
              </a:r>
              <a:endParaRPr lang="en-US" sz="1100"/>
            </a:p>
          </p:txBody>
        </p:sp>
        <p:sp>
          <p:nvSpPr>
            <p:cNvPr id="1347959490" name="Shape 25"/>
            <p:cNvSpPr/>
            <p:nvPr/>
          </p:nvSpPr>
          <p:spPr bwMode="auto">
            <a:xfrm>
              <a:off x="164592" y="1046988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63994561" name="Text 26"/>
            <p:cNvSpPr/>
            <p:nvPr/>
          </p:nvSpPr>
          <p:spPr bwMode="auto">
            <a:xfrm>
              <a:off x="301752" y="950976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Delete</a:t>
              </a:r>
              <a:endParaRPr lang="en-US" sz="1100"/>
            </a:p>
          </p:txBody>
        </p:sp>
      </p:grpSp>
      <p:sp>
        <p:nvSpPr>
          <p:cNvPr id="1241085968" name="Text 16"/>
          <p:cNvSpPr/>
          <p:nvPr/>
        </p:nvSpPr>
        <p:spPr bwMode="auto">
          <a:xfrm>
            <a:off x="502920" y="3792007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endParaRPr lang="en-US" sz="1100"/>
          </a:p>
        </p:txBody>
      </p:sp>
      <p:grpSp>
        <p:nvGrpSpPr>
          <p:cNvPr id="354856091" name=""/>
          <p:cNvGrpSpPr/>
          <p:nvPr/>
        </p:nvGrpSpPr>
        <p:grpSpPr bwMode="auto">
          <a:xfrm>
            <a:off x="365759" y="1514559"/>
            <a:ext cx="1965960" cy="274319"/>
            <a:chOff x="0" y="0"/>
            <a:chExt cx="1965960" cy="274319"/>
          </a:xfrm>
        </p:grpSpPr>
        <p:sp>
          <p:nvSpPr>
            <p:cNvPr id="1930660542" name="Shape 7"/>
            <p:cNvSpPr/>
            <p:nvPr/>
          </p:nvSpPr>
          <p:spPr bwMode="auto">
            <a:xfrm>
              <a:off x="0" y="96012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2147081096" name="Text 8"/>
            <p:cNvSpPr/>
            <p:nvPr/>
          </p:nvSpPr>
          <p:spPr bwMode="auto">
            <a:xfrm>
              <a:off x="137160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Create</a:t>
              </a:r>
              <a:endParaRPr lang="en-US" sz="1100"/>
            </a:p>
          </p:txBody>
        </p:sp>
      </p:grpSp>
      <p:grpSp>
        <p:nvGrpSpPr>
          <p:cNvPr id="645469806" name=""/>
          <p:cNvGrpSpPr/>
          <p:nvPr/>
        </p:nvGrpSpPr>
        <p:grpSpPr bwMode="auto">
          <a:xfrm>
            <a:off x="366453" y="1802648"/>
            <a:ext cx="1965960" cy="274319"/>
            <a:chOff x="0" y="0"/>
            <a:chExt cx="1965960" cy="274319"/>
          </a:xfrm>
        </p:grpSpPr>
        <p:sp>
          <p:nvSpPr>
            <p:cNvPr id="549664658" name="Shape 9"/>
            <p:cNvSpPr/>
            <p:nvPr/>
          </p:nvSpPr>
          <p:spPr bwMode="auto">
            <a:xfrm>
              <a:off x="0" y="96012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800017141" name="Text 10"/>
            <p:cNvSpPr/>
            <p:nvPr/>
          </p:nvSpPr>
          <p:spPr bwMode="auto">
            <a:xfrm>
              <a:off x="137160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Edit</a:t>
              </a:r>
              <a:endParaRPr lang="en-US" sz="1100"/>
            </a:p>
          </p:txBody>
        </p:sp>
      </p:grpSp>
      <p:grpSp>
        <p:nvGrpSpPr>
          <p:cNvPr id="608700685" name=""/>
          <p:cNvGrpSpPr/>
          <p:nvPr/>
        </p:nvGrpSpPr>
        <p:grpSpPr bwMode="auto">
          <a:xfrm>
            <a:off x="367146" y="2090736"/>
            <a:ext cx="1965960" cy="274320"/>
            <a:chOff x="0" y="0"/>
            <a:chExt cx="1965960" cy="274320"/>
          </a:xfrm>
        </p:grpSpPr>
        <p:sp>
          <p:nvSpPr>
            <p:cNvPr id="1510410736" name="Shape 11"/>
            <p:cNvSpPr/>
            <p:nvPr/>
          </p:nvSpPr>
          <p:spPr bwMode="auto">
            <a:xfrm>
              <a:off x="0" y="96012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851490425" name="Text 12"/>
            <p:cNvSpPr/>
            <p:nvPr/>
          </p:nvSpPr>
          <p:spPr bwMode="auto">
            <a:xfrm>
              <a:off x="137160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Delete</a:t>
              </a:r>
              <a:endParaRPr lang="en-US" sz="1100"/>
            </a:p>
          </p:txBody>
        </p:sp>
      </p:grpSp>
      <p:grpSp>
        <p:nvGrpSpPr>
          <p:cNvPr id="678057513" name=""/>
          <p:cNvGrpSpPr/>
          <p:nvPr/>
        </p:nvGrpSpPr>
        <p:grpSpPr bwMode="auto">
          <a:xfrm>
            <a:off x="367839" y="2378826"/>
            <a:ext cx="1965960" cy="274320"/>
            <a:chOff x="0" y="0"/>
            <a:chExt cx="1965960" cy="274320"/>
          </a:xfrm>
        </p:grpSpPr>
        <p:sp>
          <p:nvSpPr>
            <p:cNvPr id="530412973" name="Shape 13"/>
            <p:cNvSpPr/>
            <p:nvPr/>
          </p:nvSpPr>
          <p:spPr bwMode="auto">
            <a:xfrm>
              <a:off x="0" y="96012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432197281" name="Text 14"/>
            <p:cNvSpPr/>
            <p:nvPr/>
          </p:nvSpPr>
          <p:spPr bwMode="auto">
            <a:xfrm>
              <a:off x="137160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Change status</a:t>
              </a:r>
              <a:endParaRPr lang="en-US" sz="1100"/>
            </a:p>
          </p:txBody>
        </p:sp>
      </p:grpSp>
      <p:grpSp>
        <p:nvGrpSpPr>
          <p:cNvPr id="605995650" name=""/>
          <p:cNvGrpSpPr/>
          <p:nvPr/>
        </p:nvGrpSpPr>
        <p:grpSpPr bwMode="auto">
          <a:xfrm>
            <a:off x="368533" y="2666915"/>
            <a:ext cx="1965960" cy="274320"/>
            <a:chOff x="0" y="0"/>
            <a:chExt cx="1965960" cy="274320"/>
          </a:xfrm>
        </p:grpSpPr>
        <p:sp>
          <p:nvSpPr>
            <p:cNvPr id="468185029" name="Shape 15"/>
            <p:cNvSpPr/>
            <p:nvPr/>
          </p:nvSpPr>
          <p:spPr bwMode="auto">
            <a:xfrm>
              <a:off x="0" y="96012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004951449" name="Text 16"/>
            <p:cNvSpPr/>
            <p:nvPr/>
          </p:nvSpPr>
          <p:spPr bwMode="auto">
            <a:xfrm>
              <a:off x="137160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Change priority</a:t>
              </a:r>
              <a:endParaRPr lang="en-US" sz="1100"/>
            </a:p>
          </p:txBody>
        </p:sp>
      </p:grpSp>
      <p:grpSp>
        <p:nvGrpSpPr>
          <p:cNvPr id="1853658912" name=""/>
          <p:cNvGrpSpPr/>
          <p:nvPr/>
        </p:nvGrpSpPr>
        <p:grpSpPr bwMode="auto">
          <a:xfrm>
            <a:off x="369226" y="2955004"/>
            <a:ext cx="1965960" cy="274320"/>
            <a:chOff x="0" y="0"/>
            <a:chExt cx="1965960" cy="274320"/>
          </a:xfrm>
        </p:grpSpPr>
        <p:sp>
          <p:nvSpPr>
            <p:cNvPr id="1273286600" name="Shape 15"/>
            <p:cNvSpPr/>
            <p:nvPr/>
          </p:nvSpPr>
          <p:spPr bwMode="auto">
            <a:xfrm>
              <a:off x="0" y="96012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445505804" name="Text 16"/>
            <p:cNvSpPr/>
            <p:nvPr/>
          </p:nvSpPr>
          <p:spPr bwMode="auto">
            <a:xfrm>
              <a:off x="137160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Assign project member</a:t>
              </a:r>
              <a:endParaRPr lang="en-US" sz="1100"/>
            </a:p>
          </p:txBody>
        </p:sp>
      </p:grpSp>
      <p:grpSp>
        <p:nvGrpSpPr>
          <p:cNvPr id="1228955472" name=""/>
          <p:cNvGrpSpPr/>
          <p:nvPr/>
        </p:nvGrpSpPr>
        <p:grpSpPr bwMode="auto">
          <a:xfrm>
            <a:off x="369919" y="3243093"/>
            <a:ext cx="1965960" cy="274320"/>
            <a:chOff x="0" y="0"/>
            <a:chExt cx="1965960" cy="274320"/>
          </a:xfrm>
        </p:grpSpPr>
        <p:sp>
          <p:nvSpPr>
            <p:cNvPr id="1682840374" name="Shape 15"/>
            <p:cNvSpPr/>
            <p:nvPr/>
          </p:nvSpPr>
          <p:spPr bwMode="auto">
            <a:xfrm>
              <a:off x="0" y="96012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2121127150" name="Text 16"/>
            <p:cNvSpPr/>
            <p:nvPr/>
          </p:nvSpPr>
          <p:spPr bwMode="auto">
            <a:xfrm>
              <a:off x="137160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Assign epic</a:t>
              </a:r>
              <a:endParaRPr lang="en-US" sz="1100"/>
            </a:p>
          </p:txBody>
        </p:sp>
      </p:grpSp>
      <p:grpSp>
        <p:nvGrpSpPr>
          <p:cNvPr id="1647598188" name=""/>
          <p:cNvGrpSpPr/>
          <p:nvPr/>
        </p:nvGrpSpPr>
        <p:grpSpPr bwMode="auto">
          <a:xfrm>
            <a:off x="370613" y="3531182"/>
            <a:ext cx="1965960" cy="274320"/>
            <a:chOff x="0" y="0"/>
            <a:chExt cx="1965960" cy="274320"/>
          </a:xfrm>
        </p:grpSpPr>
        <p:sp>
          <p:nvSpPr>
            <p:cNvPr id="1302567565" name="Text 16"/>
            <p:cNvSpPr/>
            <p:nvPr/>
          </p:nvSpPr>
          <p:spPr bwMode="auto">
            <a:xfrm>
              <a:off x="137160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Manage comments</a:t>
              </a:r>
              <a:endParaRPr lang="en-US" sz="1100"/>
            </a:p>
          </p:txBody>
        </p:sp>
        <p:sp>
          <p:nvSpPr>
            <p:cNvPr id="2072570595" name="Shape 15"/>
            <p:cNvSpPr/>
            <p:nvPr/>
          </p:nvSpPr>
          <p:spPr bwMode="auto">
            <a:xfrm>
              <a:off x="0" y="96012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</p:grpSp>
      <p:grpSp>
        <p:nvGrpSpPr>
          <p:cNvPr id="1848125293" name=""/>
          <p:cNvGrpSpPr/>
          <p:nvPr/>
        </p:nvGrpSpPr>
        <p:grpSpPr bwMode="auto">
          <a:xfrm>
            <a:off x="371306" y="3819271"/>
            <a:ext cx="1965960" cy="274320"/>
            <a:chOff x="0" y="0"/>
            <a:chExt cx="1965960" cy="274320"/>
          </a:xfrm>
        </p:grpSpPr>
        <p:sp>
          <p:nvSpPr>
            <p:cNvPr id="1214984347" name="Text 16"/>
            <p:cNvSpPr/>
            <p:nvPr/>
          </p:nvSpPr>
          <p:spPr bwMode="auto">
            <a:xfrm>
              <a:off x="137159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Search tasks</a:t>
              </a:r>
              <a:endParaRPr lang="en-US" sz="1100"/>
            </a:p>
          </p:txBody>
        </p:sp>
        <p:sp>
          <p:nvSpPr>
            <p:cNvPr id="662735520" name="Shape 15"/>
            <p:cNvSpPr/>
            <p:nvPr/>
          </p:nvSpPr>
          <p:spPr bwMode="auto">
            <a:xfrm>
              <a:off x="0" y="96011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</p:grpSp>
      <p:grpSp>
        <p:nvGrpSpPr>
          <p:cNvPr id="280254001" name=""/>
          <p:cNvGrpSpPr/>
          <p:nvPr/>
        </p:nvGrpSpPr>
        <p:grpSpPr bwMode="auto">
          <a:xfrm>
            <a:off x="371999" y="4107360"/>
            <a:ext cx="1965960" cy="274319"/>
            <a:chOff x="0" y="0"/>
            <a:chExt cx="1965960" cy="274319"/>
          </a:xfrm>
        </p:grpSpPr>
        <p:sp>
          <p:nvSpPr>
            <p:cNvPr id="1875110692" name="Text 16"/>
            <p:cNvSpPr/>
            <p:nvPr/>
          </p:nvSpPr>
          <p:spPr bwMode="auto">
            <a:xfrm>
              <a:off x="137159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Filter tasks</a:t>
              </a:r>
              <a:endParaRPr lang="en-US" sz="1100"/>
            </a:p>
          </p:txBody>
        </p:sp>
        <p:sp>
          <p:nvSpPr>
            <p:cNvPr id="2041602587" name="Shape 15"/>
            <p:cNvSpPr/>
            <p:nvPr/>
          </p:nvSpPr>
          <p:spPr bwMode="auto">
            <a:xfrm>
              <a:off x="0" y="96011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</p:grpSp>
      <p:sp>
        <p:nvSpPr>
          <p:cNvPr id="967577274" name="Shape 29"/>
          <p:cNvSpPr/>
          <p:nvPr/>
        </p:nvSpPr>
        <p:spPr bwMode="auto">
          <a:xfrm flipH="0" flipV="0">
            <a:off x="5057276" y="4285668"/>
            <a:ext cx="1654419" cy="150874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</p:sp>
      <p:sp>
        <p:nvSpPr>
          <p:cNvPr id="2028221266" name="Shape 29"/>
          <p:cNvSpPr/>
          <p:nvPr/>
        </p:nvSpPr>
        <p:spPr bwMode="auto">
          <a:xfrm flipH="0" flipV="1">
            <a:off x="4915111" y="1804891"/>
            <a:ext cx="1796977" cy="2124274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</p:sp>
      <p:sp>
        <p:nvSpPr>
          <p:cNvPr id="268736655" name="Shape 29"/>
          <p:cNvSpPr/>
          <p:nvPr/>
        </p:nvSpPr>
        <p:spPr bwMode="auto">
          <a:xfrm flipH="0" flipV="0">
            <a:off x="2395728" y="2879168"/>
            <a:ext cx="2036025" cy="1150468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</p:sp>
      <p:sp>
        <p:nvSpPr>
          <p:cNvPr id="2123147085" name="Shape 29"/>
          <p:cNvSpPr/>
          <p:nvPr/>
        </p:nvSpPr>
        <p:spPr bwMode="auto">
          <a:xfrm flipH="1" flipV="0">
            <a:off x="5057276" y="3139006"/>
            <a:ext cx="1654813" cy="890629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</p:sp>
      <p:sp>
        <p:nvSpPr>
          <p:cNvPr id="589763610" name="Shape 29"/>
          <p:cNvSpPr/>
          <p:nvPr/>
        </p:nvSpPr>
        <p:spPr bwMode="auto">
          <a:xfrm flipH="0" flipV="0">
            <a:off x="4722875" y="2422112"/>
            <a:ext cx="0" cy="1433787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6365320" name="Shape 0"/>
          <p:cNvSpPr/>
          <p:nvPr/>
        </p:nvSpPr>
        <p:spPr bwMode="auto">
          <a:xfrm>
            <a:off x="0" y="0"/>
            <a:ext cx="9144000" cy="6858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98579675" name="Text 1"/>
          <p:cNvSpPr/>
          <p:nvPr/>
        </p:nvSpPr>
        <p:spPr bwMode="auto"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Use Case – Project Manager</a:t>
            </a:r>
            <a:endParaRPr lang="en-US" sz="2200"/>
          </a:p>
        </p:txBody>
      </p:sp>
      <p:sp>
        <p:nvSpPr>
          <p:cNvPr id="1175134472" name="Shape 2"/>
          <p:cNvSpPr/>
          <p:nvPr/>
        </p:nvSpPr>
        <p:spPr bwMode="auto">
          <a:xfrm>
            <a:off x="274320" y="749808"/>
            <a:ext cx="8595360" cy="246888"/>
          </a:xfrm>
          <a:prstGeom prst="rect">
            <a:avLst/>
          </a:prstGeom>
          <a:solidFill>
            <a:srgbClr val="FFF7ED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49732965" name="Text 3"/>
          <p:cNvSpPr/>
          <p:nvPr/>
        </p:nvSpPr>
        <p:spPr bwMode="auto">
          <a:xfrm>
            <a:off x="411480" y="749808"/>
            <a:ext cx="8412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 b="1">
                <a:solidFill>
                  <a:srgbClr val="F97316"/>
                </a:solidFill>
                <a:latin typeface="Calibri"/>
                <a:ea typeface="Calibri"/>
                <a:cs typeface="Calibri"/>
              </a:rPr>
              <a:t>⬆  Includes all Project Member use cases</a:t>
            </a:r>
            <a:endParaRPr lang="en-US" sz="1000"/>
          </a:p>
        </p:txBody>
      </p:sp>
      <p:sp>
        <p:nvSpPr>
          <p:cNvPr id="157613297" name="Shape 29"/>
          <p:cNvSpPr/>
          <p:nvPr/>
        </p:nvSpPr>
        <p:spPr bwMode="auto">
          <a:xfrm flipH="0" flipV="1">
            <a:off x="4867723" y="2699034"/>
            <a:ext cx="2313068" cy="1066151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</p:sp>
      <p:grpSp>
        <p:nvGrpSpPr>
          <p:cNvPr id="978952486" name=""/>
          <p:cNvGrpSpPr/>
          <p:nvPr/>
        </p:nvGrpSpPr>
        <p:grpSpPr bwMode="auto">
          <a:xfrm>
            <a:off x="4091940" y="3573768"/>
            <a:ext cx="960120" cy="896111"/>
            <a:chOff x="0" y="0"/>
            <a:chExt cx="960120" cy="896111"/>
          </a:xfrm>
        </p:grpSpPr>
        <p:sp>
          <p:nvSpPr>
            <p:cNvPr id="1338645073" name="Shape 4"/>
            <p:cNvSpPr/>
            <p:nvPr/>
          </p:nvSpPr>
          <p:spPr bwMode="auto">
            <a:xfrm>
              <a:off x="182880" y="0"/>
              <a:ext cx="594360" cy="594360"/>
            </a:xfrm>
            <a:prstGeom prst="ellipse">
              <a:avLst/>
            </a:prstGeom>
            <a:solidFill>
              <a:srgbClr val="FFF7ED"/>
            </a:solidFill>
            <a:ln w="25400">
              <a:solidFill>
                <a:srgbClr val="F97316"/>
              </a:solidFill>
              <a:prstDash val="solid"/>
            </a:ln>
          </p:spPr>
        </p:sp>
        <p:pic>
          <p:nvPicPr>
            <p:cNvPr id="889206525" name="Image 0" descr="preencoded.png"/>
            <p:cNvPicPr>
              <a:picLocks noChangeAspect="1"/>
            </p:cNvPicPr>
            <p:nvPr/>
          </p:nvPicPr>
          <p:blipFill rotWithShape="1">
            <a:blip r:embed="rId3"/>
            <a:stretch/>
          </p:blipFill>
          <p:spPr bwMode="auto">
            <a:xfrm>
              <a:off x="274320" y="91439"/>
              <a:ext cx="411480" cy="411480"/>
            </a:xfrm>
            <a:prstGeom prst="rect">
              <a:avLst/>
            </a:prstGeom>
          </p:spPr>
        </p:pic>
        <p:sp>
          <p:nvSpPr>
            <p:cNvPr id="372029419" name="Text 5"/>
            <p:cNvSpPr/>
            <p:nvPr/>
          </p:nvSpPr>
          <p:spPr bwMode="auto">
            <a:xfrm>
              <a:off x="0" y="621791"/>
              <a:ext cx="9601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900" b="1">
                  <a:solidFill>
                    <a:srgbClr val="F97316"/>
                  </a:solidFill>
                  <a:latin typeface="Calibri"/>
                  <a:ea typeface="Calibri"/>
                  <a:cs typeface="Calibri"/>
                </a:rPr>
                <a:t>Project Manager</a:t>
              </a:r>
              <a:endParaRPr lang="en-US" sz="900"/>
            </a:p>
          </p:txBody>
        </p:sp>
      </p:grpSp>
      <p:grpSp>
        <p:nvGrpSpPr>
          <p:cNvPr id="1050779226" name=""/>
          <p:cNvGrpSpPr/>
          <p:nvPr/>
        </p:nvGrpSpPr>
        <p:grpSpPr bwMode="auto">
          <a:xfrm>
            <a:off x="6005583" y="1653388"/>
            <a:ext cx="2194559" cy="1033272"/>
            <a:chOff x="0" y="0"/>
            <a:chExt cx="2194559" cy="1033272"/>
          </a:xfrm>
        </p:grpSpPr>
        <p:sp>
          <p:nvSpPr>
            <p:cNvPr id="1125833184" name="Shape 14"/>
            <p:cNvSpPr/>
            <p:nvPr/>
          </p:nvSpPr>
          <p:spPr bwMode="auto">
            <a:xfrm>
              <a:off x="0" y="0"/>
              <a:ext cx="2194560" cy="103327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sx="100000" sy="100000" kx="0" ky="0" algn="bl" rotWithShape="0">
                <a:srgbClr val="000000">
                  <a:alpha val="9000"/>
                </a:srgbClr>
              </a:outerShdw>
            </a:effectLst>
          </p:spPr>
        </p:sp>
        <p:sp>
          <p:nvSpPr>
            <p:cNvPr id="862933267" name="Shape 15"/>
            <p:cNvSpPr/>
            <p:nvPr/>
          </p:nvSpPr>
          <p:spPr bwMode="auto">
            <a:xfrm>
              <a:off x="0" y="0"/>
              <a:ext cx="2194560" cy="347472"/>
            </a:xfrm>
            <a:prstGeom prst="rect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080850083" name="Text 16"/>
            <p:cNvSpPr/>
            <p:nvPr/>
          </p:nvSpPr>
          <p:spPr bwMode="auto">
            <a:xfrm>
              <a:off x="118469" y="0"/>
              <a:ext cx="178308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Project </a:t>
              </a:r>
              <a:r>
                <a:rPr lang="en-US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Members</a:t>
              </a:r>
              <a:endParaRPr lang="en-US" sz="1100"/>
            </a:p>
          </p:txBody>
        </p:sp>
        <p:sp>
          <p:nvSpPr>
            <p:cNvPr id="1034649681" name="Shape 17"/>
            <p:cNvSpPr/>
            <p:nvPr/>
          </p:nvSpPr>
          <p:spPr bwMode="auto">
            <a:xfrm>
              <a:off x="165858" y="498347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730646817" name="Text 18"/>
            <p:cNvSpPr/>
            <p:nvPr/>
          </p:nvSpPr>
          <p:spPr bwMode="auto">
            <a:xfrm>
              <a:off x="301752" y="402335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Assign member</a:t>
              </a:r>
              <a:endParaRPr lang="en-US" sz="1100"/>
            </a:p>
          </p:txBody>
        </p:sp>
        <p:sp>
          <p:nvSpPr>
            <p:cNvPr id="1812917473" name="Shape 19"/>
            <p:cNvSpPr/>
            <p:nvPr/>
          </p:nvSpPr>
          <p:spPr bwMode="auto">
            <a:xfrm>
              <a:off x="165858" y="772668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71075944" name="Text 20"/>
            <p:cNvSpPr/>
            <p:nvPr/>
          </p:nvSpPr>
          <p:spPr bwMode="auto">
            <a:xfrm>
              <a:off x="301752" y="676656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Remove member</a:t>
              </a:r>
              <a:endParaRPr lang="en-US" sz="1100"/>
            </a:p>
          </p:txBody>
        </p:sp>
      </p:grpSp>
      <p:sp>
        <p:nvSpPr>
          <p:cNvPr id="804249382" name="Shape 29"/>
          <p:cNvSpPr/>
          <p:nvPr/>
        </p:nvSpPr>
        <p:spPr bwMode="auto">
          <a:xfrm flipH="0" flipV="0">
            <a:off x="1868059" y="2699034"/>
            <a:ext cx="2416790" cy="1066151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</p:sp>
      <p:grpSp>
        <p:nvGrpSpPr>
          <p:cNvPr id="2121285808" name=""/>
          <p:cNvGrpSpPr/>
          <p:nvPr/>
        </p:nvGrpSpPr>
        <p:grpSpPr bwMode="auto">
          <a:xfrm>
            <a:off x="838920" y="1648649"/>
            <a:ext cx="2199298" cy="1033272"/>
            <a:chOff x="0" y="0"/>
            <a:chExt cx="2199298" cy="1033272"/>
          </a:xfrm>
        </p:grpSpPr>
        <p:sp>
          <p:nvSpPr>
            <p:cNvPr id="1261029091" name="Shape 6"/>
            <p:cNvSpPr/>
            <p:nvPr/>
          </p:nvSpPr>
          <p:spPr bwMode="auto">
            <a:xfrm>
              <a:off x="0" y="0"/>
              <a:ext cx="2194560" cy="103327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sx="100000" sy="100000" kx="0" ky="0" algn="bl" rotWithShape="0">
                <a:srgbClr val="000000">
                  <a:alpha val="9000"/>
                </a:srgbClr>
              </a:outerShdw>
            </a:effectLst>
          </p:spPr>
        </p:sp>
        <p:sp>
          <p:nvSpPr>
            <p:cNvPr id="765204893" name="Shape 7"/>
            <p:cNvSpPr/>
            <p:nvPr/>
          </p:nvSpPr>
          <p:spPr bwMode="auto">
            <a:xfrm>
              <a:off x="4738" y="0"/>
              <a:ext cx="2194560" cy="347472"/>
            </a:xfrm>
            <a:prstGeom prst="rect">
              <a:avLst/>
            </a:prstGeom>
            <a:solidFill>
              <a:srgbClr val="F97316"/>
            </a:solidFill>
            <a:ln w="12700">
              <a:solidFill>
                <a:srgbClr val="F97316"/>
              </a:solidFill>
              <a:prstDash val="solid"/>
            </a:ln>
          </p:spPr>
        </p:sp>
        <p:sp>
          <p:nvSpPr>
            <p:cNvPr id="83158466" name="Text 8"/>
            <p:cNvSpPr/>
            <p:nvPr/>
          </p:nvSpPr>
          <p:spPr bwMode="auto">
            <a:xfrm>
              <a:off x="123208" y="0"/>
              <a:ext cx="178308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Projects</a:t>
              </a:r>
              <a:endParaRPr lang="en-US" sz="1100"/>
            </a:p>
          </p:txBody>
        </p:sp>
        <p:sp>
          <p:nvSpPr>
            <p:cNvPr id="454399619" name="Shape 9"/>
            <p:cNvSpPr/>
            <p:nvPr/>
          </p:nvSpPr>
          <p:spPr bwMode="auto">
            <a:xfrm>
              <a:off x="170596" y="498347"/>
              <a:ext cx="82296" cy="82296"/>
            </a:xfrm>
            <a:prstGeom prst="ellipse">
              <a:avLst/>
            </a:prstGeom>
            <a:solidFill>
              <a:srgbClr val="F97316"/>
            </a:solidFill>
            <a:ln w="12700">
              <a:solidFill>
                <a:srgbClr val="F97316"/>
              </a:solidFill>
              <a:prstDash val="solid"/>
            </a:ln>
          </p:spPr>
        </p:sp>
        <p:sp>
          <p:nvSpPr>
            <p:cNvPr id="606694358" name="Text 10"/>
            <p:cNvSpPr/>
            <p:nvPr/>
          </p:nvSpPr>
          <p:spPr bwMode="auto">
            <a:xfrm>
              <a:off x="306490" y="402335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Create project</a:t>
              </a:r>
              <a:endParaRPr lang="en-US" sz="1100"/>
            </a:p>
          </p:txBody>
        </p:sp>
        <p:sp>
          <p:nvSpPr>
            <p:cNvPr id="1628612922" name="Shape 11"/>
            <p:cNvSpPr/>
            <p:nvPr/>
          </p:nvSpPr>
          <p:spPr bwMode="auto">
            <a:xfrm>
              <a:off x="169330" y="772668"/>
              <a:ext cx="82296" cy="82296"/>
            </a:xfrm>
            <a:prstGeom prst="ellipse">
              <a:avLst/>
            </a:prstGeom>
            <a:solidFill>
              <a:srgbClr val="F97316"/>
            </a:solidFill>
            <a:ln w="12700">
              <a:solidFill>
                <a:srgbClr val="F97316"/>
              </a:solidFill>
              <a:prstDash val="solid"/>
            </a:ln>
          </p:spPr>
        </p:sp>
        <p:sp>
          <p:nvSpPr>
            <p:cNvPr id="32523337" name="Text 12"/>
            <p:cNvSpPr/>
            <p:nvPr/>
          </p:nvSpPr>
          <p:spPr bwMode="auto">
            <a:xfrm>
              <a:off x="306490" y="676656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Delete project</a:t>
              </a:r>
              <a:endParaRPr lang="en-US" sz="11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2288489" name="Shape 0"/>
          <p:cNvSpPr/>
          <p:nvPr/>
        </p:nvSpPr>
        <p:spPr bwMode="auto">
          <a:xfrm>
            <a:off x="0" y="0"/>
            <a:ext cx="9144000" cy="685800"/>
          </a:xfrm>
          <a:prstGeom prst="rect">
            <a:avLst/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</p:sp>
      <p:sp>
        <p:nvSpPr>
          <p:cNvPr id="394260581" name="Text 1"/>
          <p:cNvSpPr/>
          <p:nvPr/>
        </p:nvSpPr>
        <p:spPr bwMode="auto"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Use Case – Admin</a:t>
            </a:r>
            <a:endParaRPr lang="en-US" sz="2200"/>
          </a:p>
        </p:txBody>
      </p:sp>
      <p:sp>
        <p:nvSpPr>
          <p:cNvPr id="52822599" name="Shape 2"/>
          <p:cNvSpPr/>
          <p:nvPr/>
        </p:nvSpPr>
        <p:spPr bwMode="auto">
          <a:xfrm>
            <a:off x="274320" y="749808"/>
            <a:ext cx="8595360" cy="246888"/>
          </a:xfrm>
          <a:prstGeom prst="rect">
            <a:avLst/>
          </a:prstGeom>
          <a:solidFill>
            <a:srgbClr val="FAF5FF"/>
          </a:solidFill>
          <a:ln w="12700">
            <a:solidFill>
              <a:srgbClr val="9333EA"/>
            </a:solidFill>
            <a:prstDash val="solid"/>
          </a:ln>
        </p:spPr>
      </p:sp>
      <p:sp>
        <p:nvSpPr>
          <p:cNvPr id="1547585626" name="Text 3"/>
          <p:cNvSpPr/>
          <p:nvPr/>
        </p:nvSpPr>
        <p:spPr bwMode="auto">
          <a:xfrm>
            <a:off x="411480" y="749808"/>
            <a:ext cx="8412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 b="1">
                <a:solidFill>
                  <a:srgbClr val="9333EA"/>
                </a:solidFill>
                <a:latin typeface="Calibri"/>
                <a:ea typeface="Calibri"/>
                <a:cs typeface="Calibri"/>
              </a:rPr>
              <a:t>⬆  Includes all Project Manager &amp; Member use cases</a:t>
            </a:r>
            <a:endParaRPr lang="en-US" sz="1000"/>
          </a:p>
        </p:txBody>
      </p:sp>
      <p:grpSp>
        <p:nvGrpSpPr>
          <p:cNvPr id="1060357958" name=""/>
          <p:cNvGrpSpPr/>
          <p:nvPr/>
        </p:nvGrpSpPr>
        <p:grpSpPr bwMode="auto">
          <a:xfrm>
            <a:off x="4229100" y="3474253"/>
            <a:ext cx="685800" cy="896111"/>
            <a:chOff x="0" y="0"/>
            <a:chExt cx="685800" cy="896111"/>
          </a:xfrm>
        </p:grpSpPr>
        <p:sp>
          <p:nvSpPr>
            <p:cNvPr id="2131607583" name="Shape 4"/>
            <p:cNvSpPr/>
            <p:nvPr/>
          </p:nvSpPr>
          <p:spPr bwMode="auto">
            <a:xfrm>
              <a:off x="45719" y="0"/>
              <a:ext cx="594360" cy="594360"/>
            </a:xfrm>
            <a:prstGeom prst="ellipse">
              <a:avLst/>
            </a:prstGeom>
            <a:solidFill>
              <a:srgbClr val="FAF5FF"/>
            </a:solidFill>
            <a:ln w="25400">
              <a:solidFill>
                <a:srgbClr val="9333EA"/>
              </a:solidFill>
              <a:prstDash val="solid"/>
            </a:ln>
          </p:spPr>
        </p:sp>
        <p:pic>
          <p:nvPicPr>
            <p:cNvPr id="617636203" name="Image 0" descr="preencoded.png"/>
            <p:cNvPicPr>
              <a:picLocks noChangeAspect="1"/>
            </p:cNvPicPr>
            <p:nvPr/>
          </p:nvPicPr>
          <p:blipFill rotWithShape="1">
            <a:blip r:embed="rId3"/>
            <a:stretch/>
          </p:blipFill>
          <p:spPr bwMode="auto">
            <a:xfrm>
              <a:off x="137160" y="91439"/>
              <a:ext cx="411480" cy="411480"/>
            </a:xfrm>
            <a:prstGeom prst="rect">
              <a:avLst/>
            </a:prstGeom>
          </p:spPr>
        </p:pic>
        <p:sp>
          <p:nvSpPr>
            <p:cNvPr id="289418284" name="Text 5"/>
            <p:cNvSpPr/>
            <p:nvPr/>
          </p:nvSpPr>
          <p:spPr bwMode="auto">
            <a:xfrm>
              <a:off x="0" y="621791"/>
              <a:ext cx="685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900" b="1">
                  <a:solidFill>
                    <a:srgbClr val="9333EA"/>
                  </a:solidFill>
                  <a:latin typeface="Calibri"/>
                  <a:ea typeface="Calibri"/>
                  <a:cs typeface="Calibri"/>
                </a:rPr>
                <a:t>Admin</a:t>
              </a:r>
              <a:endParaRPr lang="en-US" sz="900"/>
            </a:p>
          </p:txBody>
        </p:sp>
      </p:grpSp>
      <p:sp>
        <p:nvSpPr>
          <p:cNvPr id="217592280" name="Shape 29"/>
          <p:cNvSpPr/>
          <p:nvPr/>
        </p:nvSpPr>
        <p:spPr bwMode="auto">
          <a:xfrm flipH="0" flipV="0">
            <a:off x="2370372" y="2419365"/>
            <a:ext cx="1914475" cy="1222610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</p:sp>
      <p:grpSp>
        <p:nvGrpSpPr>
          <p:cNvPr id="1917792386" name=""/>
          <p:cNvGrpSpPr/>
          <p:nvPr/>
        </p:nvGrpSpPr>
        <p:grpSpPr bwMode="auto">
          <a:xfrm>
            <a:off x="5693883" y="1448359"/>
            <a:ext cx="2199297" cy="733042"/>
            <a:chOff x="0" y="0"/>
            <a:chExt cx="2199297" cy="733042"/>
          </a:xfrm>
        </p:grpSpPr>
        <p:sp>
          <p:nvSpPr>
            <p:cNvPr id="1096689932" name="Shape 6"/>
            <p:cNvSpPr/>
            <p:nvPr/>
          </p:nvSpPr>
          <p:spPr bwMode="auto">
            <a:xfrm flipH="0" flipV="0">
              <a:off x="0" y="0"/>
              <a:ext cx="2194560" cy="73304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sx="100000" sy="100000" kx="0" ky="0" algn="bl" rotWithShape="0">
                <a:srgbClr val="000000">
                  <a:alpha val="9000"/>
                </a:srgbClr>
              </a:outerShdw>
            </a:effectLst>
          </p:spPr>
        </p:sp>
        <p:sp>
          <p:nvSpPr>
            <p:cNvPr id="1528544736" name="Shape 7"/>
            <p:cNvSpPr/>
            <p:nvPr/>
          </p:nvSpPr>
          <p:spPr bwMode="auto">
            <a:xfrm>
              <a:off x="4737" y="0"/>
              <a:ext cx="2194560" cy="347471"/>
            </a:xfrm>
            <a:prstGeom prst="rect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1124568451" name="Text 8"/>
            <p:cNvSpPr/>
            <p:nvPr/>
          </p:nvSpPr>
          <p:spPr bwMode="auto">
            <a:xfrm>
              <a:off x="123207" y="0"/>
              <a:ext cx="1783080" cy="3474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Role Management</a:t>
              </a:r>
              <a:endParaRPr lang="en-US" sz="1100"/>
            </a:p>
          </p:txBody>
        </p:sp>
        <p:sp>
          <p:nvSpPr>
            <p:cNvPr id="1672318149" name="Shape 9"/>
            <p:cNvSpPr/>
            <p:nvPr/>
          </p:nvSpPr>
          <p:spPr bwMode="auto">
            <a:xfrm>
              <a:off x="170596" y="498346"/>
              <a:ext cx="82296" cy="82296"/>
            </a:xfrm>
            <a:prstGeom prst="ellipse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681172184" name="Text 10"/>
            <p:cNvSpPr/>
            <p:nvPr/>
          </p:nvSpPr>
          <p:spPr bwMode="auto">
            <a:xfrm>
              <a:off x="306489" y="40233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 b="0" i="0" u="none" strike="noStrike" cap="none" spc="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Change user role</a:t>
              </a:r>
              <a:endParaRPr sz="1100"/>
            </a:p>
          </p:txBody>
        </p:sp>
      </p:grpSp>
      <p:sp>
        <p:nvSpPr>
          <p:cNvPr id="1096905989" name="Shape 29"/>
          <p:cNvSpPr/>
          <p:nvPr/>
        </p:nvSpPr>
        <p:spPr bwMode="auto">
          <a:xfrm flipH="1" flipV="0">
            <a:off x="4872462" y="2181402"/>
            <a:ext cx="1955040" cy="1460574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</p:sp>
      <p:grpSp>
        <p:nvGrpSpPr>
          <p:cNvPr id="1907407505" name=""/>
          <p:cNvGrpSpPr/>
          <p:nvPr/>
        </p:nvGrpSpPr>
        <p:grpSpPr bwMode="auto">
          <a:xfrm>
            <a:off x="1258080" y="1385315"/>
            <a:ext cx="2199297" cy="1033272"/>
            <a:chOff x="0" y="0"/>
            <a:chExt cx="2199297" cy="1033272"/>
          </a:xfrm>
        </p:grpSpPr>
        <p:sp>
          <p:nvSpPr>
            <p:cNvPr id="666264661" name="Shape 6"/>
            <p:cNvSpPr/>
            <p:nvPr/>
          </p:nvSpPr>
          <p:spPr bwMode="auto">
            <a:xfrm>
              <a:off x="0" y="0"/>
              <a:ext cx="2194560" cy="103327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sx="100000" sy="100000" kx="0" ky="0" algn="bl" rotWithShape="0">
                <a:srgbClr val="000000">
                  <a:alpha val="9000"/>
                </a:srgbClr>
              </a:outerShdw>
            </a:effectLst>
          </p:spPr>
        </p:sp>
        <p:sp>
          <p:nvSpPr>
            <p:cNvPr id="663022233" name="Shape 7"/>
            <p:cNvSpPr/>
            <p:nvPr/>
          </p:nvSpPr>
          <p:spPr bwMode="auto">
            <a:xfrm>
              <a:off x="4737" y="0"/>
              <a:ext cx="2194560" cy="347471"/>
            </a:xfrm>
            <a:prstGeom prst="rect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1592914500" name="Text 8"/>
            <p:cNvSpPr/>
            <p:nvPr/>
          </p:nvSpPr>
          <p:spPr bwMode="auto">
            <a:xfrm>
              <a:off x="123207" y="0"/>
              <a:ext cx="1783080" cy="3474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User Management</a:t>
              </a:r>
              <a:endParaRPr lang="en-US" sz="1100"/>
            </a:p>
          </p:txBody>
        </p:sp>
        <p:sp>
          <p:nvSpPr>
            <p:cNvPr id="932413197" name="Shape 9"/>
            <p:cNvSpPr/>
            <p:nvPr/>
          </p:nvSpPr>
          <p:spPr bwMode="auto">
            <a:xfrm>
              <a:off x="170595" y="498346"/>
              <a:ext cx="82296" cy="82296"/>
            </a:xfrm>
            <a:prstGeom prst="ellipse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1637812101" name="Text 10"/>
            <p:cNvSpPr/>
            <p:nvPr/>
          </p:nvSpPr>
          <p:spPr bwMode="auto">
            <a:xfrm>
              <a:off x="306489" y="40233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Create </a:t>
              </a: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user</a:t>
              </a:r>
              <a:endParaRPr lang="en-US" sz="1100"/>
            </a:p>
          </p:txBody>
        </p:sp>
        <p:sp>
          <p:nvSpPr>
            <p:cNvPr id="498651531" name="Shape 11"/>
            <p:cNvSpPr/>
            <p:nvPr/>
          </p:nvSpPr>
          <p:spPr bwMode="auto">
            <a:xfrm>
              <a:off x="169329" y="772668"/>
              <a:ext cx="82296" cy="82296"/>
            </a:xfrm>
            <a:prstGeom prst="ellipse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1639240353" name="Text 12"/>
            <p:cNvSpPr/>
            <p:nvPr/>
          </p:nvSpPr>
          <p:spPr bwMode="auto">
            <a:xfrm>
              <a:off x="306489" y="676656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Delete </a:t>
              </a: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user</a:t>
              </a:r>
              <a:endParaRPr lang="en-US" sz="11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ONLYOFFICE/9.3.1.8</Application>
  <PresentationFormat>On-screen Show (4:3)</PresentationFormat>
  <Paragraphs>0</Paragraphs>
  <Slides>7</Slides>
  <Notes>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Mini Jira – Use Cases &amp; Roles</dc:title>
  <dc:subject>PptxGenJS Presentation</dc:subject>
  <dc:creator>PptxGenJS</dc:creator>
  <cp:lastModifiedBy/>
  <cp:revision>4</cp:revision>
  <dcterms:created xsi:type="dcterms:W3CDTF">2026-04-06T11:44:17Z</dcterms:created>
  <dcterms:modified xsi:type="dcterms:W3CDTF">2026-04-11T17:48:26Z</dcterms:modified>
</cp:coreProperties>
</file>