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wmf" ContentType="image/x-wmf"/>
  <Default Extension="png" ContentType="image/png"/>
  <Default Extension="rels" ContentType="application/vnd.openxmlformats-package.relationships+xml"/>
  <Default Extension="bin" ContentType="application/vnd.openxmlformats-officedocument.oleObject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notesSlides/notesSlide7.xml" ContentType="application/vnd.openxmlformats-officedocument.presentationml.notesSlid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viewProps.xml" ContentType="application/vnd.openxmlformats-officedocument.presentationml.viewProps+xml"/>
  <Override PartName="/ppt/slideLayouts/slideLayout1.xml" ContentType="application/vnd.openxmlformats-officedocument.presentationml.slideLayout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slides/slide6.xml" ContentType="application/vnd.openxmlformats-officedocument.presentationml.slide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0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9144000" cy="5143500"/>
  <p:notesSz cx="5143500" cy="9144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2880"/>
        <p:guide pos="162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 /><Relationship Id="rId12" Type="http://schemas.openxmlformats.org/officeDocument/2006/relationships/tableStyles" Target="tableStyles.xml" /><Relationship Id="rId13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163398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93565514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21294272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971835983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47509630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104821450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864163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088451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90399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1893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44850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107335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391454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05539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862406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08E325-F849-A203-B3CC-E685AAE7F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39013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543030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3954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21279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786184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202564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11445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746375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500483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622347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902204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765117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5EA9D8-4FF6-51C5-5AC8-B25BE3405D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1A2B4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4288150" name="Shape 0"/>
          <p:cNvSpPr/>
          <p:nvPr/>
        </p:nvSpPr>
        <p:spPr bwMode="auto"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94982540" name="Shape 1"/>
          <p:cNvSpPr/>
          <p:nvPr/>
        </p:nvSpPr>
        <p:spPr bwMode="auto">
          <a:xfrm>
            <a:off x="365760" y="274320"/>
            <a:ext cx="109728" cy="109728"/>
          </a:xfrm>
          <a:prstGeom prst="ellipse">
            <a:avLst/>
          </a:prstGeom>
          <a:solidFill>
            <a:srgbClr val="14B8A6">
              <a:alpha val="60000"/>
            </a:srgbClr>
          </a:solidFill>
          <a:ln w="12700">
            <a:solidFill>
              <a:srgbClr val="14B8A6">
                <a:alpha val="60000"/>
              </a:srgbClr>
            </a:solidFill>
            <a:prstDash val="solid"/>
          </a:ln>
        </p:spPr>
      </p:sp>
      <p:sp>
        <p:nvSpPr>
          <p:cNvPr id="1430118997" name="Shape 2"/>
          <p:cNvSpPr/>
          <p:nvPr/>
        </p:nvSpPr>
        <p:spPr bwMode="auto">
          <a:xfrm>
            <a:off x="685800" y="274320"/>
            <a:ext cx="109728" cy="109728"/>
          </a:xfrm>
          <a:prstGeom prst="ellipse">
            <a:avLst/>
          </a:prstGeom>
          <a:solidFill>
            <a:srgbClr val="14B8A6">
              <a:alpha val="60000"/>
            </a:srgbClr>
          </a:solidFill>
          <a:ln w="12700">
            <a:solidFill>
              <a:srgbClr val="14B8A6">
                <a:alpha val="60000"/>
              </a:srgbClr>
            </a:solidFill>
            <a:prstDash val="solid"/>
          </a:ln>
        </p:spPr>
      </p:sp>
      <p:sp>
        <p:nvSpPr>
          <p:cNvPr id="236952931" name="Shape 3"/>
          <p:cNvSpPr/>
          <p:nvPr/>
        </p:nvSpPr>
        <p:spPr bwMode="auto">
          <a:xfrm>
            <a:off x="1005840" y="274320"/>
            <a:ext cx="109728" cy="109728"/>
          </a:xfrm>
          <a:prstGeom prst="ellipse">
            <a:avLst/>
          </a:prstGeom>
          <a:solidFill>
            <a:srgbClr val="14B8A6">
              <a:alpha val="60000"/>
            </a:srgbClr>
          </a:solidFill>
          <a:ln w="12700">
            <a:solidFill>
              <a:srgbClr val="14B8A6">
                <a:alpha val="60000"/>
              </a:srgbClr>
            </a:solidFill>
            <a:prstDash val="solid"/>
          </a:ln>
        </p:spPr>
      </p:sp>
      <p:sp>
        <p:nvSpPr>
          <p:cNvPr id="1154440211" name="Shape 4"/>
          <p:cNvSpPr/>
          <p:nvPr/>
        </p:nvSpPr>
        <p:spPr bwMode="auto">
          <a:xfrm>
            <a:off x="1325880" y="274320"/>
            <a:ext cx="109728" cy="109728"/>
          </a:xfrm>
          <a:prstGeom prst="ellipse">
            <a:avLst/>
          </a:prstGeom>
          <a:solidFill>
            <a:srgbClr val="14B8A6">
              <a:alpha val="60000"/>
            </a:srgbClr>
          </a:solidFill>
          <a:ln w="12700">
            <a:solidFill>
              <a:srgbClr val="14B8A6">
                <a:alpha val="60000"/>
              </a:srgbClr>
            </a:solidFill>
            <a:prstDash val="solid"/>
          </a:ln>
        </p:spPr>
      </p:sp>
      <p:sp>
        <p:nvSpPr>
          <p:cNvPr id="1401523307" name="Shape 5"/>
          <p:cNvSpPr/>
          <p:nvPr/>
        </p:nvSpPr>
        <p:spPr bwMode="auto">
          <a:xfrm>
            <a:off x="1645920" y="274320"/>
            <a:ext cx="109728" cy="109728"/>
          </a:xfrm>
          <a:prstGeom prst="ellipse">
            <a:avLst/>
          </a:prstGeom>
          <a:solidFill>
            <a:srgbClr val="14B8A6">
              <a:alpha val="60000"/>
            </a:srgbClr>
          </a:solidFill>
          <a:ln w="12700">
            <a:solidFill>
              <a:srgbClr val="14B8A6">
                <a:alpha val="60000"/>
              </a:srgbClr>
            </a:solidFill>
            <a:prstDash val="solid"/>
          </a:ln>
        </p:spPr>
      </p:sp>
      <p:sp>
        <p:nvSpPr>
          <p:cNvPr id="1134455330" name="Text 6"/>
          <p:cNvSpPr/>
          <p:nvPr/>
        </p:nvSpPr>
        <p:spPr bwMode="auto">
          <a:xfrm>
            <a:off x="457200" y="1097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Mini Jira</a:t>
            </a:r>
            <a:endParaRPr lang="en-US" sz="5200"/>
          </a:p>
        </p:txBody>
      </p:sp>
      <p:sp>
        <p:nvSpPr>
          <p:cNvPr id="661528179" name="Text 7"/>
          <p:cNvSpPr/>
          <p:nvPr/>
        </p:nvSpPr>
        <p:spPr bwMode="auto">
          <a:xfrm>
            <a:off x="457200" y="20116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28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Use Cases &amp; Roles</a:t>
            </a:r>
            <a:endParaRPr lang="en-US" sz="2800"/>
          </a:p>
        </p:txBody>
      </p:sp>
      <p:sp>
        <p:nvSpPr>
          <p:cNvPr id="345429569" name="Shape 8"/>
          <p:cNvSpPr/>
          <p:nvPr/>
        </p:nvSpPr>
        <p:spPr bwMode="auto">
          <a:xfrm>
            <a:off x="457200" y="2788920"/>
            <a:ext cx="292608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47951600" name="Text 9"/>
          <p:cNvSpPr/>
          <p:nvPr/>
        </p:nvSpPr>
        <p:spPr bwMode="auto">
          <a:xfrm>
            <a:off x="457200" y="3017519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1400">
                <a:solidFill>
                  <a:srgbClr val="CBD5E1"/>
                </a:solidFill>
                <a:latin typeface="Calibri"/>
                <a:ea typeface="Calibri"/>
                <a:cs typeface="Calibri"/>
              </a:rPr>
              <a:t>Task, Project &amp; Team Management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0768499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370287643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Project Idea</a:t>
            </a:r>
            <a:endParaRPr lang="en-US" sz="2200"/>
          </a:p>
        </p:txBody>
      </p:sp>
      <p:sp>
        <p:nvSpPr>
          <p:cNvPr id="314143106" name="Shape 2"/>
          <p:cNvSpPr/>
          <p:nvPr/>
        </p:nvSpPr>
        <p:spPr bwMode="auto">
          <a:xfrm flipH="0" flipV="0">
            <a:off x="206302" y="995774"/>
            <a:ext cx="8731394" cy="770700"/>
          </a:xfrm>
          <a:prstGeom prst="flowChartAlternateProcess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1330179577" name="Shape 2"/>
          <p:cNvSpPr/>
          <p:nvPr/>
        </p:nvSpPr>
        <p:spPr bwMode="auto">
          <a:xfrm flipH="0" flipV="0">
            <a:off x="206302" y="1901717"/>
            <a:ext cx="8731394" cy="770700"/>
          </a:xfrm>
          <a:prstGeom prst="flowChartAlternateProcess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1807577297" name="Shape 2"/>
          <p:cNvSpPr/>
          <p:nvPr/>
        </p:nvSpPr>
        <p:spPr bwMode="auto">
          <a:xfrm flipH="0" flipV="0">
            <a:off x="206302" y="2807661"/>
            <a:ext cx="8731394" cy="770700"/>
          </a:xfrm>
          <a:prstGeom prst="flowChartAlternateProcess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965875906" name="Shape 2"/>
          <p:cNvSpPr/>
          <p:nvPr/>
        </p:nvSpPr>
        <p:spPr bwMode="auto">
          <a:xfrm flipH="0" flipV="0">
            <a:off x="206302" y="3713604"/>
            <a:ext cx="8731394" cy="770700"/>
          </a:xfrm>
          <a:prstGeom prst="flowChartAlternateProcess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 modelId="{A8BC8CD6-8738-41EA-9E71-3CD4C9AF2582}">
        <p:nvSpPr>
          <p:cNvPr id="628477612" name=""/>
          <p:cNvSpPr/>
          <p:nvPr/>
        </p:nvSpPr>
        <p:spPr bwMode="auto">
          <a:xfrm>
            <a:off x="345747" y="1039317"/>
            <a:ext cx="683613" cy="683613"/>
          </a:xfrm>
          <a:prstGeom prst="rect">
            <a:avLst/>
          </a:prstGeom>
          <a:blipFill rotWithShape="1">
            <a:blip r:embed="rId3"/>
            <a:stretch/>
          </a:blipFill>
          <a:ln w="19050" cap="flat" cmpd="sng" algn="ctr">
            <a:solidFill>
              <a:schemeClr val="lt1">
                <a:hueOff val="0"/>
                <a:satOff val="0"/>
                <a:lumOff val="0"/>
                <a:alphaOff val="0"/>
              </a:schemeClr>
            </a:solidFill>
            <a:prstDash val="solid"/>
            <a:miter lim="800000"/>
          </a:ln>
          <a:effectLst/>
        </p:spPr>
        <p:style>
          <a:lnRef idx="2">
            <a:srgbClr val="000000"/>
          </a:lnRef>
          <a:fillRef idx="1">
            <a:srgbClr val="000000"/>
          </a:fillRef>
          <a:effectRef idx="0">
            <a:srgbClr val="000000"/>
          </a:effectRef>
          <a:fontRef idx="minor">
            <a:schemeClr val="lt1"/>
          </a:fontRef>
        </p:style>
      </p:sp>
      <p:sp modelId="{B63312C8-A8E7-471C-BDC7-E288FC589C93}">
        <p:nvSpPr>
          <p:cNvPr id="1795990470" name=""/>
          <p:cNvSpPr/>
          <p:nvPr/>
        </p:nvSpPr>
        <p:spPr bwMode="auto">
          <a:xfrm>
            <a:off x="345747" y="1945261"/>
            <a:ext cx="683613" cy="683613"/>
          </a:xfrm>
          <a:prstGeom prst="rect">
            <a:avLst/>
          </a:prstGeom>
          <a:blipFill rotWithShape="1">
            <a:blip r:embed="rId4"/>
            <a:stretch/>
          </a:blipFill>
          <a:ln w="19050" cap="flat" cmpd="sng" algn="ctr">
            <a:solidFill>
              <a:schemeClr val="lt1">
                <a:hueOff val="0"/>
                <a:satOff val="0"/>
                <a:lumOff val="0"/>
                <a:alphaOff val="0"/>
              </a:schemeClr>
            </a:solidFill>
            <a:prstDash val="solid"/>
            <a:miter lim="800000"/>
          </a:ln>
          <a:effectLst/>
        </p:spPr>
        <p:style>
          <a:lnRef idx="2">
            <a:srgbClr val="000000"/>
          </a:lnRef>
          <a:fillRef idx="1">
            <a:srgbClr val="000000"/>
          </a:fillRef>
          <a:effectRef idx="0">
            <a:srgbClr val="000000"/>
          </a:effectRef>
          <a:fontRef idx="minor">
            <a:schemeClr val="lt1"/>
          </a:fontRef>
        </p:style>
      </p:sp>
      <p:sp modelId="{CA7E8371-02DB-4E6B-BDD4-4E6725844AB0}">
        <p:nvSpPr>
          <p:cNvPr id="6785565" name=""/>
          <p:cNvSpPr/>
          <p:nvPr/>
        </p:nvSpPr>
        <p:spPr bwMode="auto">
          <a:xfrm>
            <a:off x="345747" y="2851204"/>
            <a:ext cx="683613" cy="683613"/>
          </a:xfrm>
          <a:prstGeom prst="rect">
            <a:avLst/>
          </a:prstGeom>
          <a:blipFill rotWithShape="1">
            <a:blip r:embed="rId5"/>
            <a:stretch/>
          </a:blipFill>
          <a:ln w="19050" cap="flat" cmpd="sng" algn="ctr">
            <a:solidFill>
              <a:schemeClr val="lt1">
                <a:hueOff val="0"/>
                <a:satOff val="0"/>
                <a:lumOff val="0"/>
                <a:alphaOff val="0"/>
              </a:schemeClr>
            </a:solidFill>
            <a:prstDash val="solid"/>
            <a:miter lim="800000"/>
          </a:ln>
          <a:effectLst/>
        </p:spPr>
        <p:style>
          <a:lnRef idx="2">
            <a:srgbClr val="000000"/>
          </a:lnRef>
          <a:fillRef idx="1">
            <a:srgbClr val="000000"/>
          </a:fillRef>
          <a:effectRef idx="0">
            <a:srgbClr val="000000"/>
          </a:effectRef>
          <a:fontRef idx="minor">
            <a:schemeClr val="lt1"/>
          </a:fontRef>
        </p:style>
      </p:sp>
      <p:sp modelId="{CA7E8371-02DB-4E6B-BDD4-4E6725844AB0}">
        <p:nvSpPr>
          <p:cNvPr id="181678663" name=""/>
          <p:cNvSpPr/>
          <p:nvPr/>
        </p:nvSpPr>
        <p:spPr bwMode="auto">
          <a:xfrm>
            <a:off x="345747" y="3757147"/>
            <a:ext cx="683613" cy="683613"/>
          </a:xfrm>
          <a:prstGeom prst="rect">
            <a:avLst/>
          </a:prstGeom>
          <a:blipFill rotWithShape="1">
            <a:blip r:embed="rId6"/>
            <a:stretch/>
          </a:blip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rgbClr val="000000"/>
          </a:lnRef>
          <a:fillRef idx="1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792004691" name=""/>
          <p:cNvSpPr txBox="1"/>
          <p:nvPr/>
        </p:nvSpPr>
        <p:spPr bwMode="auto">
          <a:xfrm rot="0" flipH="0" flipV="0">
            <a:off x="1029361" y="1198244"/>
            <a:ext cx="756707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lvl="0" indent="0" algn="l" defTabSz="1111249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de-DE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 Management Web Service</a:t>
            </a:r>
            <a:endParaRPr sz="1800"/>
          </a:p>
        </p:txBody>
      </p:sp>
      <p:sp>
        <p:nvSpPr>
          <p:cNvPr id="999297325" name=""/>
          <p:cNvSpPr txBox="1"/>
          <p:nvPr/>
        </p:nvSpPr>
        <p:spPr bwMode="auto">
          <a:xfrm rot="0" flipH="0" flipV="0">
            <a:off x="1029361" y="2104008"/>
            <a:ext cx="756707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lvl="0" indent="0" algn="l" defTabSz="1111249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de-DE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Simple, scalable, role-based system</a:t>
            </a:r>
            <a:endParaRPr sz="1800"/>
          </a:p>
        </p:txBody>
      </p:sp>
      <p:sp>
        <p:nvSpPr>
          <p:cNvPr id="1835559148" name=""/>
          <p:cNvSpPr txBox="1"/>
          <p:nvPr/>
        </p:nvSpPr>
        <p:spPr bwMode="auto">
          <a:xfrm rot="0" flipH="0" flipV="0">
            <a:off x="1029361" y="3009951"/>
            <a:ext cx="756707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lvl="0" indent="0" algn="l" defTabSz="1111249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de-DE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Designed for teams &amp; project collaboration</a:t>
            </a:r>
            <a:endParaRPr sz="1800"/>
          </a:p>
        </p:txBody>
      </p:sp>
      <p:sp>
        <p:nvSpPr>
          <p:cNvPr id="2134761818" name=""/>
          <p:cNvSpPr txBox="1"/>
          <p:nvPr/>
        </p:nvSpPr>
        <p:spPr bwMode="auto">
          <a:xfrm rot="0" flipH="0" flipV="0">
            <a:off x="1028282" y="3915894"/>
            <a:ext cx="756887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indent="0" algn="l">
              <a:buNone/>
              <a:defRPr/>
            </a:pPr>
            <a:r>
              <a:rPr lang="de-D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AI Assistant for task organization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2043432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545340689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User Roles</a:t>
            </a:r>
            <a:endParaRPr lang="en-US" sz="2200"/>
          </a:p>
        </p:txBody>
      </p:sp>
      <p:sp>
        <p:nvSpPr>
          <p:cNvPr id="570389632" name="Shape 2"/>
          <p:cNvSpPr/>
          <p:nvPr/>
        </p:nvSpPr>
        <p:spPr bwMode="auto">
          <a:xfrm>
            <a:off x="274320" y="822960"/>
            <a:ext cx="2834639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774430872" name="Shape 3"/>
          <p:cNvSpPr/>
          <p:nvPr/>
        </p:nvSpPr>
        <p:spPr bwMode="auto">
          <a:xfrm>
            <a:off x="274320" y="822960"/>
            <a:ext cx="2834639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621276531" name="Shape 4"/>
          <p:cNvSpPr/>
          <p:nvPr/>
        </p:nvSpPr>
        <p:spPr bwMode="auto">
          <a:xfrm>
            <a:off x="1399032" y="1024128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</p:spPr>
      </p:sp>
      <p:pic>
        <p:nvPicPr>
          <p:cNvPr id="1692371210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490472" y="1115568"/>
            <a:ext cx="402336" cy="402336"/>
          </a:xfrm>
          <a:prstGeom prst="rect">
            <a:avLst/>
          </a:prstGeom>
        </p:spPr>
      </p:pic>
      <p:sp>
        <p:nvSpPr>
          <p:cNvPr id="1389862890" name="Text 5"/>
          <p:cNvSpPr/>
          <p:nvPr/>
        </p:nvSpPr>
        <p:spPr bwMode="auto">
          <a:xfrm>
            <a:off x="274320" y="1691640"/>
            <a:ext cx="2834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3B82F6"/>
                </a:solidFill>
                <a:latin typeface="Calibri"/>
                <a:ea typeface="Calibri"/>
                <a:cs typeface="Calibri"/>
              </a:rPr>
              <a:t>Project Member</a:t>
            </a:r>
            <a:endParaRPr lang="en-US" sz="1400"/>
          </a:p>
        </p:txBody>
      </p:sp>
      <p:sp>
        <p:nvSpPr>
          <p:cNvPr id="1142479438" name="Text 6"/>
          <p:cNvSpPr/>
          <p:nvPr/>
        </p:nvSpPr>
        <p:spPr bwMode="auto">
          <a:xfrm>
            <a:off x="411480" y="196636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Default role for all team members. </a:t>
            </a:r>
            <a:r>
              <a:rPr lang="de-DE"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Works in projects on different tasks.</a:t>
            </a:r>
            <a:endParaRPr lang="en-US" sz="1000"/>
          </a:p>
        </p:txBody>
      </p:sp>
      <p:sp>
        <p:nvSpPr>
          <p:cNvPr id="1119947555" name="Shape 7"/>
          <p:cNvSpPr/>
          <p:nvPr/>
        </p:nvSpPr>
        <p:spPr bwMode="auto">
          <a:xfrm>
            <a:off x="640080" y="2517070"/>
            <a:ext cx="21031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29551329" name="Shape 10"/>
          <p:cNvSpPr/>
          <p:nvPr/>
        </p:nvSpPr>
        <p:spPr bwMode="auto">
          <a:xfrm>
            <a:off x="457200" y="3057400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66846694" name="Text 11"/>
          <p:cNvSpPr/>
          <p:nvPr/>
        </p:nvSpPr>
        <p:spPr bwMode="auto">
          <a:xfrm>
            <a:off x="603504" y="2952244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Change </a:t>
            </a:r>
            <a:r>
              <a:rPr lang="de-DE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task </a:t>
            </a: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status &amp; priority</a:t>
            </a:r>
            <a:endParaRPr lang="en-US" sz="1000"/>
          </a:p>
        </p:txBody>
      </p:sp>
      <p:sp>
        <p:nvSpPr>
          <p:cNvPr id="283878545" name="Shape 12"/>
          <p:cNvSpPr/>
          <p:nvPr/>
        </p:nvSpPr>
        <p:spPr bwMode="auto">
          <a:xfrm>
            <a:off x="457200" y="3359152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75171180" name="Text 13"/>
          <p:cNvSpPr/>
          <p:nvPr/>
        </p:nvSpPr>
        <p:spPr bwMode="auto">
          <a:xfrm>
            <a:off x="603504" y="3253996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0" i="0" u="none" strike="noStrike" cap="none" spc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Create, edit &amp; delete </a:t>
            </a:r>
            <a:r>
              <a:rPr lang="de-DE" sz="1000" b="0" i="0" u="none" strike="noStrike" cap="none" spc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comments</a:t>
            </a:r>
            <a:endParaRPr sz="1000"/>
          </a:p>
        </p:txBody>
      </p:sp>
      <p:sp>
        <p:nvSpPr>
          <p:cNvPr id="1400621730" name="Shape 14"/>
          <p:cNvSpPr/>
          <p:nvPr/>
        </p:nvSpPr>
        <p:spPr bwMode="auto">
          <a:xfrm>
            <a:off x="457200" y="3660904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91526302" name="Text 15"/>
          <p:cNvSpPr/>
          <p:nvPr/>
        </p:nvSpPr>
        <p:spPr bwMode="auto">
          <a:xfrm>
            <a:off x="603504" y="3555748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Epic management</a:t>
            </a:r>
            <a:endParaRPr lang="en-US" sz="1000"/>
          </a:p>
        </p:txBody>
      </p:sp>
      <p:sp>
        <p:nvSpPr>
          <p:cNvPr id="779842672" name="Shape 16"/>
          <p:cNvSpPr/>
          <p:nvPr/>
        </p:nvSpPr>
        <p:spPr bwMode="auto">
          <a:xfrm>
            <a:off x="457200" y="3962656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94165247" name="Text 17"/>
          <p:cNvSpPr/>
          <p:nvPr/>
        </p:nvSpPr>
        <p:spPr bwMode="auto">
          <a:xfrm>
            <a:off x="603504" y="3857500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Open dashboard</a:t>
            </a:r>
            <a:endParaRPr lang="en-US" sz="1000"/>
          </a:p>
        </p:txBody>
      </p:sp>
      <p:sp>
        <p:nvSpPr>
          <p:cNvPr id="1712176342" name="Shape 18"/>
          <p:cNvSpPr/>
          <p:nvPr/>
        </p:nvSpPr>
        <p:spPr bwMode="auto">
          <a:xfrm>
            <a:off x="457200" y="4264408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71053674" name="Text 19"/>
          <p:cNvSpPr/>
          <p:nvPr/>
        </p:nvSpPr>
        <p:spPr bwMode="auto">
          <a:xfrm>
            <a:off x="603504" y="4159252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Login &amp; sign up</a:t>
            </a:r>
            <a:endParaRPr lang="en-US" sz="1000"/>
          </a:p>
        </p:txBody>
      </p:sp>
      <p:sp>
        <p:nvSpPr>
          <p:cNvPr id="1851754423" name="Shape 20"/>
          <p:cNvSpPr/>
          <p:nvPr/>
        </p:nvSpPr>
        <p:spPr bwMode="auto">
          <a:xfrm>
            <a:off x="3246120" y="822960"/>
            <a:ext cx="2834639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2065823353" name="Shape 21"/>
          <p:cNvSpPr/>
          <p:nvPr/>
        </p:nvSpPr>
        <p:spPr bwMode="auto">
          <a:xfrm>
            <a:off x="3246120" y="822960"/>
            <a:ext cx="2834639" cy="5029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034285224" name="Shape 22"/>
          <p:cNvSpPr/>
          <p:nvPr/>
        </p:nvSpPr>
        <p:spPr bwMode="auto">
          <a:xfrm>
            <a:off x="4370832" y="1024128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97316"/>
            </a:solidFill>
            <a:prstDash val="solid"/>
          </a:ln>
        </p:spPr>
      </p:sp>
      <p:pic>
        <p:nvPicPr>
          <p:cNvPr id="830946581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462272" y="1115568"/>
            <a:ext cx="402336" cy="402336"/>
          </a:xfrm>
          <a:prstGeom prst="rect">
            <a:avLst/>
          </a:prstGeom>
        </p:spPr>
      </p:pic>
      <p:sp>
        <p:nvSpPr>
          <p:cNvPr id="1062820552" name="Text 23"/>
          <p:cNvSpPr/>
          <p:nvPr/>
        </p:nvSpPr>
        <p:spPr bwMode="auto">
          <a:xfrm>
            <a:off x="3246120" y="1691640"/>
            <a:ext cx="2834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97316"/>
                </a:solidFill>
                <a:latin typeface="Calibri"/>
                <a:ea typeface="Calibri"/>
                <a:cs typeface="Calibri"/>
              </a:rPr>
              <a:t>Project Manager</a:t>
            </a:r>
            <a:endParaRPr lang="en-US" sz="1400"/>
          </a:p>
        </p:txBody>
      </p:sp>
      <p:sp>
        <p:nvSpPr>
          <p:cNvPr id="365848990" name="Text 24"/>
          <p:cNvSpPr/>
          <p:nvPr/>
        </p:nvSpPr>
        <p:spPr bwMode="auto">
          <a:xfrm>
            <a:off x="3383280" y="196636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Extended permissions. Manages projects and assigns members.</a:t>
            </a:r>
            <a:endParaRPr lang="en-US" sz="1000"/>
          </a:p>
        </p:txBody>
      </p:sp>
      <p:sp>
        <p:nvSpPr>
          <p:cNvPr id="67978994" name="Shape 25"/>
          <p:cNvSpPr/>
          <p:nvPr/>
        </p:nvSpPr>
        <p:spPr bwMode="auto">
          <a:xfrm>
            <a:off x="3611880" y="2517070"/>
            <a:ext cx="21031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89696805" name="Shape 26"/>
          <p:cNvSpPr/>
          <p:nvPr/>
        </p:nvSpPr>
        <p:spPr bwMode="auto">
          <a:xfrm>
            <a:off x="3429000" y="2755648"/>
            <a:ext cx="91440" cy="9144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886037405" name="Text 27"/>
          <p:cNvSpPr/>
          <p:nvPr/>
        </p:nvSpPr>
        <p:spPr bwMode="auto">
          <a:xfrm>
            <a:off x="3575302" y="2650492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0" i="0" u="none" strike="noStrike" cap="none" spc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Create &amp; delete projects</a:t>
            </a:r>
            <a:endParaRPr sz="1000"/>
          </a:p>
        </p:txBody>
      </p:sp>
      <p:sp>
        <p:nvSpPr>
          <p:cNvPr id="1743505235" name="Shape 28"/>
          <p:cNvSpPr/>
          <p:nvPr/>
        </p:nvSpPr>
        <p:spPr bwMode="auto">
          <a:xfrm>
            <a:off x="3429000" y="3057400"/>
            <a:ext cx="91440" cy="9144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094026964" name="Text 29"/>
          <p:cNvSpPr/>
          <p:nvPr/>
        </p:nvSpPr>
        <p:spPr bwMode="auto">
          <a:xfrm>
            <a:off x="3575302" y="2952244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000" b="0" i="0" u="none" strike="noStrike" cap="none" spc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Remove &amp; assign project management</a:t>
            </a:r>
            <a:endParaRPr sz="1000"/>
          </a:p>
        </p:txBody>
      </p:sp>
      <p:sp>
        <p:nvSpPr>
          <p:cNvPr id="100060438" name="Shape 36"/>
          <p:cNvSpPr/>
          <p:nvPr/>
        </p:nvSpPr>
        <p:spPr bwMode="auto">
          <a:xfrm>
            <a:off x="6217920" y="822960"/>
            <a:ext cx="2834639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575461273" name="Shape 37"/>
          <p:cNvSpPr/>
          <p:nvPr/>
        </p:nvSpPr>
        <p:spPr bwMode="auto">
          <a:xfrm>
            <a:off x="6217920" y="822960"/>
            <a:ext cx="2834639" cy="502920"/>
          </a:xfrm>
          <a:prstGeom prst="rect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458279529" name="Shape 38"/>
          <p:cNvSpPr/>
          <p:nvPr/>
        </p:nvSpPr>
        <p:spPr bwMode="auto">
          <a:xfrm>
            <a:off x="7342632" y="1024128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  <a:prstDash val="solid"/>
          </a:ln>
        </p:spPr>
      </p:sp>
      <p:pic>
        <p:nvPicPr>
          <p:cNvPr id="750803473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7434072" y="1115568"/>
            <a:ext cx="402336" cy="402336"/>
          </a:xfrm>
          <a:prstGeom prst="rect">
            <a:avLst/>
          </a:prstGeom>
        </p:spPr>
      </p:pic>
      <p:sp>
        <p:nvSpPr>
          <p:cNvPr id="711390128" name="Text 39"/>
          <p:cNvSpPr/>
          <p:nvPr/>
        </p:nvSpPr>
        <p:spPr bwMode="auto">
          <a:xfrm>
            <a:off x="6217920" y="1691640"/>
            <a:ext cx="2834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9333EA"/>
                </a:solidFill>
                <a:latin typeface="Calibri"/>
                <a:ea typeface="Calibri"/>
                <a:cs typeface="Calibri"/>
              </a:rPr>
              <a:t>Admin</a:t>
            </a:r>
            <a:endParaRPr lang="en-US" sz="1400"/>
          </a:p>
        </p:txBody>
      </p:sp>
      <p:sp>
        <p:nvSpPr>
          <p:cNvPr id="1142907279" name="Text 40"/>
          <p:cNvSpPr/>
          <p:nvPr/>
        </p:nvSpPr>
        <p:spPr bwMode="auto">
          <a:xfrm>
            <a:off x="6355080" y="196636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Highest permission level. Full access including role management.</a:t>
            </a:r>
            <a:endParaRPr lang="en-US" sz="1000"/>
          </a:p>
        </p:txBody>
      </p:sp>
      <p:sp>
        <p:nvSpPr>
          <p:cNvPr id="1156647590" name="Shape 41"/>
          <p:cNvSpPr/>
          <p:nvPr/>
        </p:nvSpPr>
        <p:spPr bwMode="auto">
          <a:xfrm>
            <a:off x="6583680" y="2517070"/>
            <a:ext cx="21031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76127320" name="Shape 42"/>
          <p:cNvSpPr/>
          <p:nvPr/>
        </p:nvSpPr>
        <p:spPr bwMode="auto">
          <a:xfrm>
            <a:off x="6400800" y="2755648"/>
            <a:ext cx="91440" cy="9144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795334068" name="Text 43"/>
          <p:cNvSpPr/>
          <p:nvPr/>
        </p:nvSpPr>
        <p:spPr bwMode="auto">
          <a:xfrm>
            <a:off x="6547104" y="2650492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Role management</a:t>
            </a:r>
            <a:endParaRPr lang="en-US" sz="1000"/>
          </a:p>
        </p:txBody>
      </p:sp>
      <p:grpSp>
        <p:nvGrpSpPr>
          <p:cNvPr id="1709988320" name=""/>
          <p:cNvGrpSpPr/>
          <p:nvPr/>
        </p:nvGrpSpPr>
        <p:grpSpPr bwMode="auto">
          <a:xfrm>
            <a:off x="457198" y="2650492"/>
            <a:ext cx="2523744" cy="301752"/>
            <a:chOff x="0" y="0"/>
            <a:chExt cx="2523744" cy="301752"/>
          </a:xfrm>
        </p:grpSpPr>
        <p:sp>
          <p:nvSpPr>
            <p:cNvPr id="1582493543" name="Shape 8"/>
            <p:cNvSpPr/>
            <p:nvPr/>
          </p:nvSpPr>
          <p:spPr bwMode="auto">
            <a:xfrm>
              <a:off x="0" y="105154"/>
              <a:ext cx="91440" cy="91440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2033496982" name="Text 9"/>
            <p:cNvSpPr/>
            <p:nvPr/>
          </p:nvSpPr>
          <p:spPr bwMode="auto">
            <a:xfrm>
              <a:off x="146304" y="0"/>
              <a:ext cx="2377440" cy="3017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Task management</a:t>
              </a:r>
              <a:endParaRPr lang="en-US" sz="1000"/>
            </a:p>
          </p:txBody>
        </p:sp>
      </p:grpSp>
      <p:sp>
        <p:nvSpPr>
          <p:cNvPr id="1734330772" name="Shape 18"/>
          <p:cNvSpPr/>
          <p:nvPr/>
        </p:nvSpPr>
        <p:spPr bwMode="auto">
          <a:xfrm>
            <a:off x="457200" y="4566160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30735717" name="Text 19"/>
          <p:cNvSpPr/>
          <p:nvPr/>
        </p:nvSpPr>
        <p:spPr bwMode="auto">
          <a:xfrm>
            <a:off x="603504" y="4461004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Task assignment</a:t>
            </a:r>
            <a:endParaRPr lang="en-US" sz="1000"/>
          </a:p>
        </p:txBody>
      </p:sp>
      <p:sp>
        <p:nvSpPr>
          <p:cNvPr id="335177847" name="Text 29"/>
          <p:cNvSpPr/>
          <p:nvPr/>
        </p:nvSpPr>
        <p:spPr bwMode="auto">
          <a:xfrm>
            <a:off x="6547104" y="2952244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000" b="0" i="0" u="none" strike="noStrike" cap="none" spc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User management</a:t>
            </a:r>
            <a:endParaRPr sz="1000"/>
          </a:p>
        </p:txBody>
      </p:sp>
      <p:sp>
        <p:nvSpPr>
          <p:cNvPr id="312959200" name="Shape 28"/>
          <p:cNvSpPr/>
          <p:nvPr/>
        </p:nvSpPr>
        <p:spPr bwMode="auto">
          <a:xfrm>
            <a:off x="6400800" y="3057400"/>
            <a:ext cx="91440" cy="9144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2886709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25780562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Case – Project Member</a:t>
            </a:r>
            <a:endParaRPr lang="en-US" sz="2200"/>
          </a:p>
        </p:txBody>
      </p:sp>
      <p:sp>
        <p:nvSpPr>
          <p:cNvPr id="1877115757" name="Shape 4"/>
          <p:cNvSpPr/>
          <p:nvPr/>
        </p:nvSpPr>
        <p:spPr bwMode="auto">
          <a:xfrm flipH="0" flipV="0">
            <a:off x="201167" y="1112223"/>
            <a:ext cx="2194560" cy="338767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sx="100000" sy="100000" kx="0" ky="0" algn="bl" rotWithShape="0">
              <a:srgbClr val="000000">
                <a:alpha val="9000"/>
              </a:srgbClr>
            </a:outerShdw>
          </a:effectLst>
        </p:spPr>
      </p:sp>
      <p:sp>
        <p:nvSpPr>
          <p:cNvPr id="1497626838" name="Shape 5"/>
          <p:cNvSpPr/>
          <p:nvPr/>
        </p:nvSpPr>
        <p:spPr bwMode="auto">
          <a:xfrm>
            <a:off x="201167" y="1112223"/>
            <a:ext cx="2194560" cy="34747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979253294" name="Text 6"/>
          <p:cNvSpPr/>
          <p:nvPr/>
        </p:nvSpPr>
        <p:spPr bwMode="auto">
          <a:xfrm>
            <a:off x="320766" y="1112223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Task Management</a:t>
            </a:r>
            <a:endParaRPr lang="en-US" sz="1100"/>
          </a:p>
        </p:txBody>
      </p:sp>
      <p:grpSp>
        <p:nvGrpSpPr>
          <p:cNvPr id="569992540" name=""/>
          <p:cNvGrpSpPr/>
          <p:nvPr/>
        </p:nvGrpSpPr>
        <p:grpSpPr bwMode="auto">
          <a:xfrm>
            <a:off x="4198316" y="3953377"/>
            <a:ext cx="1051560" cy="896112"/>
            <a:chOff x="0" y="0"/>
            <a:chExt cx="1051560" cy="896112"/>
          </a:xfrm>
        </p:grpSpPr>
        <p:sp>
          <p:nvSpPr>
            <p:cNvPr id="333009385" name="Shape 2"/>
            <p:cNvSpPr/>
            <p:nvPr/>
          </p:nvSpPr>
          <p:spPr bwMode="auto">
            <a:xfrm>
              <a:off x="228600" y="0"/>
              <a:ext cx="594360" cy="594360"/>
            </a:xfrm>
            <a:prstGeom prst="ellipse">
              <a:avLst/>
            </a:prstGeom>
            <a:solidFill>
              <a:srgbClr val="EFF6FF"/>
            </a:solidFill>
            <a:ln w="25400">
              <a:solidFill>
                <a:srgbClr val="3B82F6"/>
              </a:solidFill>
              <a:prstDash val="solid"/>
            </a:ln>
          </p:spPr>
        </p:sp>
        <p:pic>
          <p:nvPicPr>
            <p:cNvPr id="1278296530" name="Image 0" descr="preencoded.png"/>
            <p:cNvPicPr>
              <a:picLocks noChangeAspect="1"/>
            </p:cNvPicPr>
            <p:nvPr/>
          </p:nvPicPr>
          <p:blipFill rotWithShape="1">
            <a:blip r:embed="rId3"/>
            <a:stretch/>
          </p:blipFill>
          <p:spPr bwMode="auto">
            <a:xfrm>
              <a:off x="320039" y="91439"/>
              <a:ext cx="411480" cy="411480"/>
            </a:xfrm>
            <a:prstGeom prst="rect">
              <a:avLst/>
            </a:prstGeom>
          </p:spPr>
        </p:pic>
        <p:sp>
          <p:nvSpPr>
            <p:cNvPr id="1950202597" name="Text 3"/>
            <p:cNvSpPr/>
            <p:nvPr/>
          </p:nvSpPr>
          <p:spPr bwMode="auto">
            <a:xfrm>
              <a:off x="0" y="621792"/>
              <a:ext cx="10515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900" b="1">
                  <a:solidFill>
                    <a:srgbClr val="3B82F6"/>
                  </a:solidFill>
                  <a:latin typeface="Calibri"/>
                  <a:ea typeface="Calibri"/>
                  <a:cs typeface="Calibri"/>
                </a:rPr>
                <a:t>Project Member</a:t>
              </a:r>
              <a:endParaRPr lang="en-US" sz="900"/>
            </a:p>
          </p:txBody>
        </p:sp>
      </p:grpSp>
      <p:grpSp>
        <p:nvGrpSpPr>
          <p:cNvPr id="915935425" name=""/>
          <p:cNvGrpSpPr/>
          <p:nvPr/>
        </p:nvGrpSpPr>
        <p:grpSpPr bwMode="auto">
          <a:xfrm>
            <a:off x="6712089" y="3855900"/>
            <a:ext cx="2194560" cy="1033272"/>
            <a:chOff x="0" y="0"/>
            <a:chExt cx="2194560" cy="1033272"/>
          </a:xfrm>
        </p:grpSpPr>
        <p:sp>
          <p:nvSpPr>
            <p:cNvPr id="1325356072" name="Shape 14"/>
            <p:cNvSpPr/>
            <p:nvPr/>
          </p:nvSpPr>
          <p:spPr bwMode="auto">
            <a:xfrm>
              <a:off x="0" y="0"/>
              <a:ext cx="2194560" cy="103327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68574776" name="Shape 15"/>
            <p:cNvSpPr/>
            <p:nvPr/>
          </p:nvSpPr>
          <p:spPr bwMode="auto">
            <a:xfrm>
              <a:off x="0" y="0"/>
              <a:ext cx="2194560" cy="347471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454796387" name="Text 16"/>
            <p:cNvSpPr/>
            <p:nvPr/>
          </p:nvSpPr>
          <p:spPr bwMode="auto">
            <a:xfrm>
              <a:off x="118469" y="0"/>
              <a:ext cx="1783080" cy="3474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Authentication</a:t>
              </a:r>
              <a:endParaRPr lang="en-US" sz="1100"/>
            </a:p>
          </p:txBody>
        </p:sp>
        <p:sp>
          <p:nvSpPr>
            <p:cNvPr id="598242526" name="Shape 17"/>
            <p:cNvSpPr/>
            <p:nvPr/>
          </p:nvSpPr>
          <p:spPr bwMode="auto">
            <a:xfrm>
              <a:off x="165857" y="498346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795696213" name="Text 18"/>
            <p:cNvSpPr/>
            <p:nvPr/>
          </p:nvSpPr>
          <p:spPr bwMode="auto">
            <a:xfrm>
              <a:off x="301752" y="40233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Login</a:t>
              </a:r>
              <a:endParaRPr lang="en-US" sz="1100"/>
            </a:p>
          </p:txBody>
        </p:sp>
        <p:sp>
          <p:nvSpPr>
            <p:cNvPr id="2095771585" name="Shape 19"/>
            <p:cNvSpPr/>
            <p:nvPr/>
          </p:nvSpPr>
          <p:spPr bwMode="auto">
            <a:xfrm>
              <a:off x="165857" y="77266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597641910" name="Text 20"/>
            <p:cNvSpPr/>
            <p:nvPr/>
          </p:nvSpPr>
          <p:spPr bwMode="auto">
            <a:xfrm>
              <a:off x="301752" y="67665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Sign Up</a:t>
              </a:r>
              <a:endParaRPr lang="en-US" sz="1100"/>
            </a:p>
          </p:txBody>
        </p:sp>
      </p:grpSp>
      <p:grpSp>
        <p:nvGrpSpPr>
          <p:cNvPr id="1144397625" name=""/>
          <p:cNvGrpSpPr/>
          <p:nvPr/>
        </p:nvGrpSpPr>
        <p:grpSpPr bwMode="auto">
          <a:xfrm>
            <a:off x="6711695" y="2715718"/>
            <a:ext cx="2194560" cy="845818"/>
            <a:chOff x="0" y="0"/>
            <a:chExt cx="2194560" cy="845818"/>
          </a:xfrm>
        </p:grpSpPr>
        <p:sp>
          <p:nvSpPr>
            <p:cNvPr id="119642444" name="Shape 14"/>
            <p:cNvSpPr/>
            <p:nvPr/>
          </p:nvSpPr>
          <p:spPr bwMode="auto">
            <a:xfrm flipH="0" flipV="0">
              <a:off x="0" y="0"/>
              <a:ext cx="2194560" cy="84581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626173900" name="Shape 15"/>
            <p:cNvSpPr/>
            <p:nvPr/>
          </p:nvSpPr>
          <p:spPr bwMode="auto">
            <a:xfrm>
              <a:off x="0" y="0"/>
              <a:ext cx="2194560" cy="347471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288732234" name="Text 16"/>
            <p:cNvSpPr/>
            <p:nvPr/>
          </p:nvSpPr>
          <p:spPr bwMode="auto">
            <a:xfrm>
              <a:off x="118469" y="0"/>
              <a:ext cx="1783080" cy="3474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Dashboard</a:t>
              </a:r>
              <a:endParaRPr lang="en-US" sz="1100"/>
            </a:p>
          </p:txBody>
        </p:sp>
        <p:sp>
          <p:nvSpPr>
            <p:cNvPr id="564849534" name="Shape 17"/>
            <p:cNvSpPr/>
            <p:nvPr/>
          </p:nvSpPr>
          <p:spPr bwMode="auto">
            <a:xfrm>
              <a:off x="165857" y="498346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831079656" name="Text 18"/>
            <p:cNvSpPr/>
            <p:nvPr/>
          </p:nvSpPr>
          <p:spPr bwMode="auto">
            <a:xfrm>
              <a:off x="301752" y="40233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Open dashboard</a:t>
              </a:r>
              <a:endParaRPr lang="en-US" sz="1100"/>
            </a:p>
          </p:txBody>
        </p:sp>
      </p:grpSp>
      <p:grpSp>
        <p:nvGrpSpPr>
          <p:cNvPr id="85849588" name=""/>
          <p:cNvGrpSpPr/>
          <p:nvPr/>
        </p:nvGrpSpPr>
        <p:grpSpPr bwMode="auto">
          <a:xfrm>
            <a:off x="6713940" y="1031467"/>
            <a:ext cx="2194560" cy="1389887"/>
            <a:chOff x="0" y="0"/>
            <a:chExt cx="2194560" cy="1389887"/>
          </a:xfrm>
        </p:grpSpPr>
        <p:sp>
          <p:nvSpPr>
            <p:cNvPr id="1291783675" name="Shape 18"/>
            <p:cNvSpPr/>
            <p:nvPr/>
          </p:nvSpPr>
          <p:spPr bwMode="auto">
            <a:xfrm>
              <a:off x="0" y="0"/>
              <a:ext cx="2194560" cy="138988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280942065" name="Shape 19"/>
            <p:cNvSpPr/>
            <p:nvPr/>
          </p:nvSpPr>
          <p:spPr bwMode="auto">
            <a:xfrm>
              <a:off x="0" y="0"/>
              <a:ext cx="2194560" cy="347472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418197628" name="Text 20"/>
            <p:cNvSpPr/>
            <p:nvPr/>
          </p:nvSpPr>
          <p:spPr bwMode="auto">
            <a:xfrm>
              <a:off x="118469" y="0"/>
              <a:ext cx="1783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Comments</a:t>
              </a:r>
              <a:endParaRPr lang="en-US" sz="1100"/>
            </a:p>
          </p:txBody>
        </p:sp>
        <p:sp>
          <p:nvSpPr>
            <p:cNvPr id="850082460" name="Shape 21"/>
            <p:cNvSpPr/>
            <p:nvPr/>
          </p:nvSpPr>
          <p:spPr bwMode="auto">
            <a:xfrm>
              <a:off x="164592" y="49834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656508617" name="Text 22"/>
            <p:cNvSpPr/>
            <p:nvPr/>
          </p:nvSpPr>
          <p:spPr bwMode="auto">
            <a:xfrm>
              <a:off x="301752" y="402335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</a:t>
              </a:r>
              <a:endParaRPr lang="en-US" sz="1100"/>
            </a:p>
          </p:txBody>
        </p:sp>
        <p:sp>
          <p:nvSpPr>
            <p:cNvPr id="1403370260" name="Shape 23"/>
            <p:cNvSpPr/>
            <p:nvPr/>
          </p:nvSpPr>
          <p:spPr bwMode="auto">
            <a:xfrm>
              <a:off x="164592" y="77266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236570075" name="Text 24"/>
            <p:cNvSpPr/>
            <p:nvPr/>
          </p:nvSpPr>
          <p:spPr bwMode="auto">
            <a:xfrm>
              <a:off x="301752" y="676655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Edit</a:t>
              </a:r>
              <a:endParaRPr lang="en-US" sz="1100"/>
            </a:p>
          </p:txBody>
        </p:sp>
        <p:sp>
          <p:nvSpPr>
            <p:cNvPr id="1093327027" name="Shape 25"/>
            <p:cNvSpPr/>
            <p:nvPr/>
          </p:nvSpPr>
          <p:spPr bwMode="auto">
            <a:xfrm>
              <a:off x="164592" y="104698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361639373" name="Text 26"/>
            <p:cNvSpPr/>
            <p:nvPr/>
          </p:nvSpPr>
          <p:spPr bwMode="auto">
            <a:xfrm>
              <a:off x="301752" y="95097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Delete</a:t>
              </a:r>
              <a:endParaRPr lang="en-US" sz="1100"/>
            </a:p>
          </p:txBody>
        </p:sp>
      </p:grpSp>
      <p:grpSp>
        <p:nvGrpSpPr>
          <p:cNvPr id="1593158382" name=""/>
          <p:cNvGrpSpPr/>
          <p:nvPr/>
        </p:nvGrpSpPr>
        <p:grpSpPr bwMode="auto">
          <a:xfrm>
            <a:off x="3474720" y="1032224"/>
            <a:ext cx="2194560" cy="1389887"/>
            <a:chOff x="0" y="0"/>
            <a:chExt cx="2194560" cy="1389887"/>
          </a:xfrm>
        </p:grpSpPr>
        <p:sp>
          <p:nvSpPr>
            <p:cNvPr id="387107994" name="Shape 18"/>
            <p:cNvSpPr/>
            <p:nvPr/>
          </p:nvSpPr>
          <p:spPr bwMode="auto">
            <a:xfrm>
              <a:off x="0" y="0"/>
              <a:ext cx="2194560" cy="1389887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30993653" name="Shape 19"/>
            <p:cNvSpPr/>
            <p:nvPr/>
          </p:nvSpPr>
          <p:spPr bwMode="auto">
            <a:xfrm>
              <a:off x="0" y="0"/>
              <a:ext cx="2194560" cy="347471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373092046" name="Text 20"/>
            <p:cNvSpPr/>
            <p:nvPr/>
          </p:nvSpPr>
          <p:spPr bwMode="auto">
            <a:xfrm>
              <a:off x="118469" y="0"/>
              <a:ext cx="1783080" cy="3474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Epics</a:t>
              </a:r>
              <a:endParaRPr lang="en-US" sz="1100"/>
            </a:p>
          </p:txBody>
        </p:sp>
        <p:sp>
          <p:nvSpPr>
            <p:cNvPr id="1714006904" name="Shape 21"/>
            <p:cNvSpPr/>
            <p:nvPr/>
          </p:nvSpPr>
          <p:spPr bwMode="auto">
            <a:xfrm>
              <a:off x="164592" y="49834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2135987731" name="Text 22"/>
            <p:cNvSpPr/>
            <p:nvPr/>
          </p:nvSpPr>
          <p:spPr bwMode="auto">
            <a:xfrm>
              <a:off x="301752" y="40233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</a:t>
              </a:r>
              <a:endParaRPr lang="en-US" sz="1100"/>
            </a:p>
          </p:txBody>
        </p:sp>
        <p:sp>
          <p:nvSpPr>
            <p:cNvPr id="1454558902" name="Shape 23"/>
            <p:cNvSpPr/>
            <p:nvPr/>
          </p:nvSpPr>
          <p:spPr bwMode="auto">
            <a:xfrm>
              <a:off x="164592" y="77266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166237871" name="Text 24"/>
            <p:cNvSpPr/>
            <p:nvPr/>
          </p:nvSpPr>
          <p:spPr bwMode="auto">
            <a:xfrm>
              <a:off x="301752" y="67665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Edit</a:t>
              </a:r>
              <a:endParaRPr lang="en-US" sz="1100"/>
            </a:p>
          </p:txBody>
        </p:sp>
        <p:sp>
          <p:nvSpPr>
            <p:cNvPr id="1347959490" name="Shape 25"/>
            <p:cNvSpPr/>
            <p:nvPr/>
          </p:nvSpPr>
          <p:spPr bwMode="auto">
            <a:xfrm>
              <a:off x="164592" y="104698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63994561" name="Text 26"/>
            <p:cNvSpPr/>
            <p:nvPr/>
          </p:nvSpPr>
          <p:spPr bwMode="auto">
            <a:xfrm>
              <a:off x="301752" y="95097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Delete</a:t>
              </a:r>
              <a:endParaRPr lang="en-US" sz="1100"/>
            </a:p>
          </p:txBody>
        </p:sp>
      </p:grpSp>
      <p:sp>
        <p:nvSpPr>
          <p:cNvPr id="889094402" name="Text 16"/>
          <p:cNvSpPr/>
          <p:nvPr/>
        </p:nvSpPr>
        <p:spPr bwMode="auto">
          <a:xfrm>
            <a:off x="502920" y="3792007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endParaRPr lang="en-US" sz="1100"/>
          </a:p>
        </p:txBody>
      </p:sp>
      <p:grpSp>
        <p:nvGrpSpPr>
          <p:cNvPr id="758510439" name=""/>
          <p:cNvGrpSpPr/>
          <p:nvPr/>
        </p:nvGrpSpPr>
        <p:grpSpPr bwMode="auto">
          <a:xfrm>
            <a:off x="365759" y="1514559"/>
            <a:ext cx="1965960" cy="274319"/>
            <a:chOff x="0" y="0"/>
            <a:chExt cx="1965960" cy="274319"/>
          </a:xfrm>
        </p:grpSpPr>
        <p:sp>
          <p:nvSpPr>
            <p:cNvPr id="1930660542" name="Shape 7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2147081096" name="Text 8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</a:t>
              </a:r>
              <a:endParaRPr lang="en-US" sz="1100"/>
            </a:p>
          </p:txBody>
        </p:sp>
      </p:grpSp>
      <p:grpSp>
        <p:nvGrpSpPr>
          <p:cNvPr id="1384872140" name=""/>
          <p:cNvGrpSpPr/>
          <p:nvPr/>
        </p:nvGrpSpPr>
        <p:grpSpPr bwMode="auto">
          <a:xfrm>
            <a:off x="366453" y="1802648"/>
            <a:ext cx="1965960" cy="274319"/>
            <a:chOff x="0" y="0"/>
            <a:chExt cx="1965960" cy="274319"/>
          </a:xfrm>
        </p:grpSpPr>
        <p:sp>
          <p:nvSpPr>
            <p:cNvPr id="549664658" name="Shape 9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800017141" name="Text 10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Edit</a:t>
              </a:r>
              <a:endParaRPr lang="en-US" sz="1100"/>
            </a:p>
          </p:txBody>
        </p:sp>
      </p:grpSp>
      <p:grpSp>
        <p:nvGrpSpPr>
          <p:cNvPr id="1479224478" name=""/>
          <p:cNvGrpSpPr/>
          <p:nvPr/>
        </p:nvGrpSpPr>
        <p:grpSpPr bwMode="auto">
          <a:xfrm>
            <a:off x="367146" y="2090736"/>
            <a:ext cx="1965960" cy="274320"/>
            <a:chOff x="0" y="0"/>
            <a:chExt cx="1965960" cy="274320"/>
          </a:xfrm>
        </p:grpSpPr>
        <p:sp>
          <p:nvSpPr>
            <p:cNvPr id="1510410736" name="Shape 11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851490425" name="Text 12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Delete</a:t>
              </a:r>
              <a:endParaRPr lang="en-US" sz="1100"/>
            </a:p>
          </p:txBody>
        </p:sp>
      </p:grpSp>
      <p:grpSp>
        <p:nvGrpSpPr>
          <p:cNvPr id="1404701487" name=""/>
          <p:cNvGrpSpPr/>
          <p:nvPr/>
        </p:nvGrpSpPr>
        <p:grpSpPr bwMode="auto">
          <a:xfrm>
            <a:off x="367839" y="2378826"/>
            <a:ext cx="1965960" cy="274320"/>
            <a:chOff x="0" y="0"/>
            <a:chExt cx="1965960" cy="274320"/>
          </a:xfrm>
        </p:grpSpPr>
        <p:sp>
          <p:nvSpPr>
            <p:cNvPr id="530412973" name="Shape 13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432197281" name="Text 14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Change status</a:t>
              </a:r>
              <a:endParaRPr lang="en-US" sz="1100"/>
            </a:p>
          </p:txBody>
        </p:sp>
      </p:grpSp>
      <p:grpSp>
        <p:nvGrpSpPr>
          <p:cNvPr id="1869321367" name=""/>
          <p:cNvGrpSpPr/>
          <p:nvPr/>
        </p:nvGrpSpPr>
        <p:grpSpPr bwMode="auto">
          <a:xfrm>
            <a:off x="368533" y="2666915"/>
            <a:ext cx="1965960" cy="274320"/>
            <a:chOff x="0" y="0"/>
            <a:chExt cx="1965960" cy="274320"/>
          </a:xfrm>
        </p:grpSpPr>
        <p:sp>
          <p:nvSpPr>
            <p:cNvPr id="468185029" name="Shape 15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004951449" name="Text 16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Change priority</a:t>
              </a:r>
              <a:endParaRPr lang="en-US" sz="1100"/>
            </a:p>
          </p:txBody>
        </p:sp>
      </p:grpSp>
      <p:grpSp>
        <p:nvGrpSpPr>
          <p:cNvPr id="444435900" name=""/>
          <p:cNvGrpSpPr/>
          <p:nvPr/>
        </p:nvGrpSpPr>
        <p:grpSpPr bwMode="auto">
          <a:xfrm>
            <a:off x="369226" y="2955004"/>
            <a:ext cx="1965960" cy="274320"/>
            <a:chOff x="0" y="0"/>
            <a:chExt cx="1965960" cy="274320"/>
          </a:xfrm>
        </p:grpSpPr>
        <p:sp>
          <p:nvSpPr>
            <p:cNvPr id="1273286600" name="Shape 15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445505804" name="Text 16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Assign project member</a:t>
              </a:r>
              <a:endParaRPr lang="en-US" sz="1100"/>
            </a:p>
          </p:txBody>
        </p:sp>
      </p:grpSp>
      <p:grpSp>
        <p:nvGrpSpPr>
          <p:cNvPr id="1574865308" name=""/>
          <p:cNvGrpSpPr/>
          <p:nvPr/>
        </p:nvGrpSpPr>
        <p:grpSpPr bwMode="auto">
          <a:xfrm>
            <a:off x="369919" y="3243093"/>
            <a:ext cx="1965960" cy="274320"/>
            <a:chOff x="0" y="0"/>
            <a:chExt cx="1965960" cy="274320"/>
          </a:xfrm>
        </p:grpSpPr>
        <p:sp>
          <p:nvSpPr>
            <p:cNvPr id="1682840374" name="Shape 15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2121127150" name="Text 16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Assign epic</a:t>
              </a:r>
              <a:endParaRPr lang="en-US" sz="1100"/>
            </a:p>
          </p:txBody>
        </p:sp>
      </p:grpSp>
      <p:grpSp>
        <p:nvGrpSpPr>
          <p:cNvPr id="651494589" name=""/>
          <p:cNvGrpSpPr/>
          <p:nvPr/>
        </p:nvGrpSpPr>
        <p:grpSpPr bwMode="auto">
          <a:xfrm>
            <a:off x="370613" y="3531182"/>
            <a:ext cx="1965960" cy="274320"/>
            <a:chOff x="0" y="0"/>
            <a:chExt cx="1965960" cy="274320"/>
          </a:xfrm>
        </p:grpSpPr>
        <p:sp>
          <p:nvSpPr>
            <p:cNvPr id="1302567565" name="Text 16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Manage comments</a:t>
              </a:r>
              <a:endParaRPr lang="en-US" sz="1100"/>
            </a:p>
          </p:txBody>
        </p:sp>
        <p:sp>
          <p:nvSpPr>
            <p:cNvPr id="2072570595" name="Shape 15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</p:grpSp>
      <p:grpSp>
        <p:nvGrpSpPr>
          <p:cNvPr id="2007303275" name=""/>
          <p:cNvGrpSpPr/>
          <p:nvPr/>
        </p:nvGrpSpPr>
        <p:grpSpPr bwMode="auto">
          <a:xfrm>
            <a:off x="371306" y="3819271"/>
            <a:ext cx="1965960" cy="274320"/>
            <a:chOff x="0" y="0"/>
            <a:chExt cx="1965960" cy="274320"/>
          </a:xfrm>
        </p:grpSpPr>
        <p:sp>
          <p:nvSpPr>
            <p:cNvPr id="1214984347" name="Text 16"/>
            <p:cNvSpPr/>
            <p:nvPr/>
          </p:nvSpPr>
          <p:spPr bwMode="auto">
            <a:xfrm>
              <a:off x="137159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Search tasks</a:t>
              </a:r>
              <a:endParaRPr lang="en-US" sz="1100"/>
            </a:p>
          </p:txBody>
        </p:sp>
        <p:sp>
          <p:nvSpPr>
            <p:cNvPr id="662735520" name="Shape 15"/>
            <p:cNvSpPr/>
            <p:nvPr/>
          </p:nvSpPr>
          <p:spPr bwMode="auto">
            <a:xfrm>
              <a:off x="0" y="96011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</p:grpSp>
      <p:grpSp>
        <p:nvGrpSpPr>
          <p:cNvPr id="1596930929" name=""/>
          <p:cNvGrpSpPr/>
          <p:nvPr/>
        </p:nvGrpSpPr>
        <p:grpSpPr bwMode="auto">
          <a:xfrm>
            <a:off x="371999" y="4107360"/>
            <a:ext cx="1965960" cy="274319"/>
            <a:chOff x="0" y="0"/>
            <a:chExt cx="1965960" cy="274319"/>
          </a:xfrm>
        </p:grpSpPr>
        <p:sp>
          <p:nvSpPr>
            <p:cNvPr id="1875110692" name="Text 16"/>
            <p:cNvSpPr/>
            <p:nvPr/>
          </p:nvSpPr>
          <p:spPr bwMode="auto">
            <a:xfrm>
              <a:off x="137159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Filter tasks</a:t>
              </a:r>
              <a:endParaRPr lang="en-US" sz="1100"/>
            </a:p>
          </p:txBody>
        </p:sp>
        <p:sp>
          <p:nvSpPr>
            <p:cNvPr id="2041602587" name="Shape 15"/>
            <p:cNvSpPr/>
            <p:nvPr/>
          </p:nvSpPr>
          <p:spPr bwMode="auto">
            <a:xfrm>
              <a:off x="0" y="96011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</p:grpSp>
      <p:sp>
        <p:nvSpPr>
          <p:cNvPr id="2069487272" name="Shape 29"/>
          <p:cNvSpPr/>
          <p:nvPr/>
        </p:nvSpPr>
        <p:spPr bwMode="auto">
          <a:xfrm flipH="0" flipV="0">
            <a:off x="5057276" y="4285668"/>
            <a:ext cx="1654419" cy="150874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sp>
        <p:nvSpPr>
          <p:cNvPr id="244081076" name="Shape 29"/>
          <p:cNvSpPr/>
          <p:nvPr/>
        </p:nvSpPr>
        <p:spPr bwMode="auto">
          <a:xfrm flipH="0" flipV="1">
            <a:off x="4915111" y="1804891"/>
            <a:ext cx="1796977" cy="2124274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sp>
        <p:nvSpPr>
          <p:cNvPr id="1032347988" name="Shape 29"/>
          <p:cNvSpPr/>
          <p:nvPr/>
        </p:nvSpPr>
        <p:spPr bwMode="auto">
          <a:xfrm flipH="0" flipV="0">
            <a:off x="2395728" y="2879168"/>
            <a:ext cx="2036025" cy="1150468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sp>
        <p:nvSpPr>
          <p:cNvPr id="1623794016" name="Shape 29"/>
          <p:cNvSpPr/>
          <p:nvPr/>
        </p:nvSpPr>
        <p:spPr bwMode="auto">
          <a:xfrm flipH="1" flipV="0">
            <a:off x="5057276" y="3139006"/>
            <a:ext cx="1654813" cy="890629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sp>
        <p:nvSpPr>
          <p:cNvPr id="770799788" name="Shape 29"/>
          <p:cNvSpPr/>
          <p:nvPr/>
        </p:nvSpPr>
        <p:spPr bwMode="auto">
          <a:xfrm flipH="0" flipV="0">
            <a:off x="4722875" y="2422112"/>
            <a:ext cx="0" cy="1433787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sp>
        <p:nvSpPr>
          <p:cNvPr id="281415860" name="Shape 29"/>
          <p:cNvSpPr/>
          <p:nvPr/>
        </p:nvSpPr>
        <p:spPr bwMode="auto">
          <a:xfrm flipH="0" flipV="1">
            <a:off x="2395728" y="1846040"/>
            <a:ext cx="1088264" cy="0"/>
          </a:xfrm>
          <a:prstGeom prst="line">
            <a:avLst/>
          </a:prstGeom>
          <a:noFill/>
          <a:ln w="15240">
            <a:solidFill>
              <a:srgbClr val="7F7F7F"/>
            </a:solidFill>
            <a:prstDash val="dash"/>
          </a:ln>
        </p:spPr>
      </p:sp>
      <p:sp>
        <p:nvSpPr>
          <p:cNvPr id="195820026" name="Shape 29"/>
          <p:cNvSpPr/>
          <p:nvPr/>
        </p:nvSpPr>
        <p:spPr bwMode="auto">
          <a:xfrm flipH="0" flipV="1">
            <a:off x="1212306" y="893469"/>
            <a:ext cx="6783028" cy="62819"/>
          </a:xfrm>
          <a:prstGeom prst="line">
            <a:avLst/>
          </a:prstGeom>
          <a:noFill/>
          <a:ln w="15240">
            <a:solidFill>
              <a:srgbClr val="7F7F7F"/>
            </a:solidFill>
            <a:prstDash val="dash"/>
          </a:ln>
        </p:spPr>
      </p:sp>
      <p:sp>
        <p:nvSpPr>
          <p:cNvPr id="1280921635" name="Shape 29"/>
          <p:cNvSpPr/>
          <p:nvPr/>
        </p:nvSpPr>
        <p:spPr bwMode="auto">
          <a:xfrm flipH="0" flipV="1">
            <a:off x="7995335" y="893469"/>
            <a:ext cx="0" cy="138754"/>
          </a:xfrm>
          <a:prstGeom prst="line">
            <a:avLst/>
          </a:prstGeom>
          <a:noFill/>
          <a:ln w="15240">
            <a:solidFill>
              <a:srgbClr val="7F7F7F"/>
            </a:solidFill>
            <a:prstDash val="dash"/>
          </a:ln>
        </p:spPr>
      </p:sp>
      <p:sp>
        <p:nvSpPr>
          <p:cNvPr id="1841530576" name="Shape 29"/>
          <p:cNvSpPr/>
          <p:nvPr/>
        </p:nvSpPr>
        <p:spPr bwMode="auto">
          <a:xfrm flipH="1" flipV="1">
            <a:off x="1212306" y="956289"/>
            <a:ext cx="0" cy="152398"/>
          </a:xfrm>
          <a:prstGeom prst="line">
            <a:avLst/>
          </a:prstGeom>
          <a:noFill/>
          <a:ln w="15240">
            <a:solidFill>
              <a:srgbClr val="7F7F7F"/>
            </a:solidFill>
            <a:prstDash val="dash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744256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982528409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Case – Project Manager</a:t>
            </a:r>
            <a:endParaRPr lang="en-US" sz="2200"/>
          </a:p>
        </p:txBody>
      </p:sp>
      <p:sp>
        <p:nvSpPr>
          <p:cNvPr id="541583665" name="Shape 2"/>
          <p:cNvSpPr/>
          <p:nvPr/>
        </p:nvSpPr>
        <p:spPr bwMode="auto">
          <a:xfrm>
            <a:off x="274320" y="749808"/>
            <a:ext cx="8595360" cy="246888"/>
          </a:xfrm>
          <a:prstGeom prst="rect">
            <a:avLst/>
          </a:prstGeom>
          <a:solidFill>
            <a:srgbClr val="FFF7ED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854303786" name="Text 3"/>
          <p:cNvSpPr/>
          <p:nvPr/>
        </p:nvSpPr>
        <p:spPr bwMode="auto">
          <a:xfrm>
            <a:off x="411480" y="749808"/>
            <a:ext cx="8412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1">
                <a:solidFill>
                  <a:srgbClr val="F97316"/>
                </a:solidFill>
                <a:latin typeface="Calibri"/>
                <a:ea typeface="Calibri"/>
                <a:cs typeface="Calibri"/>
              </a:rPr>
              <a:t>⬆  Includes all Project Member use cases</a:t>
            </a:r>
            <a:endParaRPr lang="en-US" sz="1000"/>
          </a:p>
        </p:txBody>
      </p:sp>
      <p:sp>
        <p:nvSpPr>
          <p:cNvPr id="418006842" name="Shape 29"/>
          <p:cNvSpPr/>
          <p:nvPr/>
        </p:nvSpPr>
        <p:spPr bwMode="auto">
          <a:xfrm flipH="0" flipV="1">
            <a:off x="4867723" y="2699034"/>
            <a:ext cx="2313068" cy="1066151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grpSp>
        <p:nvGrpSpPr>
          <p:cNvPr id="2024097410" name=""/>
          <p:cNvGrpSpPr/>
          <p:nvPr/>
        </p:nvGrpSpPr>
        <p:grpSpPr bwMode="auto">
          <a:xfrm>
            <a:off x="4091940" y="3573768"/>
            <a:ext cx="960120" cy="896111"/>
            <a:chOff x="0" y="0"/>
            <a:chExt cx="960120" cy="896111"/>
          </a:xfrm>
        </p:grpSpPr>
        <p:sp>
          <p:nvSpPr>
            <p:cNvPr id="1338645073" name="Shape 4"/>
            <p:cNvSpPr/>
            <p:nvPr/>
          </p:nvSpPr>
          <p:spPr bwMode="auto">
            <a:xfrm>
              <a:off x="182880" y="0"/>
              <a:ext cx="594360" cy="594360"/>
            </a:xfrm>
            <a:prstGeom prst="ellipse">
              <a:avLst/>
            </a:prstGeom>
            <a:solidFill>
              <a:srgbClr val="FFF7ED"/>
            </a:solidFill>
            <a:ln w="25400">
              <a:solidFill>
                <a:srgbClr val="F97316"/>
              </a:solidFill>
              <a:prstDash val="solid"/>
            </a:ln>
          </p:spPr>
        </p:sp>
        <p:pic>
          <p:nvPicPr>
            <p:cNvPr id="889206525" name="Image 0" descr="preencoded.png"/>
            <p:cNvPicPr>
              <a:picLocks noChangeAspect="1"/>
            </p:cNvPicPr>
            <p:nvPr/>
          </p:nvPicPr>
          <p:blipFill rotWithShape="1">
            <a:blip r:embed="rId3"/>
            <a:stretch/>
          </p:blipFill>
          <p:spPr bwMode="auto">
            <a:xfrm>
              <a:off x="274320" y="91439"/>
              <a:ext cx="411480" cy="411480"/>
            </a:xfrm>
            <a:prstGeom prst="rect">
              <a:avLst/>
            </a:prstGeom>
          </p:spPr>
        </p:pic>
        <p:sp>
          <p:nvSpPr>
            <p:cNvPr id="372029419" name="Text 5"/>
            <p:cNvSpPr/>
            <p:nvPr/>
          </p:nvSpPr>
          <p:spPr bwMode="auto">
            <a:xfrm>
              <a:off x="0" y="621791"/>
              <a:ext cx="9601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900" b="1">
                  <a:solidFill>
                    <a:srgbClr val="F97316"/>
                  </a:solidFill>
                  <a:latin typeface="Calibri"/>
                  <a:ea typeface="Calibri"/>
                  <a:cs typeface="Calibri"/>
                </a:rPr>
                <a:t>Project Manager</a:t>
              </a:r>
              <a:endParaRPr lang="en-US" sz="900"/>
            </a:p>
          </p:txBody>
        </p:sp>
      </p:grpSp>
      <p:grpSp>
        <p:nvGrpSpPr>
          <p:cNvPr id="356422063" name=""/>
          <p:cNvGrpSpPr/>
          <p:nvPr/>
        </p:nvGrpSpPr>
        <p:grpSpPr bwMode="auto">
          <a:xfrm>
            <a:off x="6005583" y="1653388"/>
            <a:ext cx="2194559" cy="1033272"/>
            <a:chOff x="0" y="0"/>
            <a:chExt cx="2194559" cy="1033272"/>
          </a:xfrm>
        </p:grpSpPr>
        <p:sp>
          <p:nvSpPr>
            <p:cNvPr id="1125833184" name="Shape 14"/>
            <p:cNvSpPr/>
            <p:nvPr/>
          </p:nvSpPr>
          <p:spPr bwMode="auto">
            <a:xfrm>
              <a:off x="0" y="0"/>
              <a:ext cx="2194560" cy="103327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862933267" name="Shape 15"/>
            <p:cNvSpPr/>
            <p:nvPr/>
          </p:nvSpPr>
          <p:spPr bwMode="auto">
            <a:xfrm>
              <a:off x="0" y="0"/>
              <a:ext cx="2194560" cy="347472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080850083" name="Text 16"/>
            <p:cNvSpPr/>
            <p:nvPr/>
          </p:nvSpPr>
          <p:spPr bwMode="auto">
            <a:xfrm>
              <a:off x="118469" y="0"/>
              <a:ext cx="1783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Project </a:t>
              </a:r>
              <a:r>
                <a:rPr lang="en-US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Members</a:t>
              </a:r>
              <a:endParaRPr lang="en-US" sz="1100"/>
            </a:p>
          </p:txBody>
        </p:sp>
        <p:sp>
          <p:nvSpPr>
            <p:cNvPr id="1034649681" name="Shape 17"/>
            <p:cNvSpPr/>
            <p:nvPr/>
          </p:nvSpPr>
          <p:spPr bwMode="auto">
            <a:xfrm>
              <a:off x="165858" y="498347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730646817" name="Text 18"/>
            <p:cNvSpPr/>
            <p:nvPr/>
          </p:nvSpPr>
          <p:spPr bwMode="auto">
            <a:xfrm>
              <a:off x="301752" y="402335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Assign member</a:t>
              </a:r>
              <a:endParaRPr lang="en-US" sz="1100"/>
            </a:p>
          </p:txBody>
        </p:sp>
        <p:sp>
          <p:nvSpPr>
            <p:cNvPr id="1812917473" name="Shape 19"/>
            <p:cNvSpPr/>
            <p:nvPr/>
          </p:nvSpPr>
          <p:spPr bwMode="auto">
            <a:xfrm>
              <a:off x="165858" y="77266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71075944" name="Text 20"/>
            <p:cNvSpPr/>
            <p:nvPr/>
          </p:nvSpPr>
          <p:spPr bwMode="auto">
            <a:xfrm>
              <a:off x="301752" y="67665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Remove member</a:t>
              </a:r>
              <a:endParaRPr lang="en-US" sz="1100"/>
            </a:p>
          </p:txBody>
        </p:sp>
      </p:grpSp>
      <p:sp>
        <p:nvSpPr>
          <p:cNvPr id="950424189" name="Shape 29"/>
          <p:cNvSpPr/>
          <p:nvPr/>
        </p:nvSpPr>
        <p:spPr bwMode="auto">
          <a:xfrm flipH="0" flipV="0">
            <a:off x="1868059" y="2699034"/>
            <a:ext cx="2416790" cy="1066151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grpSp>
        <p:nvGrpSpPr>
          <p:cNvPr id="49841512" name=""/>
          <p:cNvGrpSpPr/>
          <p:nvPr/>
        </p:nvGrpSpPr>
        <p:grpSpPr bwMode="auto">
          <a:xfrm>
            <a:off x="838920" y="1648649"/>
            <a:ext cx="2199298" cy="1033272"/>
            <a:chOff x="0" y="0"/>
            <a:chExt cx="2199298" cy="1033272"/>
          </a:xfrm>
        </p:grpSpPr>
        <p:sp>
          <p:nvSpPr>
            <p:cNvPr id="1261029091" name="Shape 6"/>
            <p:cNvSpPr/>
            <p:nvPr/>
          </p:nvSpPr>
          <p:spPr bwMode="auto">
            <a:xfrm>
              <a:off x="0" y="0"/>
              <a:ext cx="2194560" cy="103327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765204893" name="Shape 7"/>
            <p:cNvSpPr/>
            <p:nvPr/>
          </p:nvSpPr>
          <p:spPr bwMode="auto">
            <a:xfrm>
              <a:off x="4738" y="0"/>
              <a:ext cx="2194560" cy="347472"/>
            </a:xfrm>
            <a:prstGeom prst="rect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83158466" name="Text 8"/>
            <p:cNvSpPr/>
            <p:nvPr/>
          </p:nvSpPr>
          <p:spPr bwMode="auto">
            <a:xfrm>
              <a:off x="123208" y="0"/>
              <a:ext cx="1783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Projects</a:t>
              </a:r>
              <a:endParaRPr lang="en-US" sz="1100"/>
            </a:p>
          </p:txBody>
        </p:sp>
        <p:sp>
          <p:nvSpPr>
            <p:cNvPr id="454399619" name="Shape 9"/>
            <p:cNvSpPr/>
            <p:nvPr/>
          </p:nvSpPr>
          <p:spPr bwMode="auto">
            <a:xfrm>
              <a:off x="170596" y="498347"/>
              <a:ext cx="82296" cy="8229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606694358" name="Text 10"/>
            <p:cNvSpPr/>
            <p:nvPr/>
          </p:nvSpPr>
          <p:spPr bwMode="auto">
            <a:xfrm>
              <a:off x="306490" y="402335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 project</a:t>
              </a:r>
              <a:endParaRPr lang="en-US" sz="1100"/>
            </a:p>
          </p:txBody>
        </p:sp>
        <p:sp>
          <p:nvSpPr>
            <p:cNvPr id="1628612922" name="Shape 11"/>
            <p:cNvSpPr/>
            <p:nvPr/>
          </p:nvSpPr>
          <p:spPr bwMode="auto">
            <a:xfrm>
              <a:off x="169330" y="772668"/>
              <a:ext cx="82296" cy="8229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32523337" name="Text 12"/>
            <p:cNvSpPr/>
            <p:nvPr/>
          </p:nvSpPr>
          <p:spPr bwMode="auto">
            <a:xfrm>
              <a:off x="306490" y="67665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Delete project</a:t>
              </a:r>
              <a:endParaRPr lang="en-US" sz="1100"/>
            </a:p>
          </p:txBody>
        </p:sp>
      </p:grpSp>
      <p:sp>
        <p:nvSpPr>
          <p:cNvPr id="828176004" name="Shape 29"/>
          <p:cNvSpPr/>
          <p:nvPr/>
        </p:nvSpPr>
        <p:spPr bwMode="auto">
          <a:xfrm flipH="0" flipV="0">
            <a:off x="3029067" y="2238930"/>
            <a:ext cx="2942798" cy="0"/>
          </a:xfrm>
          <a:prstGeom prst="line">
            <a:avLst/>
          </a:prstGeom>
          <a:noFill/>
          <a:ln w="15240">
            <a:solidFill>
              <a:schemeClr val="tx1">
                <a:lumMod val="50196"/>
                <a:lumOff val="49804"/>
              </a:schemeClr>
            </a:solidFill>
            <a:prstDash val="dash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3694426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1821057486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Case – Admin</a:t>
            </a:r>
            <a:endParaRPr lang="en-US" sz="2200"/>
          </a:p>
        </p:txBody>
      </p:sp>
      <p:sp>
        <p:nvSpPr>
          <p:cNvPr id="1102863839" name="Shape 2"/>
          <p:cNvSpPr/>
          <p:nvPr/>
        </p:nvSpPr>
        <p:spPr bwMode="auto">
          <a:xfrm>
            <a:off x="274320" y="749808"/>
            <a:ext cx="8595360" cy="246888"/>
          </a:xfrm>
          <a:prstGeom prst="rect">
            <a:avLst/>
          </a:prstGeom>
          <a:solidFill>
            <a:srgbClr val="FAF5FF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1820103822" name="Text 3"/>
          <p:cNvSpPr/>
          <p:nvPr/>
        </p:nvSpPr>
        <p:spPr bwMode="auto">
          <a:xfrm>
            <a:off x="411480" y="749808"/>
            <a:ext cx="8412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1">
                <a:solidFill>
                  <a:srgbClr val="9333EA"/>
                </a:solidFill>
                <a:latin typeface="Calibri"/>
                <a:ea typeface="Calibri"/>
                <a:cs typeface="Calibri"/>
              </a:rPr>
              <a:t>⬆  Includes all Project Manager &amp; Member use cases</a:t>
            </a:r>
            <a:endParaRPr lang="en-US" sz="1000"/>
          </a:p>
        </p:txBody>
      </p:sp>
      <p:grpSp>
        <p:nvGrpSpPr>
          <p:cNvPr id="1583501093" name=""/>
          <p:cNvGrpSpPr/>
          <p:nvPr/>
        </p:nvGrpSpPr>
        <p:grpSpPr bwMode="auto">
          <a:xfrm>
            <a:off x="4229100" y="3474253"/>
            <a:ext cx="685800" cy="896111"/>
            <a:chOff x="0" y="0"/>
            <a:chExt cx="685800" cy="896111"/>
          </a:xfrm>
        </p:grpSpPr>
        <p:sp>
          <p:nvSpPr>
            <p:cNvPr id="2131607583" name="Shape 4"/>
            <p:cNvSpPr/>
            <p:nvPr/>
          </p:nvSpPr>
          <p:spPr bwMode="auto">
            <a:xfrm>
              <a:off x="45719" y="0"/>
              <a:ext cx="594360" cy="594360"/>
            </a:xfrm>
            <a:prstGeom prst="ellipse">
              <a:avLst/>
            </a:prstGeom>
            <a:solidFill>
              <a:srgbClr val="FAF5FF"/>
            </a:solidFill>
            <a:ln w="25400">
              <a:solidFill>
                <a:srgbClr val="9333EA"/>
              </a:solidFill>
              <a:prstDash val="solid"/>
            </a:ln>
          </p:spPr>
        </p:sp>
        <p:pic>
          <p:nvPicPr>
            <p:cNvPr id="617636203" name="Image 0" descr="preencoded.png"/>
            <p:cNvPicPr>
              <a:picLocks noChangeAspect="1"/>
            </p:cNvPicPr>
            <p:nvPr/>
          </p:nvPicPr>
          <p:blipFill rotWithShape="1">
            <a:blip r:embed="rId3"/>
            <a:stretch/>
          </p:blipFill>
          <p:spPr bwMode="auto">
            <a:xfrm>
              <a:off x="137160" y="91439"/>
              <a:ext cx="411480" cy="411480"/>
            </a:xfrm>
            <a:prstGeom prst="rect">
              <a:avLst/>
            </a:prstGeom>
          </p:spPr>
        </p:pic>
        <p:sp>
          <p:nvSpPr>
            <p:cNvPr id="289418284" name="Text 5"/>
            <p:cNvSpPr/>
            <p:nvPr/>
          </p:nvSpPr>
          <p:spPr bwMode="auto">
            <a:xfrm>
              <a:off x="0" y="621791"/>
              <a:ext cx="685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900" b="1">
                  <a:solidFill>
                    <a:srgbClr val="9333EA"/>
                  </a:solidFill>
                  <a:latin typeface="Calibri"/>
                  <a:ea typeface="Calibri"/>
                  <a:cs typeface="Calibri"/>
                </a:rPr>
                <a:t>Admin</a:t>
              </a:r>
              <a:endParaRPr lang="en-US" sz="900"/>
            </a:p>
          </p:txBody>
        </p:sp>
      </p:grpSp>
      <p:grpSp>
        <p:nvGrpSpPr>
          <p:cNvPr id="1347959176" name=""/>
          <p:cNvGrpSpPr/>
          <p:nvPr/>
        </p:nvGrpSpPr>
        <p:grpSpPr bwMode="auto">
          <a:xfrm>
            <a:off x="870746" y="1449884"/>
            <a:ext cx="2199297" cy="733042"/>
            <a:chOff x="0" y="0"/>
            <a:chExt cx="2199297" cy="733042"/>
          </a:xfrm>
        </p:grpSpPr>
        <p:sp>
          <p:nvSpPr>
            <p:cNvPr id="235918986" name="Shape 6"/>
            <p:cNvSpPr/>
            <p:nvPr/>
          </p:nvSpPr>
          <p:spPr bwMode="auto">
            <a:xfrm flipH="0" flipV="0">
              <a:off x="0" y="0"/>
              <a:ext cx="2194560" cy="73304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626393808" name="Shape 7"/>
            <p:cNvSpPr/>
            <p:nvPr/>
          </p:nvSpPr>
          <p:spPr bwMode="auto">
            <a:xfrm>
              <a:off x="4737" y="0"/>
              <a:ext cx="2194560" cy="347471"/>
            </a:xfrm>
            <a:prstGeom prst="rect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2075082060" name="Text 8"/>
            <p:cNvSpPr/>
            <p:nvPr/>
          </p:nvSpPr>
          <p:spPr bwMode="auto">
            <a:xfrm>
              <a:off x="123207" y="0"/>
              <a:ext cx="1783080" cy="3474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User Management</a:t>
              </a:r>
              <a:endParaRPr lang="en-US" sz="1100"/>
            </a:p>
          </p:txBody>
        </p:sp>
        <p:sp>
          <p:nvSpPr>
            <p:cNvPr id="130213985" name="Shape 9"/>
            <p:cNvSpPr/>
            <p:nvPr/>
          </p:nvSpPr>
          <p:spPr bwMode="auto">
            <a:xfrm>
              <a:off x="170596" y="498346"/>
              <a:ext cx="82296" cy="8229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1966533574" name="Text 10"/>
            <p:cNvSpPr/>
            <p:nvPr/>
          </p:nvSpPr>
          <p:spPr bwMode="auto">
            <a:xfrm>
              <a:off x="306489" y="40233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0" i="0" u="none" strike="noStrike" cap="none" spc="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Create/delete user</a:t>
              </a:r>
              <a:endParaRPr sz="1100"/>
            </a:p>
          </p:txBody>
        </p:sp>
      </p:grpSp>
      <p:sp>
        <p:nvSpPr>
          <p:cNvPr id="1321497680" name="Shape 29"/>
          <p:cNvSpPr/>
          <p:nvPr/>
        </p:nvSpPr>
        <p:spPr bwMode="auto">
          <a:xfrm flipH="0" flipV="0">
            <a:off x="1972404" y="2181402"/>
            <a:ext cx="2312445" cy="1460574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grpSp>
        <p:nvGrpSpPr>
          <p:cNvPr id="452975052" name=""/>
          <p:cNvGrpSpPr/>
          <p:nvPr/>
        </p:nvGrpSpPr>
        <p:grpSpPr bwMode="auto">
          <a:xfrm>
            <a:off x="5693883" y="1448359"/>
            <a:ext cx="2199297" cy="733042"/>
            <a:chOff x="0" y="0"/>
            <a:chExt cx="2199297" cy="733042"/>
          </a:xfrm>
        </p:grpSpPr>
        <p:sp>
          <p:nvSpPr>
            <p:cNvPr id="1096689932" name="Shape 6"/>
            <p:cNvSpPr/>
            <p:nvPr/>
          </p:nvSpPr>
          <p:spPr bwMode="auto">
            <a:xfrm flipH="0" flipV="0">
              <a:off x="0" y="0"/>
              <a:ext cx="2194560" cy="73304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1528544736" name="Shape 7"/>
            <p:cNvSpPr/>
            <p:nvPr/>
          </p:nvSpPr>
          <p:spPr bwMode="auto">
            <a:xfrm>
              <a:off x="4737" y="0"/>
              <a:ext cx="2194560" cy="347471"/>
            </a:xfrm>
            <a:prstGeom prst="rect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1124568451" name="Text 8"/>
            <p:cNvSpPr/>
            <p:nvPr/>
          </p:nvSpPr>
          <p:spPr bwMode="auto">
            <a:xfrm>
              <a:off x="123207" y="0"/>
              <a:ext cx="1783080" cy="3474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Role Management</a:t>
              </a:r>
              <a:endParaRPr lang="en-US" sz="1100"/>
            </a:p>
          </p:txBody>
        </p:sp>
        <p:sp>
          <p:nvSpPr>
            <p:cNvPr id="1672318149" name="Shape 9"/>
            <p:cNvSpPr/>
            <p:nvPr/>
          </p:nvSpPr>
          <p:spPr bwMode="auto">
            <a:xfrm>
              <a:off x="170596" y="498346"/>
              <a:ext cx="82296" cy="8229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681172184" name="Text 10"/>
            <p:cNvSpPr/>
            <p:nvPr/>
          </p:nvSpPr>
          <p:spPr bwMode="auto">
            <a:xfrm>
              <a:off x="306489" y="40233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0" i="0" u="none" strike="noStrike" cap="none" spc="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Change user role</a:t>
              </a:r>
              <a:endParaRPr sz="1100"/>
            </a:p>
          </p:txBody>
        </p:sp>
      </p:grpSp>
      <p:sp>
        <p:nvSpPr>
          <p:cNvPr id="2109636821" name="Shape 29"/>
          <p:cNvSpPr/>
          <p:nvPr/>
        </p:nvSpPr>
        <p:spPr bwMode="auto">
          <a:xfrm flipH="1" flipV="0">
            <a:off x="4872462" y="2181402"/>
            <a:ext cx="1955040" cy="1460574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sp>
        <p:nvSpPr>
          <p:cNvPr id="1371377885" name="Shape 29"/>
          <p:cNvSpPr/>
          <p:nvPr/>
        </p:nvSpPr>
        <p:spPr bwMode="auto">
          <a:xfrm flipH="1" flipV="1">
            <a:off x="3070044" y="1795831"/>
            <a:ext cx="2659776" cy="0"/>
          </a:xfrm>
          <a:prstGeom prst="line">
            <a:avLst/>
          </a:prstGeom>
          <a:noFill/>
          <a:ln w="15240">
            <a:solidFill>
              <a:srgbClr val="7F7F7F"/>
            </a:solidFill>
            <a:prstDash val="dash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9973257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580706496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Permissions Matrix</a:t>
            </a:r>
            <a:endParaRPr lang="en-US" sz="2200"/>
          </a:p>
        </p:txBody>
      </p:sp>
      <p:grpSp>
        <p:nvGrpSpPr>
          <p:cNvPr id="1460376541" name=""/>
          <p:cNvGrpSpPr/>
          <p:nvPr/>
        </p:nvGrpSpPr>
        <p:grpSpPr bwMode="auto">
          <a:xfrm flipH="0" flipV="0">
            <a:off x="0" y="701687"/>
            <a:ext cx="9168527" cy="4409319"/>
            <a:chOff x="0" y="0"/>
            <a:chExt cx="9168527" cy="4409319"/>
          </a:xfrm>
        </p:grpSpPr>
        <p:sp>
          <p:nvSpPr>
            <p:cNvPr id="606992025" name="Shape 2"/>
            <p:cNvSpPr/>
            <p:nvPr/>
          </p:nvSpPr>
          <p:spPr bwMode="auto">
            <a:xfrm>
              <a:off x="0" y="0"/>
              <a:ext cx="4699446" cy="321600"/>
            </a:xfrm>
            <a:prstGeom prst="rect">
              <a:avLst/>
            </a:prstGeom>
            <a:solidFill>
              <a:srgbClr val="1A2B4A"/>
            </a:solidFill>
            <a:ln w="12700">
              <a:solidFill>
                <a:srgbClr val="1A2B4A"/>
              </a:solidFill>
              <a:prstDash val="solid"/>
            </a:ln>
          </p:spPr>
        </p:sp>
        <p:sp>
          <p:nvSpPr>
            <p:cNvPr id="2231684" name="Text 3"/>
            <p:cNvSpPr/>
            <p:nvPr/>
          </p:nvSpPr>
          <p:spPr bwMode="auto">
            <a:xfrm>
              <a:off x="46072" y="0"/>
              <a:ext cx="4699446" cy="321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  <a:defRPr/>
              </a:pPr>
              <a:r>
                <a:rPr lang="en-US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Feature / Use Case</a:t>
              </a:r>
              <a:endParaRPr lang="en-US" sz="1100"/>
            </a:p>
          </p:txBody>
        </p:sp>
        <p:sp>
          <p:nvSpPr>
            <p:cNvPr id="2134024461" name="Shape 4"/>
            <p:cNvSpPr/>
            <p:nvPr/>
          </p:nvSpPr>
          <p:spPr bwMode="auto">
            <a:xfrm>
              <a:off x="4837665" y="0"/>
              <a:ext cx="1336116" cy="321600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42336445" name="Text 5"/>
            <p:cNvSpPr/>
            <p:nvPr/>
          </p:nvSpPr>
          <p:spPr bwMode="auto">
            <a:xfrm>
              <a:off x="4883738" y="0"/>
              <a:ext cx="1336116" cy="321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Member</a:t>
              </a:r>
              <a:endParaRPr lang="en-US" sz="1100"/>
            </a:p>
          </p:txBody>
        </p:sp>
        <p:sp>
          <p:nvSpPr>
            <p:cNvPr id="918514894" name="Shape 6"/>
            <p:cNvSpPr/>
            <p:nvPr/>
          </p:nvSpPr>
          <p:spPr bwMode="auto">
            <a:xfrm>
              <a:off x="6312001" y="0"/>
              <a:ext cx="1336116" cy="321600"/>
            </a:xfrm>
            <a:prstGeom prst="rect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1927255162" name="Text 7"/>
            <p:cNvSpPr/>
            <p:nvPr/>
          </p:nvSpPr>
          <p:spPr bwMode="auto">
            <a:xfrm>
              <a:off x="6358074" y="0"/>
              <a:ext cx="1336116" cy="321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Manager</a:t>
              </a:r>
              <a:endParaRPr lang="en-US" sz="1100"/>
            </a:p>
          </p:txBody>
        </p:sp>
        <p:sp>
          <p:nvSpPr>
            <p:cNvPr id="125736860" name="Shape 8"/>
            <p:cNvSpPr/>
            <p:nvPr/>
          </p:nvSpPr>
          <p:spPr bwMode="auto">
            <a:xfrm>
              <a:off x="7786337" y="0"/>
              <a:ext cx="1336116" cy="321600"/>
            </a:xfrm>
            <a:prstGeom prst="rect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2922425" name="Text 9"/>
            <p:cNvSpPr/>
            <p:nvPr/>
          </p:nvSpPr>
          <p:spPr bwMode="auto">
            <a:xfrm>
              <a:off x="7832409" y="0"/>
              <a:ext cx="1336116" cy="321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Admin</a:t>
              </a:r>
              <a:endParaRPr lang="en-US" sz="1100"/>
            </a:p>
          </p:txBody>
        </p:sp>
        <p:sp>
          <p:nvSpPr>
            <p:cNvPr id="911034568" name="Shape 10"/>
            <p:cNvSpPr/>
            <p:nvPr/>
          </p:nvSpPr>
          <p:spPr bwMode="auto">
            <a:xfrm flipH="0" flipV="0">
              <a:off x="0" y="338527"/>
              <a:ext cx="9098578" cy="31313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BD5E1"/>
              </a:solidFill>
              <a:prstDash val="solid"/>
            </a:ln>
          </p:spPr>
        </p:sp>
        <p:sp>
          <p:nvSpPr>
            <p:cNvPr id="2090558446" name="Text 11"/>
            <p:cNvSpPr/>
            <p:nvPr/>
          </p:nvSpPr>
          <p:spPr bwMode="auto">
            <a:xfrm>
              <a:off x="73716" y="338527"/>
              <a:ext cx="4607300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 / edit / delete tasks</a:t>
              </a:r>
              <a:endParaRPr lang="en-US" sz="1000"/>
            </a:p>
          </p:txBody>
        </p:sp>
        <p:sp>
          <p:nvSpPr>
            <p:cNvPr id="651524377" name="Shape 12"/>
            <p:cNvSpPr/>
            <p:nvPr/>
          </p:nvSpPr>
          <p:spPr bwMode="auto">
            <a:xfrm>
              <a:off x="5395148" y="393537"/>
              <a:ext cx="221150" cy="20311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95286101" name="Text 13"/>
            <p:cNvSpPr/>
            <p:nvPr/>
          </p:nvSpPr>
          <p:spPr bwMode="auto">
            <a:xfrm>
              <a:off x="5395148" y="393537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111755897" name="Shape 14"/>
            <p:cNvSpPr/>
            <p:nvPr/>
          </p:nvSpPr>
          <p:spPr bwMode="auto">
            <a:xfrm>
              <a:off x="6869485" y="393537"/>
              <a:ext cx="221150" cy="20311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1595559359" name="Text 15"/>
            <p:cNvSpPr/>
            <p:nvPr/>
          </p:nvSpPr>
          <p:spPr bwMode="auto">
            <a:xfrm>
              <a:off x="6869485" y="393537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745201441" name="Shape 16"/>
            <p:cNvSpPr/>
            <p:nvPr/>
          </p:nvSpPr>
          <p:spPr bwMode="auto">
            <a:xfrm>
              <a:off x="8343821" y="393537"/>
              <a:ext cx="221150" cy="20311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2006901951" name="Text 17"/>
            <p:cNvSpPr/>
            <p:nvPr/>
          </p:nvSpPr>
          <p:spPr bwMode="auto">
            <a:xfrm>
              <a:off x="8343821" y="393537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84448033" name="Shape 18"/>
            <p:cNvSpPr/>
            <p:nvPr/>
          </p:nvSpPr>
          <p:spPr bwMode="auto">
            <a:xfrm flipH="0" flipV="0">
              <a:off x="0" y="651665"/>
              <a:ext cx="9098578" cy="313137"/>
            </a:xfrm>
            <a:prstGeom prst="rect">
              <a:avLst/>
            </a:prstGeom>
            <a:solidFill>
              <a:srgbClr val="F1F5F9"/>
            </a:solidFill>
            <a:ln w="6350">
              <a:solidFill>
                <a:srgbClr val="CBD5E1"/>
              </a:solidFill>
              <a:prstDash val="solid"/>
            </a:ln>
          </p:spPr>
        </p:sp>
        <p:sp>
          <p:nvSpPr>
            <p:cNvPr id="100511593" name="Text 19"/>
            <p:cNvSpPr/>
            <p:nvPr/>
          </p:nvSpPr>
          <p:spPr bwMode="auto">
            <a:xfrm>
              <a:off x="73716" y="651665"/>
              <a:ext cx="4607300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Change status &amp; priority</a:t>
              </a:r>
              <a:endParaRPr lang="en-US" sz="1000"/>
            </a:p>
          </p:txBody>
        </p:sp>
        <p:sp>
          <p:nvSpPr>
            <p:cNvPr id="1383062921" name="Shape 20"/>
            <p:cNvSpPr/>
            <p:nvPr/>
          </p:nvSpPr>
          <p:spPr bwMode="auto">
            <a:xfrm>
              <a:off x="5395148" y="706675"/>
              <a:ext cx="221150" cy="20311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644919390" name="Text 21"/>
            <p:cNvSpPr/>
            <p:nvPr/>
          </p:nvSpPr>
          <p:spPr bwMode="auto">
            <a:xfrm>
              <a:off x="5395148" y="706675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190849090" name="Shape 22"/>
            <p:cNvSpPr/>
            <p:nvPr/>
          </p:nvSpPr>
          <p:spPr bwMode="auto">
            <a:xfrm>
              <a:off x="6869485" y="706675"/>
              <a:ext cx="221150" cy="20311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332059512" name="Text 23"/>
            <p:cNvSpPr/>
            <p:nvPr/>
          </p:nvSpPr>
          <p:spPr bwMode="auto">
            <a:xfrm>
              <a:off x="6869485" y="706675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941093916" name="Shape 24"/>
            <p:cNvSpPr/>
            <p:nvPr/>
          </p:nvSpPr>
          <p:spPr bwMode="auto">
            <a:xfrm>
              <a:off x="8343821" y="706675"/>
              <a:ext cx="221150" cy="20311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2023938585" name="Text 25"/>
            <p:cNvSpPr/>
            <p:nvPr/>
          </p:nvSpPr>
          <p:spPr bwMode="auto">
            <a:xfrm>
              <a:off x="8343821" y="706675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177605902" name="Shape 26"/>
            <p:cNvSpPr/>
            <p:nvPr/>
          </p:nvSpPr>
          <p:spPr bwMode="auto">
            <a:xfrm flipH="0" flipV="0">
              <a:off x="0" y="964802"/>
              <a:ext cx="9098578" cy="31313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BD5E1"/>
              </a:solidFill>
              <a:prstDash val="solid"/>
            </a:ln>
          </p:spPr>
        </p:sp>
        <p:sp>
          <p:nvSpPr>
            <p:cNvPr id="250135447" name="Text 27"/>
            <p:cNvSpPr/>
            <p:nvPr/>
          </p:nvSpPr>
          <p:spPr bwMode="auto">
            <a:xfrm>
              <a:off x="73716" y="964802"/>
              <a:ext cx="4607300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 / edit / delete comments</a:t>
              </a:r>
              <a:endParaRPr lang="en-US" sz="1000"/>
            </a:p>
          </p:txBody>
        </p:sp>
        <p:sp>
          <p:nvSpPr>
            <p:cNvPr id="1099224223" name="Shape 28"/>
            <p:cNvSpPr/>
            <p:nvPr/>
          </p:nvSpPr>
          <p:spPr bwMode="auto">
            <a:xfrm>
              <a:off x="5395148" y="1019813"/>
              <a:ext cx="221150" cy="20311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919532903" name="Text 29"/>
            <p:cNvSpPr/>
            <p:nvPr/>
          </p:nvSpPr>
          <p:spPr bwMode="auto">
            <a:xfrm>
              <a:off x="5395148" y="1019813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672286081" name="Shape 30"/>
            <p:cNvSpPr/>
            <p:nvPr/>
          </p:nvSpPr>
          <p:spPr bwMode="auto">
            <a:xfrm>
              <a:off x="6869485" y="1019813"/>
              <a:ext cx="221150" cy="20311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98979876" name="Text 31"/>
            <p:cNvSpPr/>
            <p:nvPr/>
          </p:nvSpPr>
          <p:spPr bwMode="auto">
            <a:xfrm>
              <a:off x="6869485" y="1019813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2123209013" name="Shape 32"/>
            <p:cNvSpPr/>
            <p:nvPr/>
          </p:nvSpPr>
          <p:spPr bwMode="auto">
            <a:xfrm>
              <a:off x="8343821" y="1019813"/>
              <a:ext cx="221150" cy="20311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1527280371" name="Text 33"/>
            <p:cNvSpPr/>
            <p:nvPr/>
          </p:nvSpPr>
          <p:spPr bwMode="auto">
            <a:xfrm>
              <a:off x="8343821" y="1019813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981546480" name="Shape 34"/>
            <p:cNvSpPr/>
            <p:nvPr/>
          </p:nvSpPr>
          <p:spPr bwMode="auto">
            <a:xfrm flipH="0" flipV="0">
              <a:off x="0" y="1277940"/>
              <a:ext cx="9098578" cy="313137"/>
            </a:xfrm>
            <a:prstGeom prst="rect">
              <a:avLst/>
            </a:prstGeom>
            <a:solidFill>
              <a:srgbClr val="F1F5F9"/>
            </a:solidFill>
            <a:ln w="6350">
              <a:solidFill>
                <a:srgbClr val="CBD5E1"/>
              </a:solidFill>
              <a:prstDash val="solid"/>
            </a:ln>
          </p:spPr>
        </p:sp>
        <p:sp>
          <p:nvSpPr>
            <p:cNvPr id="740284981" name="Text 35"/>
            <p:cNvSpPr/>
            <p:nvPr/>
          </p:nvSpPr>
          <p:spPr bwMode="auto">
            <a:xfrm>
              <a:off x="73716" y="1277940"/>
              <a:ext cx="4607300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 / edit / delete epics</a:t>
              </a:r>
              <a:endParaRPr lang="en-US" sz="1000"/>
            </a:p>
          </p:txBody>
        </p:sp>
        <p:sp>
          <p:nvSpPr>
            <p:cNvPr id="561683017" name="Shape 36"/>
            <p:cNvSpPr/>
            <p:nvPr/>
          </p:nvSpPr>
          <p:spPr bwMode="auto">
            <a:xfrm>
              <a:off x="5395148" y="1332951"/>
              <a:ext cx="221150" cy="20311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227104612" name="Text 37"/>
            <p:cNvSpPr/>
            <p:nvPr/>
          </p:nvSpPr>
          <p:spPr bwMode="auto">
            <a:xfrm>
              <a:off x="5395148" y="1332951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2046931064" name="Shape 38"/>
            <p:cNvSpPr/>
            <p:nvPr/>
          </p:nvSpPr>
          <p:spPr bwMode="auto">
            <a:xfrm>
              <a:off x="6869485" y="1332951"/>
              <a:ext cx="221150" cy="20311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736417488" name="Text 39"/>
            <p:cNvSpPr/>
            <p:nvPr/>
          </p:nvSpPr>
          <p:spPr bwMode="auto">
            <a:xfrm>
              <a:off x="6869485" y="1332951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060130452" name="Shape 40"/>
            <p:cNvSpPr/>
            <p:nvPr/>
          </p:nvSpPr>
          <p:spPr bwMode="auto">
            <a:xfrm>
              <a:off x="8343821" y="1332951"/>
              <a:ext cx="221150" cy="20311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2110235181" name="Text 41"/>
            <p:cNvSpPr/>
            <p:nvPr/>
          </p:nvSpPr>
          <p:spPr bwMode="auto">
            <a:xfrm>
              <a:off x="8343821" y="1332951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34761740" name="Shape 42"/>
            <p:cNvSpPr/>
            <p:nvPr/>
          </p:nvSpPr>
          <p:spPr bwMode="auto">
            <a:xfrm flipH="0" flipV="0">
              <a:off x="0" y="1591078"/>
              <a:ext cx="9098578" cy="31313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BD5E1"/>
              </a:solidFill>
              <a:prstDash val="solid"/>
            </a:ln>
          </p:spPr>
        </p:sp>
        <p:sp>
          <p:nvSpPr>
            <p:cNvPr id="1947324267" name="Text 43"/>
            <p:cNvSpPr/>
            <p:nvPr/>
          </p:nvSpPr>
          <p:spPr bwMode="auto">
            <a:xfrm>
              <a:off x="73716" y="1591078"/>
              <a:ext cx="4607300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Assign epic to task</a:t>
              </a:r>
              <a:endParaRPr lang="en-US" sz="1000"/>
            </a:p>
          </p:txBody>
        </p:sp>
        <p:sp>
          <p:nvSpPr>
            <p:cNvPr id="1380571264" name="Shape 44"/>
            <p:cNvSpPr/>
            <p:nvPr/>
          </p:nvSpPr>
          <p:spPr bwMode="auto">
            <a:xfrm>
              <a:off x="5395148" y="1646089"/>
              <a:ext cx="221150" cy="20311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347611539" name="Text 45"/>
            <p:cNvSpPr/>
            <p:nvPr/>
          </p:nvSpPr>
          <p:spPr bwMode="auto">
            <a:xfrm>
              <a:off x="5395148" y="1646089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964071559" name="Shape 46"/>
            <p:cNvSpPr/>
            <p:nvPr/>
          </p:nvSpPr>
          <p:spPr bwMode="auto">
            <a:xfrm>
              <a:off x="6869485" y="1646089"/>
              <a:ext cx="221150" cy="20311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1524674980" name="Text 47"/>
            <p:cNvSpPr/>
            <p:nvPr/>
          </p:nvSpPr>
          <p:spPr bwMode="auto">
            <a:xfrm>
              <a:off x="6869485" y="1646089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7887145" name="Shape 48"/>
            <p:cNvSpPr/>
            <p:nvPr/>
          </p:nvSpPr>
          <p:spPr bwMode="auto">
            <a:xfrm>
              <a:off x="8343821" y="1646089"/>
              <a:ext cx="221150" cy="20311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391639294" name="Text 49"/>
            <p:cNvSpPr/>
            <p:nvPr/>
          </p:nvSpPr>
          <p:spPr bwMode="auto">
            <a:xfrm>
              <a:off x="8343821" y="1646089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992998960" name="Shape 50"/>
            <p:cNvSpPr/>
            <p:nvPr/>
          </p:nvSpPr>
          <p:spPr bwMode="auto">
            <a:xfrm flipH="0" flipV="0">
              <a:off x="0" y="1904216"/>
              <a:ext cx="9098578" cy="313137"/>
            </a:xfrm>
            <a:prstGeom prst="rect">
              <a:avLst/>
            </a:prstGeom>
            <a:solidFill>
              <a:srgbClr val="F1F5F9"/>
            </a:solidFill>
            <a:ln w="6350">
              <a:solidFill>
                <a:srgbClr val="CBD5E1"/>
              </a:solidFill>
              <a:prstDash val="solid"/>
            </a:ln>
          </p:spPr>
        </p:sp>
        <p:sp>
          <p:nvSpPr>
            <p:cNvPr id="1387035667" name="Text 51"/>
            <p:cNvSpPr/>
            <p:nvPr/>
          </p:nvSpPr>
          <p:spPr bwMode="auto">
            <a:xfrm>
              <a:off x="73716" y="1904216"/>
              <a:ext cx="4607300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Assign project member to task</a:t>
              </a:r>
              <a:endParaRPr lang="en-US" sz="1000"/>
            </a:p>
          </p:txBody>
        </p:sp>
        <p:sp>
          <p:nvSpPr>
            <p:cNvPr id="1316202197" name="Shape 52"/>
            <p:cNvSpPr/>
            <p:nvPr/>
          </p:nvSpPr>
          <p:spPr bwMode="auto">
            <a:xfrm>
              <a:off x="5395148" y="1959227"/>
              <a:ext cx="221150" cy="20311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995046052" name="Text 53"/>
            <p:cNvSpPr/>
            <p:nvPr/>
          </p:nvSpPr>
          <p:spPr bwMode="auto">
            <a:xfrm>
              <a:off x="5395148" y="1959227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529429505" name="Shape 54"/>
            <p:cNvSpPr/>
            <p:nvPr/>
          </p:nvSpPr>
          <p:spPr bwMode="auto">
            <a:xfrm>
              <a:off x="6869485" y="1959227"/>
              <a:ext cx="221150" cy="20311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1454825536" name="Text 55"/>
            <p:cNvSpPr/>
            <p:nvPr/>
          </p:nvSpPr>
          <p:spPr bwMode="auto">
            <a:xfrm>
              <a:off x="6869485" y="1959227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938115358" name="Shape 56"/>
            <p:cNvSpPr/>
            <p:nvPr/>
          </p:nvSpPr>
          <p:spPr bwMode="auto">
            <a:xfrm>
              <a:off x="8343821" y="1959227"/>
              <a:ext cx="221150" cy="20311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133385255" name="Text 57"/>
            <p:cNvSpPr/>
            <p:nvPr/>
          </p:nvSpPr>
          <p:spPr bwMode="auto">
            <a:xfrm>
              <a:off x="8343821" y="1959227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410815736" name="Shape 58"/>
            <p:cNvSpPr/>
            <p:nvPr/>
          </p:nvSpPr>
          <p:spPr bwMode="auto">
            <a:xfrm flipH="0" flipV="0">
              <a:off x="0" y="2217354"/>
              <a:ext cx="9098578" cy="31313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BD5E1"/>
              </a:solidFill>
              <a:prstDash val="solid"/>
            </a:ln>
          </p:spPr>
        </p:sp>
        <p:sp>
          <p:nvSpPr>
            <p:cNvPr id="2054821121" name="Text 59"/>
            <p:cNvSpPr/>
            <p:nvPr/>
          </p:nvSpPr>
          <p:spPr bwMode="auto">
            <a:xfrm>
              <a:off x="73716" y="2217354"/>
              <a:ext cx="4607300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Search &amp; filter tasks</a:t>
              </a:r>
              <a:endParaRPr lang="en-US" sz="1000"/>
            </a:p>
          </p:txBody>
        </p:sp>
        <p:sp>
          <p:nvSpPr>
            <p:cNvPr id="2021245846" name="Shape 60"/>
            <p:cNvSpPr/>
            <p:nvPr/>
          </p:nvSpPr>
          <p:spPr bwMode="auto">
            <a:xfrm>
              <a:off x="5395148" y="2272365"/>
              <a:ext cx="221150" cy="20311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312903530" name="Text 61"/>
            <p:cNvSpPr/>
            <p:nvPr/>
          </p:nvSpPr>
          <p:spPr bwMode="auto">
            <a:xfrm>
              <a:off x="5395148" y="2272365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38913928" name="Shape 62"/>
            <p:cNvSpPr/>
            <p:nvPr/>
          </p:nvSpPr>
          <p:spPr bwMode="auto">
            <a:xfrm>
              <a:off x="6869485" y="2272365"/>
              <a:ext cx="221150" cy="20311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1301545676" name="Text 63"/>
            <p:cNvSpPr/>
            <p:nvPr/>
          </p:nvSpPr>
          <p:spPr bwMode="auto">
            <a:xfrm>
              <a:off x="6869485" y="2272365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913034468" name="Shape 64"/>
            <p:cNvSpPr/>
            <p:nvPr/>
          </p:nvSpPr>
          <p:spPr bwMode="auto">
            <a:xfrm>
              <a:off x="8343821" y="2272365"/>
              <a:ext cx="221150" cy="20311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176624548" name="Text 65"/>
            <p:cNvSpPr/>
            <p:nvPr/>
          </p:nvSpPr>
          <p:spPr bwMode="auto">
            <a:xfrm>
              <a:off x="8343821" y="2272365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720075059" name="Shape 66"/>
            <p:cNvSpPr/>
            <p:nvPr/>
          </p:nvSpPr>
          <p:spPr bwMode="auto">
            <a:xfrm flipH="0" flipV="0">
              <a:off x="0" y="2530492"/>
              <a:ext cx="9098578" cy="313137"/>
            </a:xfrm>
            <a:prstGeom prst="rect">
              <a:avLst/>
            </a:prstGeom>
            <a:solidFill>
              <a:srgbClr val="F1F5F9"/>
            </a:solidFill>
            <a:ln w="6350">
              <a:solidFill>
                <a:srgbClr val="CBD5E1"/>
              </a:solidFill>
              <a:prstDash val="solid"/>
            </a:ln>
          </p:spPr>
        </p:sp>
        <p:sp>
          <p:nvSpPr>
            <p:cNvPr id="1663078205" name="Text 67"/>
            <p:cNvSpPr/>
            <p:nvPr/>
          </p:nvSpPr>
          <p:spPr bwMode="auto">
            <a:xfrm>
              <a:off x="73716" y="2530492"/>
              <a:ext cx="4607300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Open dashboard</a:t>
              </a:r>
              <a:endParaRPr lang="en-US" sz="1000"/>
            </a:p>
          </p:txBody>
        </p:sp>
        <p:sp>
          <p:nvSpPr>
            <p:cNvPr id="1250902593" name="Shape 68"/>
            <p:cNvSpPr/>
            <p:nvPr/>
          </p:nvSpPr>
          <p:spPr bwMode="auto">
            <a:xfrm>
              <a:off x="5395148" y="2585503"/>
              <a:ext cx="221150" cy="20311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912467893" name="Text 69"/>
            <p:cNvSpPr/>
            <p:nvPr/>
          </p:nvSpPr>
          <p:spPr bwMode="auto">
            <a:xfrm>
              <a:off x="5395148" y="2585503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225898774" name="Shape 70"/>
            <p:cNvSpPr/>
            <p:nvPr/>
          </p:nvSpPr>
          <p:spPr bwMode="auto">
            <a:xfrm>
              <a:off x="6869485" y="2585503"/>
              <a:ext cx="221150" cy="20311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598666425" name="Text 71"/>
            <p:cNvSpPr/>
            <p:nvPr/>
          </p:nvSpPr>
          <p:spPr bwMode="auto">
            <a:xfrm>
              <a:off x="6869485" y="2585503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449938293" name="Shape 72"/>
            <p:cNvSpPr/>
            <p:nvPr/>
          </p:nvSpPr>
          <p:spPr bwMode="auto">
            <a:xfrm>
              <a:off x="8343821" y="2585503"/>
              <a:ext cx="221150" cy="20311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784950302" name="Text 73"/>
            <p:cNvSpPr/>
            <p:nvPr/>
          </p:nvSpPr>
          <p:spPr bwMode="auto">
            <a:xfrm>
              <a:off x="8343821" y="2585503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431125696" name="Shape 74"/>
            <p:cNvSpPr/>
            <p:nvPr/>
          </p:nvSpPr>
          <p:spPr bwMode="auto">
            <a:xfrm flipH="0" flipV="0">
              <a:off x="0" y="2843629"/>
              <a:ext cx="9098578" cy="31313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BD5E1"/>
              </a:solidFill>
              <a:prstDash val="solid"/>
            </a:ln>
          </p:spPr>
        </p:sp>
        <p:sp>
          <p:nvSpPr>
            <p:cNvPr id="271617161" name="Text 75"/>
            <p:cNvSpPr/>
            <p:nvPr/>
          </p:nvSpPr>
          <p:spPr bwMode="auto">
            <a:xfrm>
              <a:off x="73716" y="2843629"/>
              <a:ext cx="4607300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Login / sign up</a:t>
              </a:r>
              <a:endParaRPr lang="en-US" sz="1000"/>
            </a:p>
          </p:txBody>
        </p:sp>
        <p:sp>
          <p:nvSpPr>
            <p:cNvPr id="526527996" name="Shape 76"/>
            <p:cNvSpPr/>
            <p:nvPr/>
          </p:nvSpPr>
          <p:spPr bwMode="auto">
            <a:xfrm>
              <a:off x="5395148" y="2898639"/>
              <a:ext cx="221150" cy="20311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7469711" name="Text 77"/>
            <p:cNvSpPr/>
            <p:nvPr/>
          </p:nvSpPr>
          <p:spPr bwMode="auto">
            <a:xfrm>
              <a:off x="5395148" y="2898639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502138241" name="Shape 78"/>
            <p:cNvSpPr/>
            <p:nvPr/>
          </p:nvSpPr>
          <p:spPr bwMode="auto">
            <a:xfrm>
              <a:off x="6869485" y="2898639"/>
              <a:ext cx="221150" cy="20311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1812107019" name="Text 79"/>
            <p:cNvSpPr/>
            <p:nvPr/>
          </p:nvSpPr>
          <p:spPr bwMode="auto">
            <a:xfrm>
              <a:off x="6869485" y="2898639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448041851" name="Shape 80"/>
            <p:cNvSpPr/>
            <p:nvPr/>
          </p:nvSpPr>
          <p:spPr bwMode="auto">
            <a:xfrm>
              <a:off x="8343821" y="2898639"/>
              <a:ext cx="221150" cy="20311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1965474091" name="Text 81"/>
            <p:cNvSpPr/>
            <p:nvPr/>
          </p:nvSpPr>
          <p:spPr bwMode="auto">
            <a:xfrm>
              <a:off x="8343821" y="2898639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888641153" name="Shape 82"/>
            <p:cNvSpPr/>
            <p:nvPr/>
          </p:nvSpPr>
          <p:spPr bwMode="auto">
            <a:xfrm flipH="0" flipV="0">
              <a:off x="0" y="3156766"/>
              <a:ext cx="9098578" cy="313137"/>
            </a:xfrm>
            <a:prstGeom prst="rect">
              <a:avLst/>
            </a:prstGeom>
            <a:solidFill>
              <a:srgbClr val="F1F5F9"/>
            </a:solidFill>
            <a:ln w="6350">
              <a:solidFill>
                <a:srgbClr val="CBD5E1"/>
              </a:solidFill>
              <a:prstDash val="solid"/>
            </a:ln>
          </p:spPr>
        </p:sp>
        <p:sp>
          <p:nvSpPr>
            <p:cNvPr id="408968112" name="Text 83"/>
            <p:cNvSpPr/>
            <p:nvPr/>
          </p:nvSpPr>
          <p:spPr bwMode="auto">
            <a:xfrm>
              <a:off x="73716" y="3156766"/>
              <a:ext cx="4607300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 / delete projects</a:t>
              </a:r>
              <a:endParaRPr lang="en-US" sz="1000"/>
            </a:p>
          </p:txBody>
        </p:sp>
        <p:sp>
          <p:nvSpPr>
            <p:cNvPr id="670716399" name="Text 84"/>
            <p:cNvSpPr/>
            <p:nvPr/>
          </p:nvSpPr>
          <p:spPr bwMode="auto">
            <a:xfrm>
              <a:off x="4837665" y="3156766"/>
              <a:ext cx="1336116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400">
                  <a:solidFill>
                    <a:srgbClr val="CBD5E1"/>
                  </a:solidFill>
                </a:rPr>
                <a:t>–</a:t>
              </a:r>
              <a:endParaRPr lang="en-US" sz="1400"/>
            </a:p>
          </p:txBody>
        </p:sp>
        <p:sp>
          <p:nvSpPr>
            <p:cNvPr id="126325534" name="Shape 85"/>
            <p:cNvSpPr/>
            <p:nvPr/>
          </p:nvSpPr>
          <p:spPr bwMode="auto">
            <a:xfrm>
              <a:off x="6869485" y="3211778"/>
              <a:ext cx="221150" cy="20311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2035749409" name="Text 86"/>
            <p:cNvSpPr/>
            <p:nvPr/>
          </p:nvSpPr>
          <p:spPr bwMode="auto">
            <a:xfrm>
              <a:off x="6869485" y="3211778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2112765213" name="Shape 87"/>
            <p:cNvSpPr/>
            <p:nvPr/>
          </p:nvSpPr>
          <p:spPr bwMode="auto">
            <a:xfrm>
              <a:off x="8343821" y="3211778"/>
              <a:ext cx="221150" cy="20311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1298818622" name="Text 88"/>
            <p:cNvSpPr/>
            <p:nvPr/>
          </p:nvSpPr>
          <p:spPr bwMode="auto">
            <a:xfrm>
              <a:off x="8343821" y="3211778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512625419" name="Shape 89"/>
            <p:cNvSpPr/>
            <p:nvPr/>
          </p:nvSpPr>
          <p:spPr bwMode="auto">
            <a:xfrm flipH="0" flipV="0">
              <a:off x="0" y="3469905"/>
              <a:ext cx="9098578" cy="31313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BD5E1"/>
              </a:solidFill>
              <a:prstDash val="solid"/>
            </a:ln>
          </p:spPr>
        </p:sp>
        <p:sp>
          <p:nvSpPr>
            <p:cNvPr id="1747620318" name="Text 90"/>
            <p:cNvSpPr/>
            <p:nvPr/>
          </p:nvSpPr>
          <p:spPr bwMode="auto">
            <a:xfrm>
              <a:off x="73716" y="3469905"/>
              <a:ext cx="4607300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Assign / remove project members</a:t>
              </a:r>
              <a:endParaRPr lang="en-US" sz="1000"/>
            </a:p>
          </p:txBody>
        </p:sp>
        <p:sp>
          <p:nvSpPr>
            <p:cNvPr id="814786879" name="Text 91"/>
            <p:cNvSpPr/>
            <p:nvPr/>
          </p:nvSpPr>
          <p:spPr bwMode="auto">
            <a:xfrm>
              <a:off x="4837665" y="3469905"/>
              <a:ext cx="1336116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400">
                  <a:solidFill>
                    <a:srgbClr val="CBD5E1"/>
                  </a:solidFill>
                </a:rPr>
                <a:t>–</a:t>
              </a:r>
              <a:endParaRPr lang="en-US" sz="1400"/>
            </a:p>
          </p:txBody>
        </p:sp>
        <p:sp>
          <p:nvSpPr>
            <p:cNvPr id="235705954" name="Shape 92"/>
            <p:cNvSpPr/>
            <p:nvPr/>
          </p:nvSpPr>
          <p:spPr bwMode="auto">
            <a:xfrm>
              <a:off x="6869485" y="3524916"/>
              <a:ext cx="221150" cy="20311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223709398" name="Text 93"/>
            <p:cNvSpPr/>
            <p:nvPr/>
          </p:nvSpPr>
          <p:spPr bwMode="auto">
            <a:xfrm>
              <a:off x="6869485" y="3524916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75679692" name="Shape 94"/>
            <p:cNvSpPr/>
            <p:nvPr/>
          </p:nvSpPr>
          <p:spPr bwMode="auto">
            <a:xfrm>
              <a:off x="8343821" y="3524916"/>
              <a:ext cx="221150" cy="20311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2040100103" name="Text 95"/>
            <p:cNvSpPr/>
            <p:nvPr/>
          </p:nvSpPr>
          <p:spPr bwMode="auto">
            <a:xfrm>
              <a:off x="8343821" y="3524916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398801870" name="Shape 96"/>
            <p:cNvSpPr/>
            <p:nvPr/>
          </p:nvSpPr>
          <p:spPr bwMode="auto">
            <a:xfrm flipH="0" flipV="0">
              <a:off x="0" y="3783043"/>
              <a:ext cx="9098578" cy="313137"/>
            </a:xfrm>
            <a:prstGeom prst="rect">
              <a:avLst/>
            </a:prstGeom>
            <a:solidFill>
              <a:srgbClr val="F1F5F9"/>
            </a:solidFill>
            <a:ln w="6350">
              <a:solidFill>
                <a:srgbClr val="CBD5E1"/>
              </a:solidFill>
              <a:prstDash val="solid"/>
            </a:ln>
          </p:spPr>
        </p:sp>
        <p:sp>
          <p:nvSpPr>
            <p:cNvPr id="2018285144" name="Text 97"/>
            <p:cNvSpPr/>
            <p:nvPr/>
          </p:nvSpPr>
          <p:spPr bwMode="auto">
            <a:xfrm>
              <a:off x="73716" y="3783043"/>
              <a:ext cx="4607300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Change user roles</a:t>
              </a:r>
              <a:endParaRPr lang="en-US" sz="1000"/>
            </a:p>
          </p:txBody>
        </p:sp>
        <p:sp>
          <p:nvSpPr>
            <p:cNvPr id="1535996111" name="Text 98"/>
            <p:cNvSpPr/>
            <p:nvPr/>
          </p:nvSpPr>
          <p:spPr bwMode="auto">
            <a:xfrm>
              <a:off x="4837665" y="3783043"/>
              <a:ext cx="1336116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400">
                  <a:solidFill>
                    <a:srgbClr val="CBD5E1"/>
                  </a:solidFill>
                </a:rPr>
                <a:t>–</a:t>
              </a:r>
              <a:endParaRPr lang="en-US" sz="1400"/>
            </a:p>
          </p:txBody>
        </p:sp>
        <p:sp>
          <p:nvSpPr>
            <p:cNvPr id="167442115" name="Text 99"/>
            <p:cNvSpPr/>
            <p:nvPr/>
          </p:nvSpPr>
          <p:spPr bwMode="auto">
            <a:xfrm>
              <a:off x="6312001" y="3783043"/>
              <a:ext cx="1336116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400">
                  <a:solidFill>
                    <a:srgbClr val="CBD5E1"/>
                  </a:solidFill>
                </a:rPr>
                <a:t>–</a:t>
              </a:r>
              <a:endParaRPr lang="en-US" sz="1400"/>
            </a:p>
          </p:txBody>
        </p:sp>
        <p:sp>
          <p:nvSpPr>
            <p:cNvPr id="992415179" name="Shape 100"/>
            <p:cNvSpPr/>
            <p:nvPr/>
          </p:nvSpPr>
          <p:spPr bwMode="auto">
            <a:xfrm>
              <a:off x="8343821" y="3838054"/>
              <a:ext cx="221150" cy="20311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604657024" name="Text 101"/>
            <p:cNvSpPr/>
            <p:nvPr/>
          </p:nvSpPr>
          <p:spPr bwMode="auto">
            <a:xfrm>
              <a:off x="8343821" y="3838054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  <p:sp>
          <p:nvSpPr>
            <p:cNvPr id="1836804951" name="Shape 102"/>
            <p:cNvSpPr/>
            <p:nvPr/>
          </p:nvSpPr>
          <p:spPr bwMode="auto">
            <a:xfrm flipH="0" flipV="0">
              <a:off x="0" y="4096181"/>
              <a:ext cx="9098578" cy="31313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BD5E1"/>
              </a:solidFill>
              <a:prstDash val="solid"/>
            </a:ln>
          </p:spPr>
        </p:sp>
        <p:sp>
          <p:nvSpPr>
            <p:cNvPr id="1261454566" name="Text 103"/>
            <p:cNvSpPr/>
            <p:nvPr/>
          </p:nvSpPr>
          <p:spPr bwMode="auto">
            <a:xfrm>
              <a:off x="73716" y="4096181"/>
              <a:ext cx="4607300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 / delete users</a:t>
              </a:r>
              <a:endParaRPr lang="en-US" sz="1000"/>
            </a:p>
          </p:txBody>
        </p:sp>
        <p:sp>
          <p:nvSpPr>
            <p:cNvPr id="140078322" name="Text 104"/>
            <p:cNvSpPr/>
            <p:nvPr/>
          </p:nvSpPr>
          <p:spPr bwMode="auto">
            <a:xfrm>
              <a:off x="4837665" y="4096181"/>
              <a:ext cx="1336116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400">
                  <a:solidFill>
                    <a:srgbClr val="CBD5E1"/>
                  </a:solidFill>
                </a:rPr>
                <a:t>–</a:t>
              </a:r>
              <a:endParaRPr lang="en-US" sz="1400"/>
            </a:p>
          </p:txBody>
        </p:sp>
        <p:sp>
          <p:nvSpPr>
            <p:cNvPr id="801097622" name="Text 105"/>
            <p:cNvSpPr/>
            <p:nvPr/>
          </p:nvSpPr>
          <p:spPr bwMode="auto">
            <a:xfrm>
              <a:off x="6312001" y="4096181"/>
              <a:ext cx="1336116" cy="31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400">
                  <a:solidFill>
                    <a:srgbClr val="CBD5E1"/>
                  </a:solidFill>
                </a:rPr>
                <a:t>–</a:t>
              </a:r>
              <a:endParaRPr lang="en-US" sz="1400"/>
            </a:p>
          </p:txBody>
        </p:sp>
        <p:sp>
          <p:nvSpPr>
            <p:cNvPr id="1062545147" name="Shape 106"/>
            <p:cNvSpPr/>
            <p:nvPr/>
          </p:nvSpPr>
          <p:spPr bwMode="auto">
            <a:xfrm>
              <a:off x="8343821" y="4151192"/>
              <a:ext cx="221150" cy="20311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527902906" name="Text 107"/>
            <p:cNvSpPr/>
            <p:nvPr/>
          </p:nvSpPr>
          <p:spPr bwMode="auto">
            <a:xfrm>
              <a:off x="8343821" y="4151192"/>
              <a:ext cx="221150" cy="2031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1000" b="1">
                  <a:solidFill>
                    <a:srgbClr val="FFFFFF"/>
                  </a:solidFill>
                </a:rPr>
                <a:t>✓</a:t>
              </a:r>
              <a:endParaRPr lang="en-US" sz="10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ONLYOFFICE/9.3.1.8</Application>
  <PresentationFormat>On-screen Show (4:3)</PresentationFormat>
  <Paragraphs>0</Paragraphs>
  <Slides>7</Slides>
  <Notes>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 Jira – Use Cases &amp; Roles</dc:title>
  <dc:subject>PptxGenJS Presentation</dc:subject>
  <dc:creator>PptxGenJS</dc:creator>
  <cp:lastModifiedBy/>
  <cp:revision>3</cp:revision>
  <dcterms:created xsi:type="dcterms:W3CDTF">2026-04-06T11:44:17Z</dcterms:created>
  <dcterms:modified xsi:type="dcterms:W3CDTF">2026-04-10T13:25:34Z</dcterms:modified>
</cp:coreProperties>
</file>